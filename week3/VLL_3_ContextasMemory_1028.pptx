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5" r:id="rId3"/>
    <p:sldId id="276" r:id="rId4"/>
    <p:sldId id="278" r:id="rId5"/>
    <p:sldId id="279" r:id="rId6"/>
    <p:sldId id="281" r:id="rId7"/>
    <p:sldId id="283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0"/>
  </p:normalViewPr>
  <p:slideViewPr>
    <p:cSldViewPr snapToGrid="0">
      <p:cViewPr varScale="1">
        <p:scale>
          <a:sx n="102" d="100"/>
          <a:sy n="102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D93163-D624-4B46-802C-6ED404320433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3E078-E45B-1847-A1D7-1A421615B5D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92998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04361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1771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2629-C9E1-C8A0-64BF-17D4EF3D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FF34AD4-898D-B217-DDDE-86C5E0E6E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1C449C-A418-7F0E-B818-D11DA3A2C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92821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32A8-D1CF-E096-441C-EA415F2D6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0440BDE-94F9-0667-06F1-D9469DD327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C0FCD30-901A-4B9B-6B26-33CB397C6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5822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DB762-1B51-0C57-4381-97F1A147B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0C4DE5-C771-6026-8255-53FBABBDE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89F7AF-63D5-DD78-2BA8-48D68B0FE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09577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DB762-1B51-0C57-4381-97F1A147B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0C4DE5-C771-6026-8255-53FBABBDE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89F7AF-63D5-DD78-2BA8-48D68B0FE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39908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B6CE87-62CA-F3CA-85CA-1E5600AB7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0886A2B-A2AB-7321-8473-603269F1FC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A1AFDA0-2147-6747-E413-E540F7DD4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E12634-0129-2C03-2091-BDCFFB28D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604914-84F5-6959-7F7B-CF4AD7495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77497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F26A00-BFF5-2076-CB03-928863B41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96E72F-2FCA-187D-E98C-AA21F2AE9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A6991D-0E70-97C7-7EAA-0E21AFE25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B94C46-B1A4-652E-5FE3-4CA31B56D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F13800-590F-88F7-9949-E1B3B19D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9865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40D3B9-6ABA-A6DD-DEED-72A666FF6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B94125E-76DB-10BC-87F4-89C087820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FA4F3C1-06BD-2E8B-C8F3-8418A3948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F5AF6CA-439C-4545-1A68-7DB925F9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45B08A-4F62-7C9C-4378-CAA8887E9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56072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E994C2-F298-6ADA-21F8-6CEBE1A54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5E70A9-8E11-2737-D4E3-13335C960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7643F86-F28B-F451-F808-5CBFD12E6E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C7C109B-5596-1D98-B82E-1387A3F0C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5178103-4228-8626-AD64-A479C8972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FE54655-8787-4899-02D8-2089AFC77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26319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9EE964-F53B-981B-2B24-264247CF5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2F3C8C4-0616-FD52-860F-96769DE9C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22E6F06-E0B4-8899-5D91-72823D3D5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2CDBF8B-F8F9-881E-85E0-888DFD1A3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C5191C5-80EB-F2C9-289D-18A1DBA08A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4F7CF69-238D-550C-4716-70D1063EB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01F1A00-6E28-CB02-6F53-B2A0BEE4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16E58F-CE16-3BD4-8ED1-43AB415E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85056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3D9334-36A0-3848-9D23-151500D6D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5CDB663-BC23-3956-0938-4EFAD7673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1736C1-264D-4DB8-8A7A-F824CCA4D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3B768D5-665C-22A1-6ED5-F3B066152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6160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7589658-2EF5-DFD0-4B26-B57F4D93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AC59FA-2995-14E3-C517-2DB10EBEC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B3E0A9-D7BF-3682-7874-86FC9EC24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0233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20E3F-EE9B-6B98-4FC8-2061EE6C1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31792F-2EE9-7688-36FC-92D7B539E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1AB3A1-AC57-F74E-0EEF-2C519A49F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691FFCA-EB71-2846-AD58-4E0587424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BEA41DE-7EF3-A8E3-1910-01325ACB0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6F596C6-4C24-D1A5-C4DC-D1AE80EC4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14942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0A87D-D52D-A01F-D48A-E138766B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3B9574F-11F7-70E1-E2DC-EAFA9C6ADB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12C348A-DDD2-BAFF-FAB7-430E245F9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9E43A6-86B3-4B2E-0E2B-DBCC208AC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6B41EF-3790-85EE-421C-C8F10BBA6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37AAFAC-5FCA-3DA4-90C1-B51F609E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2165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AC3381-880A-C6E6-DE37-F408E409B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7E6A429-CABA-A76F-F274-8D3508CD3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AC39F3-8F20-1E9A-5E65-1A1BE0F57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0B3E6A5-4C73-586C-3610-CD7234F57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E782E1-EAE8-E488-89EB-B559B9B2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58559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FA806A1-7C83-E8EA-D4BF-E8D7E2F39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F3C4CD7-A748-38B6-5719-CA984C144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A59ECEE-6901-A092-BD05-665AE33A6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6D4851-4D07-87D7-5B93-DE3A42D3B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C0EED6-0D6E-F4D4-CB79-205174FE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67200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77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C284A8F-534A-D5BC-EB3A-4C504D236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66C5F8-C8DB-5045-E706-A1EBD9CBC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9356B8-71D6-A76B-70F3-6980C90C1E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0234EC5-0AA8-8779-C142-FA24BF6D0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E38FE7-D191-D514-C3F5-3C2A48D59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2347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3.mp4"/><Relationship Id="rId7" Type="http://schemas.openxmlformats.org/officeDocument/2006/relationships/image" Target="../media/image9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3.mp4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12E4D4-D802-7E9A-DBDA-9F62174FB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6168F06-9DB1-6671-213C-6BD49D3D5C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96625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Dataset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Collection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Collection &amp; Synthesis</a:t>
            </a:r>
          </a:p>
          <a:p>
            <a:pPr lvl="1">
              <a:buSzPct val="100000"/>
            </a:pPr>
            <a:r>
              <a:rPr lang="en" altLang="zh-TW" sz="2133" dirty="0"/>
              <a:t>Created dataset using Unreal Engine 5 simulation environment.</a:t>
            </a:r>
          </a:p>
          <a:p>
            <a:pPr lvl="1">
              <a:buSzPct val="100000"/>
            </a:pPr>
            <a:r>
              <a:rPr lang="en" altLang="zh-TW" sz="2133" dirty="0"/>
              <a:t>Generated randomized camera trajectories navigating through various scenes</a:t>
            </a:r>
          </a:p>
          <a:p>
            <a:pPr marL="829713" lvl="1" indent="0">
              <a:buSzPct val="100000"/>
              <a:buNone/>
            </a:pPr>
            <a:endParaRPr lang="en" altLang="zh-TW" sz="2133" b="1" dirty="0"/>
          </a:p>
          <a:p>
            <a:pPr>
              <a:buSzPct val="100000"/>
            </a:pPr>
            <a:r>
              <a:rPr lang="en" altLang="zh-TW" sz="2400" b="1" dirty="0"/>
              <a:t>Annotation</a:t>
            </a:r>
          </a:p>
          <a:p>
            <a:pPr lvl="1">
              <a:buSzPct val="100000"/>
            </a:pPr>
            <a:r>
              <a:rPr lang="en" altLang="zh-TW" sz="2133" dirty="0"/>
              <a:t>Captions annotated by a multimodal LLM</a:t>
            </a:r>
          </a:p>
          <a:p>
            <a:pPr lvl="1">
              <a:buSzPct val="100000"/>
            </a:pPr>
            <a:endParaRPr lang="en" altLang="zh-TW" sz="2133" b="1" dirty="0"/>
          </a:p>
          <a:p>
            <a:pPr lvl="1">
              <a:buSzPct val="100000"/>
            </a:pPr>
            <a:endParaRPr lang="en" altLang="zh-TW" sz="1600" b="1" dirty="0"/>
          </a:p>
          <a:p>
            <a:pPr>
              <a:buSzPct val="100000"/>
            </a:pPr>
            <a:r>
              <a:rPr lang="en" altLang="zh-TW" sz="2400" b="1" dirty="0"/>
              <a:t>Simplification</a:t>
            </a:r>
          </a:p>
          <a:p>
            <a:pPr lvl="1">
              <a:buSzPct val="100000"/>
            </a:pPr>
            <a:r>
              <a:rPr lang="en" altLang="zh-TW" sz="2133" dirty="0"/>
              <a:t>Limited camera position changes to a 2D plane</a:t>
            </a:r>
          </a:p>
          <a:p>
            <a:pPr lvl="1">
              <a:buSzPct val="100000"/>
            </a:pPr>
            <a:r>
              <a:rPr lang="en" altLang="zh-TW" sz="2133" dirty="0"/>
              <a:t>Restricted rotation to the z-axis only</a:t>
            </a:r>
          </a:p>
          <a:p>
            <a:pPr lvl="1">
              <a:buSzPct val="100000"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4" name="2">
            <a:hlinkClick r:id="" action="ppaction://media"/>
            <a:extLst>
              <a:ext uri="{FF2B5EF4-FFF2-40B4-BE49-F238E27FC236}">
                <a16:creationId xmlns:a16="http://schemas.microsoft.com/office/drawing/2014/main" id="{CF0E4694-2E22-5C40-2044-650D969F65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52579" y="3978442"/>
            <a:ext cx="3644516" cy="200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0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 descr="一張含有 文字, 字型, 螢幕擷取畫面, 白色 的圖片&#10;&#10;AI 產生的內容可能不正確。">
            <a:extLst>
              <a:ext uri="{FF2B5EF4-FFF2-40B4-BE49-F238E27FC236}">
                <a16:creationId xmlns:a16="http://schemas.microsoft.com/office/drawing/2014/main" id="{8151DDF2-A8F0-18D6-266E-F659437DF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70" y="4193280"/>
            <a:ext cx="7556500" cy="17145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Experiment - C</a:t>
            </a:r>
            <a:r>
              <a:rPr lang="en-US" altLang="zh-TW" dirty="0"/>
              <a:t>omparing Models</a:t>
            </a:r>
            <a:endParaRPr kumimoji="1" lang="zh-TW" altLang="en-US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4D676289-54E1-9219-0060-FCC680554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700" y="1281466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Several ways to retrieve memory</a:t>
            </a:r>
          </a:p>
          <a:p>
            <a:pPr lvl="1">
              <a:buSzPct val="100000"/>
            </a:pPr>
            <a:r>
              <a:rPr lang="en" altLang="zh-TW" sz="2133" dirty="0"/>
              <a:t>Random: Using the first frame + random historical frames</a:t>
            </a:r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r>
              <a:rPr lang="en" altLang="zh-TW" sz="2133" dirty="0" err="1"/>
              <a:t>DFoT</a:t>
            </a:r>
            <a:r>
              <a:rPr lang="en" altLang="zh-TW" sz="2133" dirty="0"/>
              <a:t>: Using a fixed-size window of most recent frames</a:t>
            </a:r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r>
              <a:rPr lang="en" altLang="zh-TW" sz="2133" dirty="0" err="1"/>
              <a:t>FramePack</a:t>
            </a:r>
            <a:r>
              <a:rPr lang="en" altLang="zh-TW" sz="2133" dirty="0"/>
              <a:t>: </a:t>
            </a:r>
            <a:r>
              <a:rPr lang="zh-TW" altLang="en-US" sz="2133" dirty="0"/>
              <a:t> </a:t>
            </a:r>
            <a:r>
              <a:rPr lang="en-US" altLang="zh-TW" sz="2133" dirty="0"/>
              <a:t>Compress previous context into two frames</a:t>
            </a:r>
            <a:endParaRPr lang="en" altLang="zh-TW" sz="2133" dirty="0"/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r>
              <a:rPr lang="en" altLang="zh-TW" sz="2133" dirty="0"/>
              <a:t>C-a-M : Camera-trajectory-based search</a:t>
            </a:r>
          </a:p>
          <a:p>
            <a:pPr lvl="1">
              <a:buSzPct val="100000"/>
            </a:pPr>
            <a:endParaRPr lang="en" altLang="zh-TW" sz="2133" b="1" dirty="0"/>
          </a:p>
          <a:p>
            <a:pPr lvl="1">
              <a:buSzPct val="100000"/>
            </a:pPr>
            <a:endParaRPr lang="en" altLang="zh-TW" sz="2133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6" name="圖片 5" descr="一張含有 螢幕擷取畫面, 架子 的圖片&#10;&#10;AI 產生的內容可能不正確。">
            <a:extLst>
              <a:ext uri="{FF2B5EF4-FFF2-40B4-BE49-F238E27FC236}">
                <a16:creationId xmlns:a16="http://schemas.microsoft.com/office/drawing/2014/main" id="{886E2CBF-B2AC-6AF7-4D29-CBF570047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342467"/>
            <a:ext cx="8951779" cy="6515533"/>
          </a:xfrm>
          <a:prstGeom prst="rect">
            <a:avLst/>
          </a:prstGeom>
        </p:spPr>
      </p:pic>
      <p:pic>
        <p:nvPicPr>
          <p:cNvPr id="19" name="圖片 18" descr="一張含有 螢幕擷取畫面, 文字, 架子 的圖片&#10;&#10;AI 產生的內容可能不正確。">
            <a:extLst>
              <a:ext uri="{FF2B5EF4-FFF2-40B4-BE49-F238E27FC236}">
                <a16:creationId xmlns:a16="http://schemas.microsoft.com/office/drawing/2014/main" id="{41CCA16F-AC04-0847-C5F1-840CAEDC34E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3017520" y="166195"/>
            <a:ext cx="9174480" cy="669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81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91B5FD-FA7D-DB82-908C-B75F34ED8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E97D06-1FEC-46F9-5716-F0A64E62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Experiment - C</a:t>
            </a:r>
            <a:r>
              <a:rPr lang="en-US" altLang="zh-TW" dirty="0"/>
              <a:t>omparing Models</a:t>
            </a:r>
            <a:endParaRPr kumimoji="1" lang="zh-TW" altLang="en-US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6CF0793C-E25C-CDD1-399D-C612B97969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231833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Several ways to retrieve memory</a:t>
            </a:r>
          </a:p>
          <a:p>
            <a:pPr lvl="1">
              <a:buSzPct val="100000"/>
            </a:pPr>
            <a:r>
              <a:rPr lang="en" altLang="zh-TW" sz="2133" dirty="0"/>
              <a:t>Random: Using the first frame + random historical frames</a:t>
            </a:r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r>
              <a:rPr lang="en" altLang="zh-TW" sz="2133" dirty="0" err="1"/>
              <a:t>DFoT</a:t>
            </a:r>
            <a:r>
              <a:rPr lang="en" altLang="zh-TW" sz="2133" dirty="0"/>
              <a:t>: Using a fixed-size window of most recent frames</a:t>
            </a:r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r>
              <a:rPr lang="en" altLang="zh-TW" sz="2133" dirty="0" err="1"/>
              <a:t>FramePack</a:t>
            </a:r>
            <a:r>
              <a:rPr lang="en" altLang="zh-TW" sz="2133" dirty="0"/>
              <a:t>: </a:t>
            </a:r>
            <a:r>
              <a:rPr lang="zh-TW" altLang="en-US" sz="2133" dirty="0"/>
              <a:t> </a:t>
            </a:r>
            <a:r>
              <a:rPr lang="en-US" altLang="zh-TW" sz="2133" dirty="0"/>
              <a:t>Compress previous context </a:t>
            </a:r>
          </a:p>
          <a:p>
            <a:pPr marL="2658467" lvl="4" indent="0">
              <a:buSzPct val="100000"/>
              <a:buNone/>
            </a:pPr>
            <a:r>
              <a:rPr lang="en-US" altLang="zh-TW" sz="2133" dirty="0"/>
              <a:t>	into two frames</a:t>
            </a:r>
            <a:endParaRPr lang="en" altLang="zh-TW" sz="2133" dirty="0"/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endParaRPr lang="en" altLang="zh-TW" sz="2133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7" name="圖片 6" descr="一張含有 行, Rectangle, 正方形, 圖表 的圖片&#10;&#10;AI 產生的內容可能不正確。">
            <a:extLst>
              <a:ext uri="{FF2B5EF4-FFF2-40B4-BE49-F238E27FC236}">
                <a16:creationId xmlns:a16="http://schemas.microsoft.com/office/drawing/2014/main" id="{EA107EFA-86EB-8A82-A2D7-0B887E71D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809" y="3920233"/>
            <a:ext cx="1846144" cy="1846144"/>
          </a:xfrm>
          <a:prstGeom prst="rect">
            <a:avLst/>
          </a:prstGeom>
        </p:spPr>
      </p:pic>
      <p:pic>
        <p:nvPicPr>
          <p:cNvPr id="10" name="圖片 9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4B70A3FE-34B1-821F-1D85-79FF7C77B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7092" y="3302811"/>
            <a:ext cx="4400266" cy="3305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468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2192C-2884-41ED-5159-97BD6BD1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F592EF-EE1A-E098-FF48-3CAA1E344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Ablation Study</a:t>
            </a:r>
            <a:endParaRPr kumimoji="1" lang="zh-TW" altLang="en-US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A80F3C31-232D-CA72-296D-B21B444DB6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231833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Context Size</a:t>
            </a:r>
          </a:p>
          <a:p>
            <a:pPr lvl="1">
              <a:buSzPct val="100000"/>
            </a:pPr>
            <a:r>
              <a:rPr lang="en" altLang="zh-TW" sz="2200" dirty="0"/>
              <a:t>Larger context sizes contain more  information and lead to better memory capability</a:t>
            </a:r>
          </a:p>
          <a:p>
            <a:pPr lvl="1">
              <a:buSzPct val="100000"/>
            </a:pPr>
            <a:r>
              <a:rPr lang="en" altLang="zh-TW" sz="2200" dirty="0"/>
              <a:t>higher computational overhead</a:t>
            </a:r>
          </a:p>
          <a:p>
            <a:pPr lvl="1">
              <a:buSzPct val="100000"/>
            </a:pPr>
            <a:endParaRPr lang="en" altLang="zh-TW" sz="2200" dirty="0"/>
          </a:p>
          <a:p>
            <a:pPr>
              <a:buSzPct val="100000"/>
            </a:pPr>
            <a:r>
              <a:rPr lang="en" altLang="zh-TW" sz="2400" b="1" dirty="0"/>
              <a:t>Retrieval Strategy</a:t>
            </a:r>
          </a:p>
          <a:p>
            <a:pPr lvl="1">
              <a:buSzPct val="100000"/>
            </a:pPr>
            <a:r>
              <a:rPr lang="en" altLang="zh-TW" sz="2133" dirty="0"/>
              <a:t>Non-adj : only one frame from a continuous sequence</a:t>
            </a:r>
          </a:p>
          <a:p>
            <a:pPr lvl="1">
              <a:buSzPct val="100000"/>
            </a:pPr>
            <a:r>
              <a:rPr lang="en" altLang="zh-TW" sz="2133" dirty="0"/>
              <a:t>Far-space-time : frames with more distance in time or space are more likely selected </a:t>
            </a:r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endParaRPr lang="en" altLang="zh-TW" sz="2133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14" name="圖片 13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6CFECF83-8EC5-5B0C-E5AC-54533FD19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" y="4233733"/>
            <a:ext cx="6248400" cy="2374900"/>
          </a:xfrm>
          <a:prstGeom prst="rect">
            <a:avLst/>
          </a:prstGeom>
        </p:spPr>
      </p:pic>
      <p:pic>
        <p:nvPicPr>
          <p:cNvPr id="16" name="圖片 15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831499AA-A126-F528-B086-031C293F63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92" b="1951"/>
          <a:stretch>
            <a:fillRect/>
          </a:stretch>
        </p:blipFill>
        <p:spPr>
          <a:xfrm>
            <a:off x="6323045" y="4282060"/>
            <a:ext cx="5736875" cy="1874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266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D4B3B-7EA7-B40F-0659-8BE648F5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FFCE9A-9CC9-2773-80B4-2BF328310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Open Domain Scenarios</a:t>
            </a:r>
            <a:endParaRPr kumimoji="1" lang="zh-TW" altLang="en-US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B0FD22DB-738E-B4FC-45BE-6964A9F37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052167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Rotate Forward and back</a:t>
            </a:r>
          </a:p>
          <a:p>
            <a:pPr lvl="1">
              <a:buSzPct val="100000"/>
            </a:pPr>
            <a:endParaRPr lang="en" altLang="zh-TW" sz="2200" dirty="0"/>
          </a:p>
          <a:p>
            <a:pPr lvl="1">
              <a:buSzPct val="100000"/>
            </a:pPr>
            <a:endParaRPr lang="en" altLang="zh-TW" sz="2200" dirty="0"/>
          </a:p>
          <a:p>
            <a:pPr>
              <a:buSzPct val="100000"/>
            </a:pPr>
            <a:endParaRPr lang="en" altLang="zh-TW" sz="2400" b="1" dirty="0"/>
          </a:p>
          <a:p>
            <a:pPr>
              <a:buSzPct val="100000"/>
            </a:pPr>
            <a:endParaRPr lang="en" altLang="zh-TW" sz="2400" b="1" dirty="0"/>
          </a:p>
          <a:p>
            <a:pPr>
              <a:buSzPct val="100000"/>
            </a:pPr>
            <a:endParaRPr lang="en" altLang="zh-TW" sz="2400" b="1" dirty="0"/>
          </a:p>
          <a:p>
            <a:pPr>
              <a:buSzPct val="100000"/>
            </a:pPr>
            <a:endParaRPr lang="en" altLang="zh-TW" sz="2400" b="1" dirty="0"/>
          </a:p>
          <a:p>
            <a:pPr>
              <a:buSzPct val="100000"/>
            </a:pPr>
            <a:endParaRPr lang="en" altLang="zh-TW" sz="2400" b="1" dirty="0"/>
          </a:p>
          <a:p>
            <a:pPr>
              <a:buSzPct val="100000"/>
            </a:pPr>
            <a:endParaRPr lang="en" altLang="zh-TW" sz="2400" b="1" dirty="0"/>
          </a:p>
          <a:p>
            <a:pPr>
              <a:buSzPct val="100000"/>
            </a:pPr>
            <a:endParaRPr lang="en" altLang="zh-TW" sz="2400" b="1" dirty="0"/>
          </a:p>
          <a:p>
            <a:pPr marL="203195" indent="0">
              <a:buSzPct val="100000"/>
              <a:buNone/>
            </a:pPr>
            <a:endParaRPr lang="en" altLang="zh-TW" sz="2400" b="1" dirty="0"/>
          </a:p>
          <a:p>
            <a:pPr lvl="1">
              <a:buSzPct val="100000"/>
            </a:pPr>
            <a:endParaRPr lang="en" altLang="zh-TW" sz="21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3" name="10">
            <a:hlinkClick r:id="" action="ppaction://media"/>
            <a:extLst>
              <a:ext uri="{FF2B5EF4-FFF2-40B4-BE49-F238E27FC236}">
                <a16:creationId xmlns:a16="http://schemas.microsoft.com/office/drawing/2014/main" id="{85FE1981-1EAE-D876-C54C-273860BAE33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96584" y="2246737"/>
            <a:ext cx="5432108" cy="2987659"/>
          </a:xfrm>
          <a:prstGeom prst="rect">
            <a:avLst/>
          </a:prstGeom>
        </p:spPr>
      </p:pic>
      <p:pic>
        <p:nvPicPr>
          <p:cNvPr id="4" name="6">
            <a:hlinkClick r:id="" action="ppaction://media"/>
            <a:extLst>
              <a:ext uri="{FF2B5EF4-FFF2-40B4-BE49-F238E27FC236}">
                <a16:creationId xmlns:a16="http://schemas.microsoft.com/office/drawing/2014/main" id="{3AFCE955-2616-7775-9C9F-B60669005A9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36492" y="2246737"/>
            <a:ext cx="5432108" cy="29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02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3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D4B3B-7EA7-B40F-0659-8BE648F5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FFCE9A-9CC9-2773-80B4-2BF328310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Conclusion</a:t>
            </a:r>
            <a:endParaRPr kumimoji="1" lang="zh-TW" altLang="en-US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B0FD22DB-738E-B4FC-45BE-6964A9F37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052167"/>
            <a:ext cx="1263396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Contributions</a:t>
            </a:r>
          </a:p>
          <a:p>
            <a:pPr marL="203195" indent="0">
              <a:buSzPct val="100000"/>
              <a:buNone/>
            </a:pPr>
            <a:endParaRPr lang="en" altLang="zh-TW" sz="2400" b="1" dirty="0"/>
          </a:p>
          <a:p>
            <a:pPr lvl="1">
              <a:buSzPct val="100000"/>
            </a:pPr>
            <a:r>
              <a:rPr lang="en" altLang="zh-TW" sz="2133" dirty="0"/>
              <a:t>Context as Memory</a:t>
            </a:r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r>
              <a:rPr lang="en" altLang="zh-TW" sz="2133" dirty="0"/>
              <a:t>Avoid high computational overhead</a:t>
            </a:r>
          </a:p>
          <a:p>
            <a:pPr lvl="1">
              <a:buSzPct val="100000"/>
            </a:pPr>
            <a:endParaRPr lang="en" altLang="zh-TW" sz="2200" dirty="0"/>
          </a:p>
          <a:p>
            <a:pPr lvl="1">
              <a:buSzPct val="100000"/>
            </a:pPr>
            <a:r>
              <a:rPr lang="en" altLang="zh-TW" sz="2200" dirty="0"/>
              <a:t>Memory Retrieval to select truly valuable context</a:t>
            </a:r>
          </a:p>
          <a:p>
            <a:pPr marL="203195" indent="0">
              <a:buSzPct val="100000"/>
              <a:buNone/>
            </a:pPr>
            <a:endParaRPr lang="en" altLang="zh-TW" sz="2400" b="1" dirty="0"/>
          </a:p>
          <a:p>
            <a:pPr marL="203195" indent="0">
              <a:buSzPct val="100000"/>
              <a:buNone/>
            </a:pPr>
            <a:endParaRPr lang="en" altLang="zh-TW" sz="2400" b="1" dirty="0"/>
          </a:p>
          <a:p>
            <a:pPr>
              <a:buSzPct val="100000"/>
            </a:pPr>
            <a:r>
              <a:rPr lang="en" altLang="zh-TW" sz="2400" b="1" dirty="0"/>
              <a:t>Limitations</a:t>
            </a:r>
          </a:p>
          <a:p>
            <a:pPr marL="203195" indent="0">
              <a:buSzPct val="100000"/>
              <a:buNone/>
            </a:pPr>
            <a:endParaRPr lang="en" altLang="zh-TW" sz="2400" b="1" dirty="0"/>
          </a:p>
          <a:p>
            <a:pPr lvl="1">
              <a:buSzPct val="100000"/>
            </a:pPr>
            <a:r>
              <a:rPr lang="en" altLang="zh-TW" sz="2100" dirty="0"/>
              <a:t>Limited generation capabilities for complex trajectories</a:t>
            </a:r>
          </a:p>
          <a:p>
            <a:pPr lvl="1">
              <a:buSzPct val="100000"/>
            </a:pPr>
            <a:endParaRPr lang="en" altLang="zh-TW" sz="2100" dirty="0"/>
          </a:p>
          <a:p>
            <a:pPr lvl="1">
              <a:buSzPct val="100000"/>
            </a:pPr>
            <a:r>
              <a:rPr lang="en" altLang="zh-TW" sz="2100" dirty="0"/>
              <a:t>Struggle to effectively identify truly relevant context frames in complex scenarios</a:t>
            </a:r>
          </a:p>
          <a:p>
            <a:pPr lvl="1">
              <a:buSzPct val="100000"/>
            </a:pPr>
            <a:endParaRPr lang="en" altLang="zh-TW" sz="21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898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Macintosh PowerPoint</Application>
  <PresentationFormat>寬螢幕</PresentationFormat>
  <Paragraphs>116</Paragraphs>
  <Slides>7</Slides>
  <Notes>6</Notes>
  <HiddenSlides>1</HiddenSlides>
  <MMClips>3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佈景主題</vt:lpstr>
      <vt:lpstr>PowerPoint 簡報</vt:lpstr>
      <vt:lpstr>Dataset Collection</vt:lpstr>
      <vt:lpstr>Experiment - Comparing Models</vt:lpstr>
      <vt:lpstr>Experiment - Comparing Models</vt:lpstr>
      <vt:lpstr>Ablation Study</vt:lpstr>
      <vt:lpstr>Open Domain Scenarios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賴禹衡</dc:creator>
  <cp:lastModifiedBy>賴禹衡</cp:lastModifiedBy>
  <cp:revision>1</cp:revision>
  <dcterms:created xsi:type="dcterms:W3CDTF">2025-10-28T03:21:12Z</dcterms:created>
  <dcterms:modified xsi:type="dcterms:W3CDTF">2025-10-28T03:21:30Z</dcterms:modified>
</cp:coreProperties>
</file>