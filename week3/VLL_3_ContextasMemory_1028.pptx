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84" r:id="rId3"/>
    <p:sldId id="288" r:id="rId4"/>
    <p:sldId id="286" r:id="rId5"/>
    <p:sldId id="287" r:id="rId6"/>
    <p:sldId id="275" r:id="rId7"/>
    <p:sldId id="276" r:id="rId8"/>
    <p:sldId id="278" r:id="rId9"/>
    <p:sldId id="279" r:id="rId10"/>
    <p:sldId id="281" r:id="rId11"/>
    <p:sldId id="283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0"/>
  </p:normalViewPr>
  <p:slideViewPr>
    <p:cSldViewPr snapToGrid="0">
      <p:cViewPr varScale="1">
        <p:scale>
          <a:sx n="107" d="100"/>
          <a:sy n="107" d="100"/>
        </p:scale>
        <p:origin x="1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93163-D624-4B46-802C-6ED404320433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3E078-E45B-1847-A1D7-1A421615B5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9299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817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3699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2561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551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0436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1771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2629-C9E1-C8A0-64BF-17D4EF3D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FF34AD4-898D-B217-DDDE-86C5E0E6E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51C449C-A418-7F0E-B818-D11DA3A2C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2821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32A8-D1CF-E096-441C-EA415F2D6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0440BDE-94F9-0667-06F1-D9469DD32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0FCD30-901A-4B9B-6B26-33CB397C6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65822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DB762-1B51-0C57-4381-97F1A147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E0C4DE5-C771-6026-8255-53FBABBDE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289F7AF-63D5-DD78-2BA8-48D68B0FE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0957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DB762-1B51-0C57-4381-97F1A147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E0C4DE5-C771-6026-8255-53FBABBDE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289F7AF-63D5-DD78-2BA8-48D68B0FE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9908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B6CE87-62CA-F3CA-85CA-1E5600AB7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0886A2B-A2AB-7321-8473-603269F1F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1AFDA0-2147-6747-E413-E540F7DD4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E12634-0129-2C03-2091-BDCFFB28D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604914-84F5-6959-7F7B-CF4AD749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749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F26A00-BFF5-2076-CB03-928863B41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96E72F-2FCA-187D-E98C-AA21F2AE9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A6991D-0E70-97C7-7EAA-0E21AFE25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B94C46-B1A4-652E-5FE3-4CA31B56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F13800-590F-88F7-9949-E1B3B19D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9865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40D3B9-6ABA-A6DD-DEED-72A666FF6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94125E-76DB-10BC-87F4-89C087820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A4F3C1-06BD-2E8B-C8F3-8418A394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5AF6CA-439C-4545-1A68-7DB925F9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45B08A-4F62-7C9C-4378-CAA8887E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607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E994C2-F298-6ADA-21F8-6CEBE1A5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5E70A9-8E11-2737-D4E3-13335C960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7643F86-F28B-F451-F808-5CBFD12E6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C7C109B-5596-1D98-B82E-1387A3F0C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178103-4228-8626-AD64-A479C897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E54655-8787-4899-02D8-2089AFC7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2631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9EE964-F53B-981B-2B24-264247CF5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F3C8C4-0616-FD52-860F-96769DE9C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22E6F06-E0B4-8899-5D91-72823D3D5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2CDBF8B-F8F9-881E-85E0-888DFD1A3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C5191C5-80EB-F2C9-289D-18A1DBA08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4F7CF69-238D-550C-4716-70D1063E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01F1A00-6E28-CB02-6F53-B2A0BEE4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516E58F-CE16-3BD4-8ED1-43AB415E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85056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3D9334-36A0-3848-9D23-151500D6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5CDB663-BC23-3956-0938-4EFAD767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1736C1-264D-4DB8-8A7A-F824CCA4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3B768D5-665C-22A1-6ED5-F3B06615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6160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7589658-2EF5-DFD0-4B26-B57F4D93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AAC59FA-2995-14E3-C517-2DB10EBE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B3E0A9-D7BF-3682-7874-86FC9EC2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233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20E3F-EE9B-6B98-4FC8-2061EE6C1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31792F-2EE9-7688-36FC-92D7B539E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1AB3A1-AC57-F74E-0EEF-2C519A49F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691FFCA-EB71-2846-AD58-4E0587424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EA41DE-7EF3-A8E3-1910-01325ACB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F596C6-4C24-D1A5-C4DC-D1AE80EC4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14942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0A87D-D52D-A01F-D48A-E138766B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B9574F-11F7-70E1-E2DC-EAFA9C6AD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12C348A-DDD2-BAFF-FAB7-430E245F9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9E43A6-86B3-4B2E-0E2B-DBCC208A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6B41EF-3790-85EE-421C-C8F10BBA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7AAFAC-5FCA-3DA4-90C1-B51F609E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165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AC3381-880A-C6E6-DE37-F408E409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7E6A429-CABA-A76F-F274-8D3508CD3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AC39F3-8F20-1E9A-5E65-1A1BE0F57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B3E6A5-4C73-586C-3610-CD7234F5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E782E1-EAE8-E488-89EB-B559B9B2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855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FA806A1-7C83-E8EA-D4BF-E8D7E2F399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F3C4CD7-A748-38B6-5719-CA984C14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59ECEE-6901-A092-BD05-665AE33A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6D4851-4D07-87D7-5B93-DE3A42D3B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C0EED6-0D6E-F4D4-CB79-205174FE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6720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288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7600" y="1231833"/>
            <a:ext cx="11360800" cy="5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377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C284A8F-534A-D5BC-EB3A-4C504D236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66C5F8-C8DB-5045-E706-A1EBD9CBC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9356B8-71D6-A76B-70F3-6980C90C1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2F935-2A93-2D42-A1D1-A180708127FA}" type="datetimeFigureOut">
              <a:rPr kumimoji="1" lang="zh-TW" altLang="en-US" smtClean="0"/>
              <a:t>2025/10/28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234EC5-0AA8-8779-C142-FA24BF6D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E38FE7-D191-D514-C3F5-3C2A48D59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2F9FA-9B4A-F042-85A9-7374F5DF9B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234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media" Target="../media/media4.mp4"/><Relationship Id="rId7" Type="http://schemas.openxmlformats.org/officeDocument/2006/relationships/image" Target="../media/image15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video" Target="../media/media4.mp4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12E4D4-D802-7E9A-DBDA-9F62174FB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Context as Memory: </a:t>
            </a:r>
            <a:br>
              <a:rPr kumimoji="1" lang="en-US" altLang="zh-TW" sz="4000" b="1" dirty="0"/>
            </a:br>
            <a:r>
              <a:rPr kumimoji="1" lang="en-US" altLang="zh-TW" sz="4000" b="1" dirty="0"/>
              <a:t>Scene-Consistent Interactive Long Video Generation </a:t>
            </a:r>
            <a:br>
              <a:rPr kumimoji="1" lang="en-US" altLang="zh-TW" sz="4000" b="1" dirty="0"/>
            </a:br>
            <a:r>
              <a:rPr kumimoji="1" lang="en-US" altLang="zh-TW" sz="4000" b="1" dirty="0"/>
              <a:t>with Memory Retrieval</a:t>
            </a:r>
            <a:endParaRPr kumimoji="1" lang="zh-TW" altLang="en-US" sz="4000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6168F06-9DB1-6671-213C-6BD49D3D5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sz="1800" i="0" dirty="0">
                <a:solidFill>
                  <a:srgbClr val="000000"/>
                </a:solidFill>
                <a:effectLst/>
              </a:rPr>
              <a:t>SIGGRAPH Asia 2025, arXiv:2506.03141</a:t>
            </a:r>
          </a:p>
          <a:p>
            <a:endParaRPr kumimoji="1" lang="en-US" altLang="zh-TW" sz="1800" dirty="0">
              <a:solidFill>
                <a:srgbClr val="000000"/>
              </a:solidFill>
            </a:endParaRPr>
          </a:p>
          <a:p>
            <a:r>
              <a:rPr kumimoji="1"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指導學長：鍾閎凱／吳彥翔</a:t>
            </a:r>
          </a:p>
          <a:p>
            <a:r>
              <a:rPr kumimoji="1"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報告人：電機三 賴禹衡／電機三 陳政年</a:t>
            </a:r>
          </a:p>
          <a:p>
            <a:endParaRPr kumimoji="1" lang="zh-TW" altLang="en-US" sz="2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0BBA626-6240-4992-BE16-B210EF950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911" y="888865"/>
            <a:ext cx="1172025" cy="11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625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Overview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Goal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Temporal consistency </a:t>
            </a:r>
            <a:r>
              <a:rPr lang="en" altLang="zh-TW" sz="2000" dirty="0"/>
              <a:t>in long video generation</a:t>
            </a:r>
          </a:p>
          <a:p>
            <a:pPr marL="829713" lvl="1" indent="0">
              <a:lnSpc>
                <a:spcPct val="100000"/>
              </a:lnSpc>
              <a:buSzPct val="100000"/>
              <a:buNone/>
            </a:pPr>
            <a:endParaRPr lang="en" altLang="zh-TW" sz="2133" b="1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Previous works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Limited context window size with only recent frames as context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Compressing all history frames as context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Constructing extra </a:t>
            </a:r>
            <a:r>
              <a:rPr lang="en-US" altLang="zh-TW" sz="2000" dirty="0"/>
              <a:t>3D</a:t>
            </a:r>
            <a:r>
              <a:rPr lang="zh-TW" altLang="en-US" sz="2000" dirty="0"/>
              <a:t> </a:t>
            </a:r>
            <a:r>
              <a:rPr lang="en-US" altLang="zh-TW" sz="2000" dirty="0"/>
              <a:t>representations</a:t>
            </a:r>
            <a:endParaRPr lang="en" altLang="zh-TW" sz="2000" dirty="0"/>
          </a:p>
          <a:p>
            <a:pPr marL="829713" lvl="1" indent="0">
              <a:lnSpc>
                <a:spcPct val="100000"/>
              </a:lnSpc>
              <a:buSzPct val="100000"/>
              <a:buNone/>
            </a:pPr>
            <a:endParaRPr lang="en" altLang="zh-TW" sz="2000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Methods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Directly add some of the </a:t>
            </a:r>
            <a:r>
              <a:rPr lang="en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history frame as context </a:t>
            </a:r>
            <a:r>
              <a:rPr lang="en" altLang="zh-TW" sz="2000" dirty="0"/>
              <a:t>frame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Use </a:t>
            </a:r>
            <a:r>
              <a:rPr lang="en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camera </a:t>
            </a:r>
            <a:r>
              <a:rPr lang="en-US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attributes</a:t>
            </a:r>
            <a:r>
              <a:rPr lang="en" altLang="zh-TW" sz="2000" dirty="0"/>
              <a:t> as extra condition and for history selection.</a:t>
            </a:r>
            <a:endParaRPr lang="en-US" altLang="zh-TW" sz="2000" dirty="0"/>
          </a:p>
        </p:txBody>
      </p:sp>
      <p:pic>
        <p:nvPicPr>
          <p:cNvPr id="5" name="1">
            <a:hlinkClick r:id="" action="ppaction://media"/>
            <a:extLst>
              <a:ext uri="{FF2B5EF4-FFF2-40B4-BE49-F238E27FC236}">
                <a16:creationId xmlns:a16="http://schemas.microsoft.com/office/drawing/2014/main" id="{B897B675-6EF4-4DEB-8B61-21D71D5CC6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49923" y="288567"/>
            <a:ext cx="3815224" cy="209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1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Methods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Camera conditioning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Followed </a:t>
            </a:r>
            <a:r>
              <a:rPr lang="en-US" altLang="zh-TW" sz="2000" dirty="0" err="1"/>
              <a:t>ReCamMaster</a:t>
            </a:r>
            <a:endParaRPr lang="en-US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000" dirty="0"/>
              <a:t>Using </a:t>
            </a:r>
            <a:r>
              <a:rPr lang="en-US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MLP to inject camera attributes</a:t>
            </a:r>
            <a:r>
              <a:rPr lang="en-US" altLang="zh-TW" sz="2000" dirty="0"/>
              <a:t> in between 2D and 3D attention by direct addition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History conditioning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000" dirty="0"/>
              <a:t>Injecting history context through </a:t>
            </a:r>
            <a:r>
              <a:rPr lang="en-US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concatenation along the frame dimension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3BA66A-159C-41B9-AE85-AC7B2A25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551" y="3864825"/>
            <a:ext cx="3841388" cy="270460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AED5750-44C4-4F9F-BD85-24CBECFE9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068" y="3864825"/>
            <a:ext cx="4745585" cy="270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06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Methods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Camera-trajectory-based memory</a:t>
            </a:r>
            <a:r>
              <a:rPr lang="en" altLang="zh-TW" sz="2400" b="1" dirty="0"/>
              <a:t> </a:t>
            </a:r>
            <a:r>
              <a:rPr lang="en-US" altLang="zh-TW" sz="2400" b="1" dirty="0"/>
              <a:t>retrieval</a:t>
            </a:r>
            <a:endParaRPr lang="en" altLang="zh-TW" sz="2400" b="1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Camera attributes is from user input conditioning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Restrict the camera movement to XY plane, rotation to Z axis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000" dirty="0"/>
              <a:t>Checking if there is an </a:t>
            </a:r>
            <a:r>
              <a:rPr lang="en-US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overlapping region of Fields of View</a:t>
            </a:r>
            <a:r>
              <a:rPr lang="en-US" altLang="zh-TW" sz="2000" dirty="0"/>
              <a:t> (FOV) from two cameras</a:t>
            </a: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000" dirty="0"/>
              <a:t>Eliminate cases where the </a:t>
            </a:r>
            <a:r>
              <a:rPr lang="en-US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cameras are too distant or too near</a:t>
            </a:r>
            <a:br>
              <a:rPr lang="en-US" altLang="zh-TW" sz="2000" dirty="0"/>
            </a:br>
            <a:r>
              <a:rPr lang="en-US" altLang="zh-TW" sz="2000" dirty="0"/>
              <a:t>by calculating the distance of predicted frame’s camera and intersection point</a:t>
            </a:r>
          </a:p>
          <a:p>
            <a:pPr lvl="1">
              <a:lnSpc>
                <a:spcPct val="100000"/>
              </a:lnSpc>
              <a:buSzPct val="100000"/>
            </a:pPr>
            <a:endParaRPr lang="en-US" altLang="zh-TW" sz="2000" dirty="0"/>
          </a:p>
          <a:p>
            <a:pPr marL="829713" lvl="1" indent="0">
              <a:lnSpc>
                <a:spcPct val="100000"/>
              </a:lnSpc>
              <a:buSzPct val="100000"/>
              <a:buNone/>
            </a:pPr>
            <a:r>
              <a:rPr lang="en-US" altLang="zh-TW" sz="2000" dirty="0"/>
              <a:t>If still too much history frames…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000" dirty="0"/>
              <a:t>Select only one frame from adjacent history frames being selected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000" dirty="0"/>
              <a:t>Select the frames that are most spatially or temporally apart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38C993F-18FD-4764-BEDF-55A1D1440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449" y="4806954"/>
            <a:ext cx="6782204" cy="176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9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Training and Inferencing</a:t>
            </a:r>
            <a:endParaRPr kumimoji="1"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B4A6BA53-3271-632E-A4B8-F0E8A1F70F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4347" y="1231833"/>
                <a:ext cx="11360800" cy="5376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SzPct val="100000"/>
                </a:pPr>
                <a:r>
                  <a:rPr lang="en" altLang="zh-TW" sz="2400" b="1" dirty="0"/>
                  <a:t>Inputs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		: Noisy current latent chunk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zh-TW" altLang="en-US" sz="2000" dirty="0"/>
                  <a:t>𝑐𝑎𝑚 	</a:t>
                </a:r>
                <a:r>
                  <a:rPr lang="en-US" altLang="zh-TW" sz="2000" dirty="0"/>
                  <a:t>	: Camera attributes for current latent chunk (User conditioning)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-US" altLang="zh-TW" sz="2000" dirty="0"/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zh-TW" altLang="en-US" sz="2000" dirty="0"/>
                  <a:t>   </a:t>
                </a:r>
                <a:r>
                  <a:rPr lang="en-US" altLang="zh-TW" sz="2000" dirty="0"/>
                  <a:t>	</a:t>
                </a:r>
                <a:r>
                  <a:rPr lang="zh-TW" altLang="en-US" sz="2000" dirty="0"/>
                  <a:t>  </a:t>
                </a:r>
                <a:r>
                  <a:rPr lang="en-US" altLang="zh-TW" sz="2000" dirty="0"/>
                  <a:t>	: Clean history context </a:t>
                </a:r>
                <a:r>
                  <a:rPr lang="en-US" altLang="zh-TW" sz="2000" dirty="0" err="1"/>
                  <a:t>latents</a:t>
                </a:r>
                <a:r>
                  <a:rPr lang="en-US" altLang="zh-TW" sz="2000" dirty="0"/>
                  <a:t> (One of them must be previous frame)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𝑐𝑎</m:t>
                    </m:r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	: Camera attributes for history context </a:t>
                </a:r>
                <a:r>
                  <a:rPr lang="en-US" altLang="zh-TW" sz="2000" dirty="0" err="1"/>
                  <a:t>latents</a:t>
                </a:r>
                <a:endParaRPr lang="en-US" altLang="zh-TW" sz="2000" dirty="0"/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-US" altLang="zh-TW" sz="2000" dirty="0"/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zh-TW" altLang="en-US" sz="2000" dirty="0"/>
                  <a:t>𝑝 	</a:t>
                </a:r>
                <a:r>
                  <a:rPr lang="en-US" altLang="zh-TW" sz="2000" dirty="0"/>
                  <a:t>	: Text prompt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zh-TW" altLang="en-US" sz="2000" dirty="0"/>
                  <a:t>𝑡 	</a:t>
                </a:r>
                <a:r>
                  <a:rPr lang="en-US" altLang="zh-TW" sz="2000" dirty="0"/>
                  <a:t>	: Timestep embedding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" altLang="zh-TW" sz="2000" dirty="0"/>
              </a:p>
              <a:p>
                <a:pPr>
                  <a:lnSpc>
                    <a:spcPct val="100000"/>
                  </a:lnSpc>
                  <a:buSzPct val="100000"/>
                </a:pPr>
                <a:r>
                  <a:rPr lang="en" altLang="zh-TW" sz="2400" b="1" dirty="0"/>
                  <a:t>Training loss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𝑀𝐿𝑃</m:t>
                            </m:r>
                          </m:sub>
                        </m:sSub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  <m:t>𝑀𝐿𝑃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p>
                                    </m:sSup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𝑐𝑎𝑚</m:t>
                                    </m:r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  <m:sSup>
                                      <m:sSupPr>
                                        <m:ctrlP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altLang="zh-TW" sz="2000" i="1" dirty="0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p>
                                    </m:sSup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" altLang="zh-TW" sz="2000" dirty="0"/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" altLang="zh-TW" sz="2000" dirty="0"/>
              </a:p>
              <a:p>
                <a:pPr>
                  <a:lnSpc>
                    <a:spcPct val="100000"/>
                  </a:lnSpc>
                  <a:buSzPct val="100000"/>
                </a:pPr>
                <a:r>
                  <a:rPr lang="en" altLang="zh-TW" sz="2400" b="1" dirty="0"/>
                  <a:t>Outputs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kumimoji="0" lang="en-US" altLang="zh-TW" sz="2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新細明體" panose="02020500000000000000" pitchFamily="18" charset="-120"/>
                  </a:rPr>
                  <a:t>Generate</a:t>
                </a:r>
                <a:r>
                  <a:rPr kumimoji="0" lang="zh-TW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新細明體" panose="02020500000000000000" pitchFamily="18" charset="-120"/>
                  </a:rPr>
                  <a:t> </a:t>
                </a:r>
                <a:r>
                  <a:rPr kumimoji="0" lang="en-US" altLang="zh-TW" sz="2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新細明體" panose="02020500000000000000" pitchFamily="18" charset="-120"/>
                  </a:rPr>
                  <a:t>video frames autoregressively</a:t>
                </a:r>
                <a:endParaRPr kumimoji="0" lang="en" altLang="zh-TW" sz="2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新細明體" panose="02020500000000000000" pitchFamily="18" charset="-120"/>
                </a:endParaRPr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" altLang="zh-TW" sz="2000" dirty="0"/>
              </a:p>
            </p:txBody>
          </p:sp>
        </mc:Choice>
        <mc:Fallback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B4A6BA53-3271-632E-A4B8-F0E8A1F70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4347" y="1231833"/>
                <a:ext cx="11360800" cy="53768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465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Dataset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Collection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Collection &amp; Synthesis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Created dataset using Unreal Engine 5 simulation environment.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Generated randomized camera trajectories navigating through various scenes</a:t>
            </a:r>
          </a:p>
          <a:p>
            <a:pPr marL="829713" lvl="1" indent="0">
              <a:lnSpc>
                <a:spcPct val="100000"/>
              </a:lnSpc>
              <a:buSzPct val="100000"/>
              <a:buNone/>
            </a:pPr>
            <a:endParaRPr lang="en" altLang="zh-TW" sz="2133" b="1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Annotation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Captions annotated by a multimodal LLM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3" b="1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1600" b="1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Simplification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Limited camera position changes to a 2D plane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Restricted rotation to the z-axis only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dirty="0"/>
          </a:p>
          <a:p>
            <a:pPr lvl="1">
              <a:lnSpc>
                <a:spcPct val="100000"/>
              </a:lnSpc>
            </a:pPr>
            <a:endParaRPr lang="en" altLang="zh-TW" sz="1600" dirty="0"/>
          </a:p>
          <a:p>
            <a:pPr>
              <a:lnSpc>
                <a:spcPct val="100000"/>
              </a:lnSpc>
            </a:pPr>
            <a:endParaRPr kumimoji="1" lang="zh-TW" altLang="en-US" dirty="0"/>
          </a:p>
        </p:txBody>
      </p:sp>
      <p:pic>
        <p:nvPicPr>
          <p:cNvPr id="4" name="2">
            <a:hlinkClick r:id="" action="ppaction://media"/>
            <a:extLst>
              <a:ext uri="{FF2B5EF4-FFF2-40B4-BE49-F238E27FC236}">
                <a16:creationId xmlns:a16="http://schemas.microsoft.com/office/drawing/2014/main" id="{CF0E4694-2E22-5C40-2044-650D969F65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52579" y="3978442"/>
            <a:ext cx="3644516" cy="200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0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 20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8151DDF2-A8F0-18D6-266E-F659437DF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" y="4193280"/>
            <a:ext cx="7556500" cy="17145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Experiment - C</a:t>
            </a:r>
            <a:r>
              <a:rPr lang="en-US" altLang="zh-TW" b="1" dirty="0"/>
              <a:t>omparing Models</a:t>
            </a:r>
            <a:endParaRPr kumimoji="1" lang="zh-TW" altLang="en-US" b="1" dirty="0"/>
          </a:p>
        </p:txBody>
      </p:sp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4D676289-54E1-9219-0060-FCC680554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66683"/>
            <a:ext cx="11360800" cy="5376800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" altLang="zh-TW" sz="2400" b="1" dirty="0"/>
              <a:t>Several ways to retrieve memory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Random: Using the first frame + random historical frames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DFoT: Using a fixed-size window of most recent frames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FramePack: </a:t>
            </a:r>
            <a:r>
              <a:rPr lang="zh-TW" altLang="en-US" sz="2000" dirty="0"/>
              <a:t> </a:t>
            </a:r>
            <a:r>
              <a:rPr lang="en-US" altLang="zh-TW" sz="2000" dirty="0"/>
              <a:t>Compress previous context into two frames</a:t>
            </a: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C-a-M : Camera-trajectory-based search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marL="829713" lvl="1" indent="0">
              <a:buNone/>
            </a:pPr>
            <a:endParaRPr lang="en" altLang="zh-TW" sz="1600" b="1" dirty="0"/>
          </a:p>
          <a:p>
            <a:pPr marL="829713" lvl="1" indent="0">
              <a:buNone/>
            </a:pPr>
            <a:endParaRPr lang="en" altLang="zh-TW" sz="1600" b="1" dirty="0"/>
          </a:p>
          <a:p>
            <a:pPr marL="829713" lvl="1" indent="0">
              <a:buNone/>
            </a:pPr>
            <a:endParaRPr lang="en" altLang="zh-TW" sz="1600" dirty="0"/>
          </a:p>
          <a:p>
            <a:pPr lvl="1"/>
            <a:endParaRPr lang="en" altLang="zh-TW" sz="1600" dirty="0"/>
          </a:p>
          <a:p>
            <a:endParaRPr kumimoji="1" lang="zh-TW" altLang="en-US" dirty="0"/>
          </a:p>
        </p:txBody>
      </p:sp>
      <p:pic>
        <p:nvPicPr>
          <p:cNvPr id="6" name="圖片 5" descr="一張含有 螢幕擷取畫面, 架子 的圖片&#10;&#10;AI 產生的內容可能不正確。">
            <a:extLst>
              <a:ext uri="{FF2B5EF4-FFF2-40B4-BE49-F238E27FC236}">
                <a16:creationId xmlns:a16="http://schemas.microsoft.com/office/drawing/2014/main" id="{886E2CBF-B2AC-6AF7-4D29-CBF570047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42467"/>
            <a:ext cx="8951779" cy="6515533"/>
          </a:xfrm>
          <a:prstGeom prst="rect">
            <a:avLst/>
          </a:prstGeom>
        </p:spPr>
      </p:pic>
      <p:pic>
        <p:nvPicPr>
          <p:cNvPr id="19" name="圖片 18" descr="一張含有 螢幕擷取畫面, 文字, 架子 的圖片&#10;&#10;AI 產生的內容可能不正確。">
            <a:extLst>
              <a:ext uri="{FF2B5EF4-FFF2-40B4-BE49-F238E27FC236}">
                <a16:creationId xmlns:a16="http://schemas.microsoft.com/office/drawing/2014/main" id="{41CCA16F-AC04-0847-C5F1-840CAEDC34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017520" y="166195"/>
            <a:ext cx="9174480" cy="669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1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91B5FD-FA7D-DB82-908C-B75F34ED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E97D06-1FEC-46F9-5716-F0A64E62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Experiment - C</a:t>
            </a:r>
            <a:r>
              <a:rPr lang="en-US" altLang="zh-TW" b="1" dirty="0"/>
              <a:t>omparing Models</a:t>
            </a:r>
            <a:endParaRPr kumimoji="1" lang="zh-TW" altLang="en-US" b="1" dirty="0"/>
          </a:p>
        </p:txBody>
      </p:sp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6CF0793C-E25C-CDD1-399D-C612B9796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75760"/>
            <a:ext cx="11360800" cy="5376800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" altLang="zh-TW" sz="2400" b="1" dirty="0"/>
              <a:t>Several ways to retrieve memory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Random: Using the first frame + random historical frames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DFoT: Using a fixed-size window of most recent frames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FramePack: </a:t>
            </a:r>
            <a:r>
              <a:rPr lang="zh-TW" altLang="en-US" sz="2000" dirty="0"/>
              <a:t> </a:t>
            </a:r>
            <a:r>
              <a:rPr lang="en-US" altLang="zh-TW" sz="2000" dirty="0"/>
              <a:t>Compress previous context </a:t>
            </a:r>
          </a:p>
          <a:p>
            <a:pPr marL="2658467" lvl="4" indent="0">
              <a:lnSpc>
                <a:spcPct val="100000"/>
              </a:lnSpc>
              <a:buSzPct val="100000"/>
              <a:buNone/>
            </a:pPr>
            <a:r>
              <a:rPr lang="en-US" altLang="zh-TW" sz="2000" dirty="0"/>
              <a:t>	into two frames</a:t>
            </a:r>
            <a:endParaRPr lang="en" altLang="zh-TW" sz="2000" dirty="0"/>
          </a:p>
          <a:p>
            <a:pPr lvl="1">
              <a:buSzPct val="100000"/>
            </a:pPr>
            <a:endParaRPr lang="en" altLang="zh-TW" sz="2133" dirty="0"/>
          </a:p>
          <a:p>
            <a:pPr lvl="1">
              <a:buSzPct val="100000"/>
            </a:pPr>
            <a:endParaRPr lang="en" altLang="zh-TW" sz="2133" b="1" dirty="0"/>
          </a:p>
          <a:p>
            <a:pPr marL="829713" lvl="1" indent="0">
              <a:buNone/>
            </a:pPr>
            <a:endParaRPr lang="en" altLang="zh-TW" sz="1600" b="1" dirty="0"/>
          </a:p>
          <a:p>
            <a:pPr marL="829713" lvl="1" indent="0">
              <a:buNone/>
            </a:pPr>
            <a:endParaRPr lang="en" altLang="zh-TW" sz="1600" b="1" dirty="0"/>
          </a:p>
          <a:p>
            <a:pPr marL="829713" lvl="1" indent="0">
              <a:buNone/>
            </a:pPr>
            <a:endParaRPr lang="en" altLang="zh-TW" sz="1600" b="1" dirty="0"/>
          </a:p>
          <a:p>
            <a:pPr marL="829713" lvl="1" indent="0">
              <a:buNone/>
            </a:pPr>
            <a:endParaRPr lang="en" altLang="zh-TW" sz="1600" b="1" dirty="0"/>
          </a:p>
          <a:p>
            <a:pPr marL="829713" lvl="1" indent="0">
              <a:buNone/>
            </a:pPr>
            <a:endParaRPr lang="en" altLang="zh-TW" sz="1600" b="1" dirty="0"/>
          </a:p>
          <a:p>
            <a:pPr marL="829713" lvl="1" indent="0">
              <a:buNone/>
            </a:pPr>
            <a:endParaRPr lang="en" altLang="zh-TW" sz="1600" b="1" dirty="0"/>
          </a:p>
          <a:p>
            <a:pPr marL="829713" lvl="1" indent="0">
              <a:buNone/>
            </a:pPr>
            <a:endParaRPr lang="en" altLang="zh-TW" sz="1600" dirty="0"/>
          </a:p>
          <a:p>
            <a:pPr lvl="1"/>
            <a:endParaRPr lang="en" altLang="zh-TW" sz="1600" dirty="0"/>
          </a:p>
          <a:p>
            <a:endParaRPr kumimoji="1" lang="zh-TW" altLang="en-US" dirty="0"/>
          </a:p>
        </p:txBody>
      </p:sp>
      <p:pic>
        <p:nvPicPr>
          <p:cNvPr id="7" name="圖片 6" descr="一張含有 行, Rectangle, 正方形, 圖表 的圖片&#10;&#10;AI 產生的內容可能不正確。">
            <a:extLst>
              <a:ext uri="{FF2B5EF4-FFF2-40B4-BE49-F238E27FC236}">
                <a16:creationId xmlns:a16="http://schemas.microsoft.com/office/drawing/2014/main" id="{EA107EFA-86EB-8A82-A2D7-0B887E71D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809" y="3920233"/>
            <a:ext cx="1846144" cy="1846144"/>
          </a:xfrm>
          <a:prstGeom prst="rect">
            <a:avLst/>
          </a:prstGeom>
        </p:spPr>
      </p:pic>
      <p:pic>
        <p:nvPicPr>
          <p:cNvPr id="10" name="圖片 9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4B70A3FE-34B1-821F-1D85-79FF7C77B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092" y="3302811"/>
            <a:ext cx="4400266" cy="330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6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2192C-2884-41ED-5159-97BD6BD16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F592EF-EE1A-E098-FF48-3CAA1E34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Ablation Study</a:t>
            </a:r>
            <a:endParaRPr kumimoji="1" lang="zh-TW" altLang="en-US" b="1" dirty="0"/>
          </a:p>
        </p:txBody>
      </p:sp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A80F3C31-232D-CA72-296D-B21B444DB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Context Size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Larger context sizes contain more  information and lead to better memory capability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higher computational overhead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200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Retrieval Strategy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Non-adj : only one frame from a continuous sequence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Far-space-time : frames with more distance in time or space are more likely selected 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3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133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dirty="0"/>
          </a:p>
          <a:p>
            <a:pPr lvl="1">
              <a:lnSpc>
                <a:spcPct val="100000"/>
              </a:lnSpc>
            </a:pPr>
            <a:endParaRPr lang="en" altLang="zh-TW" sz="1600" dirty="0"/>
          </a:p>
          <a:p>
            <a:pPr>
              <a:lnSpc>
                <a:spcPct val="100000"/>
              </a:lnSpc>
            </a:pPr>
            <a:endParaRPr kumimoji="1" lang="zh-TW" altLang="en-US" dirty="0"/>
          </a:p>
        </p:txBody>
      </p:sp>
      <p:pic>
        <p:nvPicPr>
          <p:cNvPr id="14" name="圖片 13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6CFECF83-8EC5-5B0C-E5AC-54533FD19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" y="4233733"/>
            <a:ext cx="6248400" cy="2374900"/>
          </a:xfrm>
          <a:prstGeom prst="rect">
            <a:avLst/>
          </a:prstGeom>
        </p:spPr>
      </p:pic>
      <p:pic>
        <p:nvPicPr>
          <p:cNvPr id="16" name="圖片 15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831499AA-A126-F528-B086-031C293F63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92" b="1951"/>
          <a:stretch>
            <a:fillRect/>
          </a:stretch>
        </p:blipFill>
        <p:spPr>
          <a:xfrm>
            <a:off x="6323045" y="4282060"/>
            <a:ext cx="5736875" cy="187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66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4B3B-7EA7-B40F-0659-8BE648F5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45F6EDD4-DE61-4B6D-9261-AD7347461434}"/>
              </a:ext>
            </a:extLst>
          </p:cNvPr>
          <p:cNvSpPr txBox="1">
            <a:spLocks/>
          </p:cNvSpPr>
          <p:nvPr/>
        </p:nvSpPr>
        <p:spPr>
          <a:xfrm>
            <a:off x="415600" y="1231833"/>
            <a:ext cx="11360800" cy="5376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○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■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●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○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■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●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○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■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Rotate Forward and back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FFCE9A-9CC9-2773-80B4-2BF32831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Open Domain Scenarios</a:t>
            </a:r>
            <a:endParaRPr kumimoji="1" lang="zh-TW" altLang="en-US" b="1" dirty="0"/>
          </a:p>
        </p:txBody>
      </p:sp>
      <p:pic>
        <p:nvPicPr>
          <p:cNvPr id="3" name="10">
            <a:hlinkClick r:id="" action="ppaction://media"/>
            <a:extLst>
              <a:ext uri="{FF2B5EF4-FFF2-40B4-BE49-F238E27FC236}">
                <a16:creationId xmlns:a16="http://schemas.microsoft.com/office/drawing/2014/main" id="{85FE1981-1EAE-D876-C54C-273860BAE33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6584" y="2246737"/>
            <a:ext cx="5432108" cy="2987659"/>
          </a:xfrm>
          <a:prstGeom prst="rect">
            <a:avLst/>
          </a:prstGeom>
        </p:spPr>
      </p:pic>
      <p:pic>
        <p:nvPicPr>
          <p:cNvPr id="4" name="6">
            <a:hlinkClick r:id="" action="ppaction://media"/>
            <a:extLst>
              <a:ext uri="{FF2B5EF4-FFF2-40B4-BE49-F238E27FC236}">
                <a16:creationId xmlns:a16="http://schemas.microsoft.com/office/drawing/2014/main" id="{3AFCE955-2616-7775-9C9F-B60669005A9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36492" y="2246737"/>
            <a:ext cx="5432108" cy="29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0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03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4B3B-7EA7-B40F-0659-8BE648F5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FFCE9A-9CC9-2773-80B4-2BF32831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Conclusion</a:t>
            </a:r>
            <a:endParaRPr kumimoji="1" lang="zh-TW" altLang="en-US" b="1" dirty="0"/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575A3826-167D-4034-A1E3-A1BD6B1F5004}"/>
              </a:ext>
            </a:extLst>
          </p:cNvPr>
          <p:cNvSpPr txBox="1">
            <a:spLocks/>
          </p:cNvSpPr>
          <p:nvPr/>
        </p:nvSpPr>
        <p:spPr>
          <a:xfrm>
            <a:off x="415600" y="1231833"/>
            <a:ext cx="11360800" cy="5376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○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■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●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○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■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●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○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38945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■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Contributions</a:t>
            </a:r>
          </a:p>
          <a:p>
            <a:pPr marL="203195" indent="0">
              <a:lnSpc>
                <a:spcPct val="100000"/>
              </a:lnSpc>
              <a:buSzPct val="100000"/>
              <a:buNone/>
            </a:pPr>
            <a:endParaRPr lang="en" altLang="zh-TW" sz="2400" b="1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Context as Memory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Avoid high computational overhead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Memory Retrieval to select truly valuable context</a:t>
            </a:r>
          </a:p>
          <a:p>
            <a:pPr marL="203195" indent="0">
              <a:lnSpc>
                <a:spcPct val="100000"/>
              </a:lnSpc>
              <a:buSzPct val="100000"/>
              <a:buNone/>
            </a:pPr>
            <a:endParaRPr lang="en" altLang="zh-TW" sz="2400" b="1" dirty="0"/>
          </a:p>
          <a:p>
            <a:pPr marL="203195" indent="0">
              <a:lnSpc>
                <a:spcPct val="100000"/>
              </a:lnSpc>
              <a:buSzPct val="100000"/>
              <a:buNone/>
            </a:pPr>
            <a:endParaRPr lang="en" altLang="zh-TW" sz="2400" b="1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Limitations</a:t>
            </a:r>
          </a:p>
          <a:p>
            <a:pPr marL="203195" indent="0">
              <a:lnSpc>
                <a:spcPct val="100000"/>
              </a:lnSpc>
              <a:buSzPct val="100000"/>
              <a:buNone/>
            </a:pPr>
            <a:endParaRPr lang="en" altLang="zh-TW" sz="2400" b="1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Limited generation capabilities for complex trajectories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Struggle to effectively identify truly relevant context frames in complex scenarios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0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20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b="1" dirty="0"/>
          </a:p>
          <a:p>
            <a:pPr marL="829713" lvl="1" indent="0">
              <a:lnSpc>
                <a:spcPct val="100000"/>
              </a:lnSpc>
              <a:buNone/>
            </a:pPr>
            <a:endParaRPr lang="en" altLang="zh-TW" sz="1600" dirty="0"/>
          </a:p>
          <a:p>
            <a:pPr lvl="1">
              <a:lnSpc>
                <a:spcPct val="100000"/>
              </a:lnSpc>
            </a:pPr>
            <a:endParaRPr lang="en" altLang="zh-TW" sz="1600" dirty="0"/>
          </a:p>
          <a:p>
            <a:pPr>
              <a:lnSpc>
                <a:spcPct val="100000"/>
              </a:lnSpc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898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504</Words>
  <Application>Microsoft Office PowerPoint</Application>
  <PresentationFormat>寬螢幕</PresentationFormat>
  <Paragraphs>149</Paragraphs>
  <Slides>11</Slides>
  <Notes>10</Notes>
  <HiddenSlides>1</HiddenSlides>
  <MMClips>4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微軟正黑體</vt:lpstr>
      <vt:lpstr>Arial</vt:lpstr>
      <vt:lpstr>Cambria Math</vt:lpstr>
      <vt:lpstr>Office 佈景主題</vt:lpstr>
      <vt:lpstr>Context as Memory:  Scene-Consistent Interactive Long Video Generation  with Memory Retrieval</vt:lpstr>
      <vt:lpstr>Overview</vt:lpstr>
      <vt:lpstr>Methods</vt:lpstr>
      <vt:lpstr>Methods</vt:lpstr>
      <vt:lpstr>Training and Inferencing</vt:lpstr>
      <vt:lpstr>Dataset Collection</vt:lpstr>
      <vt:lpstr>Experiment - Comparing Models</vt:lpstr>
      <vt:lpstr>Experiment - Comparing Models</vt:lpstr>
      <vt:lpstr>Ablation Study</vt:lpstr>
      <vt:lpstr>Open Domain Scenarios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賴禹衡</dc:creator>
  <cp:lastModifiedBy>年 松</cp:lastModifiedBy>
  <cp:revision>74</cp:revision>
  <dcterms:created xsi:type="dcterms:W3CDTF">2025-10-28T03:21:12Z</dcterms:created>
  <dcterms:modified xsi:type="dcterms:W3CDTF">2025-10-28T06:54:02Z</dcterms:modified>
</cp:coreProperties>
</file>