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2" r:id="rId3"/>
    <p:sldId id="276" r:id="rId4"/>
    <p:sldId id="277" r:id="rId5"/>
    <p:sldId id="268" r:id="rId6"/>
    <p:sldId id="279" r:id="rId7"/>
    <p:sldId id="275" r:id="rId8"/>
    <p:sldId id="263" r:id="rId9"/>
    <p:sldId id="262" r:id="rId10"/>
    <p:sldId id="264" r:id="rId11"/>
    <p:sldId id="265" r:id="rId12"/>
    <p:sldId id="266" r:id="rId13"/>
    <p:sldId id="267" r:id="rId14"/>
    <p:sldId id="27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167"/>
  </p:normalViewPr>
  <p:slideViewPr>
    <p:cSldViewPr snapToGrid="0">
      <p:cViewPr>
        <p:scale>
          <a:sx n="120" d="100"/>
          <a:sy n="120" d="100"/>
        </p:scale>
        <p:origin x="584" y="7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705e15e7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705e15e7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7995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9651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16E713A-C2A8-2EDB-22CA-F3671CC1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96772767-F23C-FD4E-0A19-30712F374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6B1D94D1-FE97-B398-FF3D-B6241E58D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825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100" dirty="0"/>
              <a:t>from a memory pool (using camera pose and spatial proximity)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5049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100" dirty="0"/>
              <a:t>from a memory pool (using camera pose and spatial proximity)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7751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0436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58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196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58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5770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131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524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3.mp4"/><Relationship Id="rId7" Type="http://schemas.openxmlformats.org/officeDocument/2006/relationships/image" Target="../media/image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3.mp4"/><Relationship Id="rId7" Type="http://schemas.openxmlformats.org/officeDocument/2006/relationships/image" Target="../media/image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5.mp4"/><Relationship Id="rId7" Type="http://schemas.openxmlformats.org/officeDocument/2006/relationships/image" Target="../media/image1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video" Target="../media/media5.mp4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7.mp4"/><Relationship Id="rId7" Type="http://schemas.openxmlformats.org/officeDocument/2006/relationships/image" Target="../media/image18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7.mp4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350075"/>
            <a:ext cx="8520600" cy="20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zh-TW" sz="300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Arial"/>
                <a:cs typeface="Arial"/>
                <a:sym typeface="Arial"/>
              </a:rPr>
              <a:t>DeepVerse</a:t>
            </a:r>
            <a:r>
              <a:rPr lang="en" altLang="zh-TW" sz="3000" dirty="0">
                <a:solidFill>
                  <a:schemeClr val="accent1">
                    <a:lumMod val="50000"/>
                  </a:schemeClr>
                </a:solidFill>
                <a:latin typeface="+mj-lt"/>
                <a:ea typeface="Arial"/>
                <a:cs typeface="Arial"/>
                <a:sym typeface="Arial"/>
              </a:rPr>
              <a:t>:</a:t>
            </a:r>
            <a:r>
              <a:rPr lang="en" altLang="zh-TW" dirty="0">
                <a:latin typeface="+mj-lt"/>
              </a:rPr>
              <a:t> </a:t>
            </a:r>
            <a:r>
              <a:rPr lang="en" altLang="zh-TW" sz="3000" dirty="0">
                <a:latin typeface="+mj-lt"/>
              </a:rPr>
              <a:t>4D Autoregressive Video Generation as a World Model</a:t>
            </a:r>
            <a:endParaRPr lang="en-US" sz="3000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458800" y="2912005"/>
            <a:ext cx="42264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TW" sz="1200" dirty="0"/>
              <a:t>arxiv:2506.01103</a:t>
            </a:r>
            <a:endParaRPr lang="en-US" altLang="zh-TW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指導學長：鍾閎凱／吳彥翔</a:t>
            </a:r>
            <a:endParaRPr lang="en-US" altLang="zh-TW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報告人：電機三 賴禹衡／電機三 陳政年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Goal</a:t>
            </a:r>
          </a:p>
          <a:p>
            <a:pPr lvl="1" indent="-317500">
              <a:buSzPct val="100000"/>
            </a:pPr>
            <a:r>
              <a:rPr lang="en" altLang="zh-TW" sz="1200" dirty="0"/>
              <a:t>Build an autoregressive 4D world model that constructs spatiotemporal geometry</a:t>
            </a:r>
          </a:p>
          <a:p>
            <a:pPr lvl="1" indent="-317500">
              <a:buSzPct val="100000"/>
            </a:pPr>
            <a:r>
              <a:rPr lang="en" altLang="zh-TW" sz="1200" dirty="0"/>
              <a:t>enhance prediction accuracy</a:t>
            </a:r>
          </a:p>
          <a:p>
            <a:pPr lvl="1" indent="-317500">
              <a:buSzPct val="100000"/>
            </a:pPr>
            <a:r>
              <a:rPr lang="en" altLang="zh-TW" sz="1200" dirty="0"/>
              <a:t>reduce drifting</a:t>
            </a:r>
          </a:p>
          <a:p>
            <a:pPr lvl="1" indent="-317500">
              <a:buSzPct val="100000"/>
            </a:pPr>
            <a:r>
              <a:rPr lang="en" altLang="zh-TW" sz="1200" dirty="0"/>
              <a:t>address the forgetting issue over extended temporal horizons.</a:t>
            </a:r>
          </a:p>
          <a:p>
            <a:pPr lvl="1" indent="-317500">
              <a:buSzPct val="100000"/>
            </a:pPr>
            <a:endParaRPr lang="en-US" sz="1200" b="1" dirty="0"/>
          </a:p>
          <a:p>
            <a:pPr marL="596900" lvl="1" indent="0">
              <a:buSzPct val="100000"/>
              <a:buNone/>
            </a:pPr>
            <a:endParaRPr lang="en-US" sz="1200" b="1" dirty="0"/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altLang="zh-TW" sz="1200" b="1" dirty="0"/>
          </a:p>
        </p:txBody>
      </p:sp>
      <p:pic>
        <p:nvPicPr>
          <p:cNvPr id="6" name="圖片 5" descr="一張含有 哺乳動物, 卡通, 寫生, 藝術 的圖片&#10;&#10;AI 產生的內容可能不正確。">
            <a:extLst>
              <a:ext uri="{FF2B5EF4-FFF2-40B4-BE49-F238E27FC236}">
                <a16:creationId xmlns:a16="http://schemas.microsoft.com/office/drawing/2014/main" id="{894C5505-9B9B-13B3-8858-2B086B594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861" y="2348539"/>
            <a:ext cx="2125684" cy="1746331"/>
          </a:xfrm>
          <a:prstGeom prst="rect">
            <a:avLst/>
          </a:prstGeom>
        </p:spPr>
      </p:pic>
      <p:pic>
        <p:nvPicPr>
          <p:cNvPr id="3" name="video18">
            <a:hlinkClick r:id="" action="ppaction://media"/>
            <a:extLst>
              <a:ext uri="{FF2B5EF4-FFF2-40B4-BE49-F238E27FC236}">
                <a16:creationId xmlns:a16="http://schemas.microsoft.com/office/drawing/2014/main" id="{C77CFC83-2DDF-A96F-A3E1-210D41FB7C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72205" y="2348539"/>
            <a:ext cx="2516884" cy="18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2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Goal</a:t>
            </a:r>
          </a:p>
          <a:p>
            <a:pPr lvl="1" indent="-317500">
              <a:buSzPct val="100000"/>
            </a:pPr>
            <a:r>
              <a:rPr lang="en" altLang="zh-TW" sz="1200" dirty="0"/>
              <a:t>Build an autoregressive 4D world model that constructs spatiotemporal geometry</a:t>
            </a:r>
            <a:endParaRPr lang="en-US" sz="1200" b="1" dirty="0"/>
          </a:p>
          <a:p>
            <a:pPr marL="596900" lvl="1" indent="0">
              <a:buSzPct val="100000"/>
              <a:buNone/>
            </a:pPr>
            <a:endParaRPr lang="en-US" sz="1200" b="1" dirty="0"/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altLang="zh-TW" sz="1200" b="1" dirty="0"/>
          </a:p>
        </p:txBody>
      </p:sp>
      <p:pic>
        <p:nvPicPr>
          <p:cNvPr id="6" name="圖片 5" descr="一張含有 哺乳動物, 卡通, 寫生, 藝術 的圖片&#10;&#10;AI 產生的內容可能不正確。">
            <a:extLst>
              <a:ext uri="{FF2B5EF4-FFF2-40B4-BE49-F238E27FC236}">
                <a16:creationId xmlns:a16="http://schemas.microsoft.com/office/drawing/2014/main" id="{894C5505-9B9B-13B3-8858-2B086B594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861" y="2348539"/>
            <a:ext cx="2125684" cy="1746331"/>
          </a:xfrm>
          <a:prstGeom prst="rect">
            <a:avLst/>
          </a:prstGeom>
        </p:spPr>
      </p:pic>
      <p:pic>
        <p:nvPicPr>
          <p:cNvPr id="3" name="video18">
            <a:hlinkClick r:id="" action="ppaction://media"/>
            <a:extLst>
              <a:ext uri="{FF2B5EF4-FFF2-40B4-BE49-F238E27FC236}">
                <a16:creationId xmlns:a16="http://schemas.microsoft.com/office/drawing/2014/main" id="{C77CFC83-2DDF-A96F-A3E1-210D41FB7C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72205" y="2348539"/>
            <a:ext cx="2516884" cy="18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3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39F3C78-788F-7720-78FD-B267D878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E63A28FB-E66F-CEBE-04DB-F9F47802A8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Overview of the architecture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688D6004-03C7-808D-CC8A-746D925B1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altLang="zh-TW" sz="1400" b="1" dirty="0"/>
              <a:t>Model architecture</a:t>
            </a:r>
            <a:endParaRPr lang="en-US" altLang="zh-TW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1246259-3859-0473-2295-0AE97E01AE91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5F54C17-2408-0404-BEB1-790FCB378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483" y="1613026"/>
            <a:ext cx="4927033" cy="307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3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4D Representation</a:t>
            </a:r>
            <a:endParaRPr lang="en-US" altLang="zh-TW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1" indent="-317500">
              <a:buSzPct val="100000"/>
            </a:pPr>
            <a:r>
              <a:rPr lang="en-US" sz="1200" dirty="0"/>
              <a:t>decompose 3D coordinates into depth and viewpoint components (using Aether, ICCV 25)</a:t>
            </a:r>
          </a:p>
          <a:p>
            <a:pPr marL="596900" lvl="1" indent="0">
              <a:buSzPct val="100000"/>
              <a:buNone/>
            </a:pPr>
            <a:endParaRPr lang="en-US" sz="1400" dirty="0"/>
          </a:p>
          <a:p>
            <a:pPr lvl="0" indent="-317500">
              <a:buSzPts val="1400"/>
            </a:pPr>
            <a:r>
              <a:rPr lang="en-US" sz="1400" b="1" dirty="0"/>
              <a:t>General Control</a:t>
            </a:r>
          </a:p>
          <a:p>
            <a:pPr lvl="1" indent="-317500">
              <a:buSzPct val="100000"/>
            </a:pPr>
            <a:r>
              <a:rPr lang="en" altLang="zh-TW" sz="1200" dirty="0"/>
              <a:t>Use text as control to keep pre-trained strengths and easily map to new controllers.</a:t>
            </a:r>
          </a:p>
          <a:p>
            <a:pPr lvl="1" indent="-317500">
              <a:buSzPts val="1400"/>
            </a:pPr>
            <a:endParaRPr lang="en" altLang="zh-TW" sz="1400" dirty="0"/>
          </a:p>
          <a:p>
            <a:pPr lvl="0" indent="-317500">
              <a:buSzPts val="1400"/>
            </a:pPr>
            <a:r>
              <a:rPr lang="en-US" altLang="zh-TW" sz="1400" b="1" dirty="0"/>
              <a:t>Spatial Condition</a:t>
            </a:r>
          </a:p>
          <a:p>
            <a:pPr lvl="1" indent="-317500">
              <a:buSzPct val="100000"/>
            </a:pPr>
            <a:r>
              <a:rPr lang="en" altLang="zh-TW" sz="1200" dirty="0"/>
              <a:t>Retrieve the most spatially relevant historical state and encode it as the spatial condition for prediction.</a:t>
            </a:r>
          </a:p>
          <a:p>
            <a:pPr lvl="1" indent="-317500">
              <a:buSzPts val="1400"/>
            </a:pPr>
            <a:endParaRPr lang="en-US" altLang="zh-TW" sz="1200" b="1" dirty="0"/>
          </a:p>
          <a:p>
            <a:pPr marL="596900" lvl="1" indent="0">
              <a:buSzPts val="1400"/>
              <a:buNone/>
            </a:pPr>
            <a:endParaRPr lang="en" altLang="zh-TW" sz="1400" dirty="0"/>
          </a:p>
          <a:p>
            <a:pPr marL="596900" lvl="1" indent="0">
              <a:buSzPts val="1400"/>
              <a:buNone/>
            </a:pPr>
            <a:endParaRPr lang="en" altLang="zh-TW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EB9B41-A760-1657-FD0D-E675F7B08D6E}"/>
              </a:ext>
            </a:extLst>
          </p:cNvPr>
          <p:cNvSpPr txBox="1"/>
          <p:nvPr/>
        </p:nvSpPr>
        <p:spPr>
          <a:xfrm>
            <a:off x="2286000" y="373444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b="0" i="0" u="none" strike="noStrike" dirty="0">
                <a:solidFill>
                  <a:srgbClr val="000000"/>
                </a:solidFill>
                <a:effectLst/>
                <a:latin typeface="ui-sans-serif"/>
              </a:rPr>
              <a:t>“The character ran down the road, </a:t>
            </a:r>
          </a:p>
          <a:p>
            <a:pPr algn="ctr"/>
            <a:r>
              <a:rPr lang="en" altLang="zh-TW" b="0" i="0" u="none" strike="noStrike" dirty="0">
                <a:solidFill>
                  <a:srgbClr val="000000"/>
                </a:solidFill>
                <a:effectLst/>
                <a:latin typeface="ui-sans-serif"/>
              </a:rPr>
              <a:t>moving steadily forward.”</a:t>
            </a:r>
            <a:endParaRPr lang="zh-TW" altLang="en-US" dirty="0"/>
          </a:p>
        </p:txBody>
      </p:sp>
      <p:sp>
        <p:nvSpPr>
          <p:cNvPr id="9" name="Google Shape;72;p14">
            <a:extLst>
              <a:ext uri="{FF2B5EF4-FFF2-40B4-BE49-F238E27FC236}">
                <a16:creationId xmlns:a16="http://schemas.microsoft.com/office/drawing/2014/main" id="{92D6AEF7-A0BB-B2AE-B431-EE7BED538A1B}"/>
              </a:ext>
            </a:extLst>
          </p:cNvPr>
          <p:cNvSpPr/>
          <p:nvPr/>
        </p:nvSpPr>
        <p:spPr>
          <a:xfrm>
            <a:off x="5983812" y="3889705"/>
            <a:ext cx="278700" cy="21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video3_w">
            <a:hlinkClick r:id="" action="ppaction://media"/>
            <a:extLst>
              <a:ext uri="{FF2B5EF4-FFF2-40B4-BE49-F238E27FC236}">
                <a16:creationId xmlns:a16="http://schemas.microsoft.com/office/drawing/2014/main" id="{04AEAEB8-9A57-5AE8-14F4-2EDE0656F7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1918" y="3109612"/>
            <a:ext cx="2363852" cy="1772889"/>
          </a:xfrm>
          <a:prstGeom prst="rect">
            <a:avLst/>
          </a:prstGeom>
        </p:spPr>
      </p:pic>
      <p:pic>
        <p:nvPicPr>
          <p:cNvPr id="6" name="video4">
            <a:hlinkClick r:id="" action="ppaction://media"/>
            <a:extLst>
              <a:ext uri="{FF2B5EF4-FFF2-40B4-BE49-F238E27FC236}">
                <a16:creationId xmlns:a16="http://schemas.microsoft.com/office/drawing/2014/main" id="{8F4E7D07-92E9-FEF8-0FEB-794213C85FB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66948" y="3109611"/>
            <a:ext cx="2363852" cy="17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2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23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42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79287"/>
            <a:ext cx="5466176" cy="3984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4D Representation</a:t>
            </a:r>
            <a:endParaRPr lang="en-US" altLang="zh-TW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1" indent="-317500">
              <a:buSzPct val="100000"/>
            </a:pPr>
            <a:r>
              <a:rPr lang="en-US" sz="1200" dirty="0"/>
              <a:t>decompose 3D coordinates into depth and viewpoint components (using Aether, ICCV 25)</a:t>
            </a:r>
          </a:p>
          <a:p>
            <a:pPr marL="596900" lvl="1" indent="0">
              <a:buSzPct val="100000"/>
              <a:buNone/>
            </a:pPr>
            <a:endParaRPr lang="en-US" sz="1400" dirty="0"/>
          </a:p>
          <a:p>
            <a:pPr lvl="0" indent="-317500">
              <a:buSzPts val="1400"/>
            </a:pPr>
            <a:r>
              <a:rPr lang="en-US" sz="1400" b="1" dirty="0"/>
              <a:t>General Control</a:t>
            </a:r>
          </a:p>
          <a:p>
            <a:pPr lvl="1" indent="-317500">
              <a:buSzPct val="100000"/>
            </a:pPr>
            <a:r>
              <a:rPr lang="en" altLang="zh-TW" sz="1200" dirty="0"/>
              <a:t>Use text as control to keep pre-trained strengths and easily map to new controllers.</a:t>
            </a:r>
          </a:p>
          <a:p>
            <a:pPr lvl="1" indent="-317500">
              <a:buSzPts val="1400"/>
            </a:pPr>
            <a:endParaRPr lang="en" altLang="zh-TW" sz="1400" dirty="0"/>
          </a:p>
          <a:p>
            <a:pPr lvl="0" indent="-317500">
              <a:buSzPts val="1400"/>
            </a:pPr>
            <a:r>
              <a:rPr lang="en-US" altLang="zh-TW" sz="1400" b="1" dirty="0"/>
              <a:t>Spatial Condition</a:t>
            </a:r>
          </a:p>
          <a:p>
            <a:pPr lvl="1" indent="-317500">
              <a:buSzPct val="100000"/>
            </a:pPr>
            <a:r>
              <a:rPr lang="en" altLang="zh-TW" sz="1200" dirty="0"/>
              <a:t>Retrieve the most spatially relevant historical state and encode it as the spatial condition for prediction.</a:t>
            </a:r>
          </a:p>
          <a:p>
            <a:pPr lvl="1" indent="-317500">
              <a:buSzPts val="1400"/>
            </a:pPr>
            <a:endParaRPr lang="en-US" altLang="zh-TW" sz="1200" b="1" dirty="0"/>
          </a:p>
          <a:p>
            <a:pPr marL="596900" lvl="1" indent="0">
              <a:buSzPts val="1400"/>
              <a:buNone/>
            </a:pPr>
            <a:endParaRPr lang="en" altLang="zh-TW" sz="1400" dirty="0"/>
          </a:p>
          <a:p>
            <a:pPr marL="596900" lvl="1" indent="0">
              <a:buSzPts val="1400"/>
              <a:buNone/>
            </a:pPr>
            <a:endParaRPr lang="en" altLang="zh-TW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EB9B41-A760-1657-FD0D-E675F7B08D6E}"/>
              </a:ext>
            </a:extLst>
          </p:cNvPr>
          <p:cNvSpPr txBox="1"/>
          <p:nvPr/>
        </p:nvSpPr>
        <p:spPr>
          <a:xfrm>
            <a:off x="2286000" y="373444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b="0" i="0" u="none" strike="noStrike" dirty="0">
                <a:solidFill>
                  <a:srgbClr val="000000"/>
                </a:solidFill>
                <a:effectLst/>
                <a:latin typeface="ui-sans-serif"/>
              </a:rPr>
              <a:t>“The character ran down the road, </a:t>
            </a:r>
          </a:p>
          <a:p>
            <a:pPr algn="ctr"/>
            <a:r>
              <a:rPr lang="en" altLang="zh-TW" b="0" i="0" u="none" strike="noStrike" dirty="0">
                <a:solidFill>
                  <a:srgbClr val="000000"/>
                </a:solidFill>
                <a:effectLst/>
                <a:latin typeface="ui-sans-serif"/>
              </a:rPr>
              <a:t>moving steadily forward.”</a:t>
            </a:r>
            <a:endParaRPr lang="zh-TW" altLang="en-US" dirty="0"/>
          </a:p>
        </p:txBody>
      </p:sp>
      <p:sp>
        <p:nvSpPr>
          <p:cNvPr id="9" name="Google Shape;72;p14">
            <a:extLst>
              <a:ext uri="{FF2B5EF4-FFF2-40B4-BE49-F238E27FC236}">
                <a16:creationId xmlns:a16="http://schemas.microsoft.com/office/drawing/2014/main" id="{92D6AEF7-A0BB-B2AE-B431-EE7BED538A1B}"/>
              </a:ext>
            </a:extLst>
          </p:cNvPr>
          <p:cNvSpPr/>
          <p:nvPr/>
        </p:nvSpPr>
        <p:spPr>
          <a:xfrm>
            <a:off x="5983812" y="3889705"/>
            <a:ext cx="278700" cy="21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video3_w">
            <a:hlinkClick r:id="" action="ppaction://media"/>
            <a:extLst>
              <a:ext uri="{FF2B5EF4-FFF2-40B4-BE49-F238E27FC236}">
                <a16:creationId xmlns:a16="http://schemas.microsoft.com/office/drawing/2014/main" id="{04AEAEB8-9A57-5AE8-14F4-2EDE0656F7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3201" y="3215960"/>
            <a:ext cx="2363852" cy="1772889"/>
          </a:xfrm>
          <a:prstGeom prst="rect">
            <a:avLst/>
          </a:prstGeom>
        </p:spPr>
      </p:pic>
      <p:pic>
        <p:nvPicPr>
          <p:cNvPr id="6" name="video4">
            <a:hlinkClick r:id="" action="ppaction://media"/>
            <a:extLst>
              <a:ext uri="{FF2B5EF4-FFF2-40B4-BE49-F238E27FC236}">
                <a16:creationId xmlns:a16="http://schemas.microsoft.com/office/drawing/2014/main" id="{8F4E7D07-92E9-FEF8-0FEB-794213C85FB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66948" y="3109611"/>
            <a:ext cx="2363852" cy="177288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A4E098E-4363-17EA-54A5-7869F8876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0053" y="261000"/>
            <a:ext cx="3533947" cy="220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1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23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42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Dataset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Construction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260" y="923875"/>
            <a:ext cx="8520600" cy="40326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" altLang="zh-TW" sz="1400" b="1" dirty="0"/>
              <a:t>Collection &amp; Synthesis</a:t>
            </a:r>
          </a:p>
          <a:p>
            <a:pPr lvl="1">
              <a:buSzPct val="100000"/>
            </a:pPr>
            <a:r>
              <a:rPr lang="en" altLang="zh-TW" sz="1200" dirty="0"/>
              <a:t>10M gameplay frames</a:t>
            </a:r>
          </a:p>
          <a:p>
            <a:pPr lvl="1">
              <a:buSzPct val="100000"/>
            </a:pPr>
            <a:r>
              <a:rPr lang="en" altLang="zh-TW" sz="1200" dirty="0"/>
              <a:t> synthetic data with camera parameters, depth maps </a:t>
            </a:r>
            <a:r>
              <a:rPr lang="en-US" altLang="zh-TW" sz="1200" dirty="0"/>
              <a:t>(using Aether, ICCV 25)</a:t>
            </a:r>
            <a:endParaRPr lang="en" altLang="zh-TW" sz="1200" dirty="0"/>
          </a:p>
          <a:p>
            <a:pPr marL="622300" lvl="1" indent="0">
              <a:buNone/>
            </a:pPr>
            <a:endParaRPr lang="en" altLang="zh-TW" sz="1200" b="1" dirty="0"/>
          </a:p>
          <a:p>
            <a:pPr>
              <a:buSzPct val="100000"/>
            </a:pPr>
            <a:r>
              <a:rPr lang="en" altLang="zh-TW" sz="1400" b="1" dirty="0"/>
              <a:t>Filtering</a:t>
            </a:r>
            <a:endParaRPr lang="en" altLang="zh-TW" sz="1400" dirty="0"/>
          </a:p>
          <a:p>
            <a:pPr lvl="1">
              <a:buSzPct val="100000"/>
            </a:pPr>
            <a:r>
              <a:rPr lang="en" altLang="zh-TW" sz="1200" dirty="0"/>
              <a:t> Remove clips with excessive rotation/rapid transitions or minimal movement</a:t>
            </a:r>
          </a:p>
          <a:p>
            <a:pPr lvl="1"/>
            <a:endParaRPr lang="en" altLang="zh-TW" sz="1200" b="1" dirty="0"/>
          </a:p>
          <a:p>
            <a:pPr>
              <a:buSzPct val="100000"/>
            </a:pPr>
            <a:r>
              <a:rPr lang="en" altLang="zh-TW" sz="1400" b="1" dirty="0"/>
              <a:t>Annotation</a:t>
            </a:r>
          </a:p>
          <a:p>
            <a:pPr lvl="1">
              <a:buSzPct val="100000"/>
            </a:pPr>
            <a:r>
              <a:rPr lang="en" altLang="zh-TW" sz="1200" dirty="0"/>
              <a:t>construct textual</a:t>
            </a:r>
            <a:r>
              <a:rPr lang="zh-TW" altLang="en-US" sz="1200" dirty="0"/>
              <a:t> </a:t>
            </a:r>
            <a:r>
              <a:rPr lang="en" altLang="zh-TW" sz="1200" dirty="0"/>
              <a:t>descriptions directly from camera movements/rotations</a:t>
            </a:r>
          </a:p>
          <a:p>
            <a:pPr lvl="1">
              <a:buSzPct val="100000"/>
            </a:pPr>
            <a:r>
              <a:rPr lang="en" altLang="zh-TW" sz="1200" dirty="0"/>
              <a:t>Qwen-VL generates first-person descriptions for viewpoint transitions or third-person narratives for character actions and movements</a:t>
            </a:r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b="1" dirty="0"/>
          </a:p>
          <a:p>
            <a:pPr marL="622300" lvl="1" indent="0">
              <a:buNone/>
            </a:pPr>
            <a:endParaRPr lang="en" altLang="zh-TW" sz="1200" dirty="0"/>
          </a:p>
          <a:p>
            <a:pPr lvl="1"/>
            <a:endParaRPr lang="en" altLang="zh-TW" sz="1200" dirty="0"/>
          </a:p>
          <a:p>
            <a:endParaRPr kumimoji="1" lang="zh-TW" altLang="en-US" dirty="0"/>
          </a:p>
        </p:txBody>
      </p:sp>
      <p:pic>
        <p:nvPicPr>
          <p:cNvPr id="6" name="圖片 5" descr="一張含有 文字, 螢幕擷取畫面, 平面設計, 圖形 的圖片&#10;&#10;AI 產生的內容可能不正確。">
            <a:extLst>
              <a:ext uri="{FF2B5EF4-FFF2-40B4-BE49-F238E27FC236}">
                <a16:creationId xmlns:a16="http://schemas.microsoft.com/office/drawing/2014/main" id="{8ACD9766-94E1-D15D-38A1-6FFD3037A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131" y="3389842"/>
            <a:ext cx="2616742" cy="165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0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Experiment – Architecture revisit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altLang="zh-TW" sz="1400" b="1" dirty="0"/>
              <a:t>Final model architecture</a:t>
            </a:r>
            <a:endParaRPr lang="en-US" altLang="zh-TW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A8DE3A-1B8F-4C70-93F6-CD0187A19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69" y="1613026"/>
            <a:ext cx="4927033" cy="3070801"/>
          </a:xfrm>
          <a:prstGeom prst="rect">
            <a:avLst/>
          </a:prstGeom>
        </p:spPr>
      </p:pic>
      <p:pic>
        <p:nvPicPr>
          <p:cNvPr id="12" name="圖形 11" descr="禁止標誌 以實心填滿">
            <a:extLst>
              <a:ext uri="{FF2B5EF4-FFF2-40B4-BE49-F238E27FC236}">
                <a16:creationId xmlns:a16="http://schemas.microsoft.com/office/drawing/2014/main" id="{B8EF18CF-30F0-4153-97D6-9DB60FC94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5243" y="1884264"/>
            <a:ext cx="233570" cy="233570"/>
          </a:xfrm>
          <a:prstGeom prst="rect">
            <a:avLst/>
          </a:prstGeom>
        </p:spPr>
      </p:pic>
      <p:pic>
        <p:nvPicPr>
          <p:cNvPr id="15" name="圖形 14" descr="禁止標誌 以實心填滿">
            <a:extLst>
              <a:ext uri="{FF2B5EF4-FFF2-40B4-BE49-F238E27FC236}">
                <a16:creationId xmlns:a16="http://schemas.microsoft.com/office/drawing/2014/main" id="{3E1C9C73-102A-4609-8734-87A4B22A6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3749" y="2211107"/>
            <a:ext cx="233570" cy="233570"/>
          </a:xfrm>
          <a:prstGeom prst="rect">
            <a:avLst/>
          </a:prstGeom>
        </p:spPr>
      </p:pic>
      <p:pic>
        <p:nvPicPr>
          <p:cNvPr id="16" name="圖形 15" descr="禁止標誌 以實心填滿">
            <a:extLst>
              <a:ext uri="{FF2B5EF4-FFF2-40B4-BE49-F238E27FC236}">
                <a16:creationId xmlns:a16="http://schemas.microsoft.com/office/drawing/2014/main" id="{7FF7A6CD-608C-4E8F-926E-90E44AFBA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9117" y="4352481"/>
            <a:ext cx="233570" cy="233570"/>
          </a:xfrm>
          <a:prstGeom prst="rect">
            <a:avLst/>
          </a:prstGeom>
        </p:spPr>
      </p:pic>
      <p:pic>
        <p:nvPicPr>
          <p:cNvPr id="17" name="圖形 16" descr="禁止標誌 以實心填滿">
            <a:extLst>
              <a:ext uri="{FF2B5EF4-FFF2-40B4-BE49-F238E27FC236}">
                <a16:creationId xmlns:a16="http://schemas.microsoft.com/office/drawing/2014/main" id="{B5505BFF-9911-42A7-89F2-C23578DEE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8232" y="3966637"/>
            <a:ext cx="233570" cy="233570"/>
          </a:xfrm>
          <a:prstGeom prst="rect">
            <a:avLst/>
          </a:prstGeom>
        </p:spPr>
      </p:pic>
      <p:pic>
        <p:nvPicPr>
          <p:cNvPr id="18" name="圖形 17" descr="禁止標誌 以實心填滿">
            <a:extLst>
              <a:ext uri="{FF2B5EF4-FFF2-40B4-BE49-F238E27FC236}">
                <a16:creationId xmlns:a16="http://schemas.microsoft.com/office/drawing/2014/main" id="{495E9B53-8DD9-4065-97AE-A533A8EA9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9443" y="3966637"/>
            <a:ext cx="233570" cy="233570"/>
          </a:xfrm>
          <a:prstGeom prst="rect">
            <a:avLst/>
          </a:prstGeom>
        </p:spPr>
      </p:pic>
      <p:pic>
        <p:nvPicPr>
          <p:cNvPr id="23" name="圖形 22" descr="核取記號 以實心填滿">
            <a:extLst>
              <a:ext uri="{FF2B5EF4-FFF2-40B4-BE49-F238E27FC236}">
                <a16:creationId xmlns:a16="http://schemas.microsoft.com/office/drawing/2014/main" id="{F0F40524-4027-4798-A509-F1619AD0F9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15242" y="4352481"/>
            <a:ext cx="233571" cy="233571"/>
          </a:xfrm>
          <a:prstGeom prst="rect">
            <a:avLst/>
          </a:prstGeom>
        </p:spPr>
      </p:pic>
      <p:pic>
        <p:nvPicPr>
          <p:cNvPr id="26" name="圖形 25" descr="核取記號 以實心填滿">
            <a:extLst>
              <a:ext uri="{FF2B5EF4-FFF2-40B4-BE49-F238E27FC236}">
                <a16:creationId xmlns:a16="http://schemas.microsoft.com/office/drawing/2014/main" id="{390E442E-3C87-4153-9A23-2042FF6239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2777" y="4352481"/>
            <a:ext cx="233571" cy="233571"/>
          </a:xfrm>
          <a:prstGeom prst="rect">
            <a:avLst/>
          </a:prstGeom>
        </p:spPr>
      </p:pic>
      <p:pic>
        <p:nvPicPr>
          <p:cNvPr id="27" name="圖形 26" descr="核取記號 以實心填滿">
            <a:extLst>
              <a:ext uri="{FF2B5EF4-FFF2-40B4-BE49-F238E27FC236}">
                <a16:creationId xmlns:a16="http://schemas.microsoft.com/office/drawing/2014/main" id="{DB85CADA-C2D1-42A9-8F47-46F0AA0F8A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25017" y="4352480"/>
            <a:ext cx="233571" cy="233571"/>
          </a:xfrm>
          <a:prstGeom prst="rect">
            <a:avLst/>
          </a:prstGeom>
        </p:spPr>
      </p:pic>
      <p:pic>
        <p:nvPicPr>
          <p:cNvPr id="28" name="圖形 27" descr="核取記號 以實心填滿">
            <a:extLst>
              <a:ext uri="{FF2B5EF4-FFF2-40B4-BE49-F238E27FC236}">
                <a16:creationId xmlns:a16="http://schemas.microsoft.com/office/drawing/2014/main" id="{78587E7F-82A0-4CD8-A54A-CD22F3E01C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0242" y="4352480"/>
            <a:ext cx="233571" cy="233571"/>
          </a:xfrm>
          <a:prstGeom prst="rect">
            <a:avLst/>
          </a:prstGeom>
        </p:spPr>
      </p:pic>
      <p:pic>
        <p:nvPicPr>
          <p:cNvPr id="29" name="圖形 28" descr="核取記號 以實心填滿">
            <a:extLst>
              <a:ext uri="{FF2B5EF4-FFF2-40B4-BE49-F238E27FC236}">
                <a16:creationId xmlns:a16="http://schemas.microsoft.com/office/drawing/2014/main" id="{D0D1EA67-F376-45E8-8B99-E9189413A9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4918" y="2744542"/>
            <a:ext cx="233571" cy="233571"/>
          </a:xfrm>
          <a:prstGeom prst="rect">
            <a:avLst/>
          </a:prstGeom>
        </p:spPr>
      </p:pic>
      <p:pic>
        <p:nvPicPr>
          <p:cNvPr id="30" name="圖形 29" descr="禁止標誌 以實心填滿">
            <a:extLst>
              <a:ext uri="{FF2B5EF4-FFF2-40B4-BE49-F238E27FC236}">
                <a16:creationId xmlns:a16="http://schemas.microsoft.com/office/drawing/2014/main" id="{5494EF11-22C9-4B17-A4CF-66B68F9D7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4919" y="3185424"/>
            <a:ext cx="233570" cy="23357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91425381-FFDF-40C0-9AAA-52882000D156}"/>
              </a:ext>
            </a:extLst>
          </p:cNvPr>
          <p:cNvSpPr txBox="1"/>
          <p:nvPr/>
        </p:nvSpPr>
        <p:spPr>
          <a:xfrm>
            <a:off x="6514771" y="2698558"/>
            <a:ext cx="841897" cy="325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970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altLang="zh-TW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lang="zh-TW" altLang="en-US" b="1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828F5E9-C05C-42D2-AADF-F51CAECACE06}"/>
              </a:ext>
            </a:extLst>
          </p:cNvPr>
          <p:cNvSpPr txBox="1"/>
          <p:nvPr/>
        </p:nvSpPr>
        <p:spPr>
          <a:xfrm>
            <a:off x="6514769" y="3139440"/>
            <a:ext cx="2321115" cy="325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70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altLang="zh-TW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Stays the same as original</a:t>
            </a:r>
            <a:endParaRPr lang="zh-TW" altLang="en-US" b="1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088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Experiment – two model architecture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Model 1</a:t>
            </a:r>
          </a:p>
          <a:p>
            <a:pPr lvl="1" indent="-317500">
              <a:buSzPct val="100000"/>
            </a:pPr>
            <a:r>
              <a:rPr lang="en-US" altLang="zh-TW" sz="1200" dirty="0" err="1">
                <a:solidFill>
                  <a:schemeClr val="accent1">
                    <a:lumMod val="50000"/>
                  </a:schemeClr>
                </a:solidFill>
              </a:rPr>
              <a:t>Concat</a:t>
            </a:r>
            <a:r>
              <a:rPr lang="en-US" altLang="zh-TW" sz="1200" dirty="0"/>
              <a:t> current latent with history latent -&gt; </a:t>
            </a:r>
            <a:r>
              <a:rPr lang="en-US" altLang="zh-TW" sz="1200" dirty="0" err="1">
                <a:solidFill>
                  <a:schemeClr val="accent1">
                    <a:lumMod val="50000"/>
                  </a:schemeClr>
                </a:solidFill>
              </a:rPr>
              <a:t>Patchify</a:t>
            </a: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the whole temporal sequence </a:t>
            </a:r>
            <a:r>
              <a:rPr lang="en-US" altLang="zh-TW" sz="1200" dirty="0"/>
              <a:t>-&gt; </a:t>
            </a:r>
            <a:r>
              <a:rPr lang="en-US" altLang="zh-TW" sz="1200" dirty="0">
                <a:solidFill>
                  <a:schemeClr val="tx1"/>
                </a:solidFill>
              </a:rPr>
              <a:t>Input token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Less input tokens, each with </a:t>
            </a: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coarse-grained</a:t>
            </a:r>
            <a:r>
              <a:rPr lang="en-US" altLang="zh-TW" sz="1200" dirty="0">
                <a:solidFill>
                  <a:schemeClr val="tx1"/>
                </a:solidFill>
              </a:rPr>
              <a:t> temporal feature</a:t>
            </a:r>
          </a:p>
          <a:p>
            <a:pPr marL="596900" lvl="1" indent="0">
              <a:buSzPct val="100000"/>
              <a:buNone/>
            </a:pPr>
            <a:endParaRPr lang="en-US" altLang="zh-TW" sz="1200" dirty="0"/>
          </a:p>
          <a:p>
            <a:pPr indent="-317500">
              <a:buSzPts val="1400"/>
            </a:pPr>
            <a:r>
              <a:rPr lang="en-US" altLang="zh-TW" sz="1400" b="1" dirty="0"/>
              <a:t>Model 2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3D VAE </a:t>
            </a:r>
            <a:r>
              <a:rPr lang="en-US" altLang="zh-TW" sz="1200" dirty="0">
                <a:solidFill>
                  <a:schemeClr val="tx1"/>
                </a:solidFill>
              </a:rPr>
              <a:t>to compress temporal feature </a:t>
            </a:r>
            <a:r>
              <a:rPr lang="en-US" altLang="zh-TW" sz="1200" dirty="0"/>
              <a:t>-&gt;</a:t>
            </a:r>
            <a:r>
              <a:rPr lang="en-US" altLang="zh-TW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 err="1">
                <a:solidFill>
                  <a:schemeClr val="accent1">
                    <a:lumMod val="50000"/>
                  </a:schemeClr>
                </a:solidFill>
              </a:rPr>
              <a:t>Patchify</a:t>
            </a:r>
            <a:r>
              <a:rPr lang="en-US" altLang="zh-TW" sz="1200" dirty="0"/>
              <a:t> each output independently from temporal sequence -&gt; Input token</a:t>
            </a:r>
          </a:p>
          <a:p>
            <a:pPr lvl="1" indent="-317500">
              <a:buSzPct val="100000"/>
            </a:pPr>
            <a:r>
              <a:rPr lang="en-US" altLang="zh-TW" sz="1200" dirty="0"/>
              <a:t>More input tokens, each with </a:t>
            </a:r>
            <a:r>
              <a:rPr lang="en-US" altLang="zh-TW" sz="1200" dirty="0">
                <a:solidFill>
                  <a:schemeClr val="accent1">
                    <a:lumMod val="50000"/>
                  </a:schemeClr>
                </a:solidFill>
              </a:rPr>
              <a:t>fine-grained</a:t>
            </a:r>
            <a:r>
              <a:rPr lang="en-US" altLang="zh-TW" sz="1200" dirty="0"/>
              <a:t> temporal feature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DF0A3D8-295F-456F-B31D-A4586958E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283" y="2700782"/>
            <a:ext cx="3391544" cy="222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0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Experiment – comparing two models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 err="1"/>
              <a:t>VBench</a:t>
            </a:r>
            <a:r>
              <a:rPr lang="en-US" altLang="zh-TW" sz="1400" b="1" dirty="0"/>
              <a:t> results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Token-wise model (model 2) outperforms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Channel-wise model (model 1) exacerbates error accumulation, particularly under extended scenarios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A75BB4D-3681-4B99-93B9-BE4343E0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17834"/>
            <a:ext cx="3531973" cy="273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3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Experiment – ablation on depth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FVD, </a:t>
            </a:r>
            <a:r>
              <a:rPr lang="en-US" altLang="zh-TW" sz="1400" b="1" dirty="0" err="1"/>
              <a:t>Vbench</a:t>
            </a:r>
            <a:r>
              <a:rPr lang="en-US" altLang="zh-TW" sz="1400" b="1" dirty="0"/>
              <a:t>, and visual results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Model with depth outperforms, alleviating the drift phenomenon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5" name="video1_w">
            <a:hlinkClick r:id="" action="ppaction://media"/>
            <a:extLst>
              <a:ext uri="{FF2B5EF4-FFF2-40B4-BE49-F238E27FC236}">
                <a16:creationId xmlns:a16="http://schemas.microsoft.com/office/drawing/2014/main" id="{676D9FDD-C096-44CE-B6F4-BA40CBE7B8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33971" y="3045540"/>
            <a:ext cx="2508713" cy="1881535"/>
          </a:xfrm>
          <a:prstGeom prst="rect">
            <a:avLst/>
          </a:prstGeom>
        </p:spPr>
      </p:pic>
      <p:pic>
        <p:nvPicPr>
          <p:cNvPr id="6" name="video1_wo">
            <a:hlinkClick r:id="" action="ppaction://media"/>
            <a:extLst>
              <a:ext uri="{FF2B5EF4-FFF2-40B4-BE49-F238E27FC236}">
                <a16:creationId xmlns:a16="http://schemas.microsoft.com/office/drawing/2014/main" id="{796A49C9-6317-4AF3-8AAB-04C265D7B04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322085" y="3045540"/>
            <a:ext cx="2508714" cy="188153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BE820FF-B659-479A-B23A-654AE0E90DDF}"/>
              </a:ext>
            </a:extLst>
          </p:cNvPr>
          <p:cNvSpPr txBox="1"/>
          <p:nvPr/>
        </p:nvSpPr>
        <p:spPr>
          <a:xfrm>
            <a:off x="3433970" y="27377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17500">
              <a:buSzPct val="100000"/>
            </a:pPr>
            <a:r>
              <a:rPr lang="en-US" altLang="zh-TW" sz="1400" dirty="0">
                <a:solidFill>
                  <a:schemeClr val="tx1"/>
                </a:solidFill>
              </a:rPr>
              <a:t>With depth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568254-87AE-4313-BC01-03647E790F52}"/>
              </a:ext>
            </a:extLst>
          </p:cNvPr>
          <p:cNvSpPr txBox="1"/>
          <p:nvPr/>
        </p:nvSpPr>
        <p:spPr>
          <a:xfrm>
            <a:off x="6322085" y="27377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17500">
              <a:buSzPct val="100000"/>
            </a:pPr>
            <a:r>
              <a:rPr lang="en-US" altLang="zh-TW" sz="1400" dirty="0">
                <a:solidFill>
                  <a:schemeClr val="tx1"/>
                </a:solidFill>
              </a:rPr>
              <a:t>Without depth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5A56E5D-F096-4B92-B1AF-69BC50B58DF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480"/>
          <a:stretch/>
        </p:blipFill>
        <p:spPr>
          <a:xfrm>
            <a:off x="1272209" y="1500809"/>
            <a:ext cx="5890973" cy="107094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FF04F5E-65A9-48F1-BB06-97E29088BA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018" y="2943712"/>
            <a:ext cx="2508714" cy="190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2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Experiment – ablation on spatial conditioning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Visual results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Model with spatial conditioning outperforms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44B3A76-4ED1-4F87-97CC-A153C03B4B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26"/>
          <a:stretch/>
        </p:blipFill>
        <p:spPr>
          <a:xfrm>
            <a:off x="1821649" y="2010212"/>
            <a:ext cx="3288390" cy="233322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4181B83-C337-4831-AD05-9A461F79F9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772"/>
          <a:stretch/>
        </p:blipFill>
        <p:spPr>
          <a:xfrm>
            <a:off x="5454209" y="1545022"/>
            <a:ext cx="3284290" cy="160080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BFA1729-3618-420B-B34D-8CA76A2FE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34" r="37692"/>
          <a:stretch/>
        </p:blipFill>
        <p:spPr>
          <a:xfrm>
            <a:off x="5454274" y="3176823"/>
            <a:ext cx="3284417" cy="162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2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Conclusion</a:t>
            </a: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Contributions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4D world modeling (Depth, </a:t>
            </a:r>
            <a:r>
              <a:rPr lang="en-US" altLang="zh-TW" sz="1200" dirty="0" err="1">
                <a:solidFill>
                  <a:schemeClr val="tx1"/>
                </a:solidFill>
              </a:rPr>
              <a:t>Raymap</a:t>
            </a:r>
            <a:r>
              <a:rPr lang="en-US" altLang="zh-TW" sz="1200" dirty="0">
                <a:solidFill>
                  <a:schemeClr val="tx1"/>
                </a:solidFill>
              </a:rPr>
              <a:t> as state input)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Geometry retrieval mechanism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Token-wise concatenation model</a:t>
            </a:r>
          </a:p>
          <a:p>
            <a:pPr lvl="1" indent="-317500">
              <a:buSzPct val="100000"/>
            </a:pPr>
            <a:endParaRPr lang="en-US" altLang="zh-TW" sz="1200" dirty="0">
              <a:solidFill>
                <a:schemeClr val="tx1"/>
              </a:solidFill>
            </a:endParaRPr>
          </a:p>
          <a:p>
            <a:pPr indent="-317500">
              <a:buSzPts val="1400"/>
            </a:pPr>
            <a:r>
              <a:rPr lang="en-US" altLang="zh-TW" sz="1400" b="1" dirty="0"/>
              <a:t>Limitation</a:t>
            </a:r>
          </a:p>
          <a:p>
            <a:pPr lvl="1" indent="-317500">
              <a:buSzPct val="100000"/>
            </a:pPr>
            <a:r>
              <a:rPr lang="en-US" altLang="zh-TW" sz="1200" dirty="0">
                <a:solidFill>
                  <a:schemeClr val="tx1"/>
                </a:solidFill>
              </a:rPr>
              <a:t>Trained on synthetic data, </a:t>
            </a:r>
            <a:br>
              <a:rPr lang="en-US" altLang="zh-TW" sz="1200" dirty="0">
                <a:solidFill>
                  <a:schemeClr val="tx1"/>
                </a:solidFill>
              </a:rPr>
            </a:br>
            <a:r>
              <a:rPr lang="en-US" altLang="zh-TW" sz="1200" dirty="0">
                <a:solidFill>
                  <a:schemeClr val="tx1"/>
                </a:solidFill>
              </a:rPr>
              <a:t>generalization capability to real-world scenarios remains limited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4" name="video15">
            <a:hlinkClick r:id="" action="ppaction://media"/>
            <a:extLst>
              <a:ext uri="{FF2B5EF4-FFF2-40B4-BE49-F238E27FC236}">
                <a16:creationId xmlns:a16="http://schemas.microsoft.com/office/drawing/2014/main" id="{B5E681EA-D8F2-4265-8853-A43639E036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8040" y="297229"/>
            <a:ext cx="3032695" cy="2274522"/>
          </a:xfrm>
          <a:prstGeom prst="rect">
            <a:avLst/>
          </a:prstGeom>
        </p:spPr>
      </p:pic>
      <p:pic>
        <p:nvPicPr>
          <p:cNvPr id="8" name="video2">
            <a:hlinkClick r:id="" action="ppaction://media"/>
            <a:extLst>
              <a:ext uri="{FF2B5EF4-FFF2-40B4-BE49-F238E27FC236}">
                <a16:creationId xmlns:a16="http://schemas.microsoft.com/office/drawing/2014/main" id="{C3BF875A-6249-4000-8136-AA94B0F122A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98040" y="2681904"/>
            <a:ext cx="3032760" cy="227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5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91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BAC5B2-1FF4-4694-99EF-B1BF67C2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Appendix – MM-</a:t>
            </a:r>
            <a:r>
              <a:rPr lang="en-US" altLang="zh-TW" dirty="0" err="1"/>
              <a:t>DiT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25ED036-DD82-450E-812E-D878FE79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69" y="789125"/>
            <a:ext cx="6062123" cy="3994962"/>
          </a:xfrm>
          <a:prstGeom prst="rect">
            <a:avLst/>
          </a:prstGeom>
        </p:spPr>
      </p:pic>
      <p:sp>
        <p:nvSpPr>
          <p:cNvPr id="11" name="Google Shape;82;p15">
            <a:extLst>
              <a:ext uri="{FF2B5EF4-FFF2-40B4-BE49-F238E27FC236}">
                <a16:creationId xmlns:a16="http://schemas.microsoft.com/office/drawing/2014/main" id="{5E9D0F36-3F7D-48F9-BC70-9602BB87B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altLang="zh-TW" sz="1400" b="1" dirty="0"/>
              <a:t>Model architecture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20038882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480</Words>
  <Application>Microsoft Macintosh PowerPoint</Application>
  <PresentationFormat>如螢幕大小 (16:9)</PresentationFormat>
  <Paragraphs>99</Paragraphs>
  <Slides>14</Slides>
  <Notes>13</Notes>
  <HiddenSlides>3</HiddenSlides>
  <MMClips>10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ui-sans-serif</vt:lpstr>
      <vt:lpstr>Arial</vt:lpstr>
      <vt:lpstr>Calibri</vt:lpstr>
      <vt:lpstr>Simple Light</vt:lpstr>
      <vt:lpstr>DeepVerse: 4D Autoregressive Video Generation as a World Model</vt:lpstr>
      <vt:lpstr>Overview</vt:lpstr>
      <vt:lpstr>Overview</vt:lpstr>
      <vt:lpstr>Overview of the architecture </vt:lpstr>
      <vt:lpstr>Method</vt:lpstr>
      <vt:lpstr>Method</vt:lpstr>
      <vt:lpstr>Dataset Construction</vt:lpstr>
      <vt:lpstr>Experiment – Architecture revisit </vt:lpstr>
      <vt:lpstr>Experiment – two model architecture </vt:lpstr>
      <vt:lpstr>Experiment – comparing two models </vt:lpstr>
      <vt:lpstr>Experiment – ablation on depth </vt:lpstr>
      <vt:lpstr>Experiment – ablation on spatial conditioning </vt:lpstr>
      <vt:lpstr>Conclusion</vt:lpstr>
      <vt:lpstr>Appendix – MM-DiT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Vid2World: Crafting Video Diffusion Models to Interactive World Models</dc:title>
  <cp:lastModifiedBy>賴禹衡</cp:lastModifiedBy>
  <cp:revision>114</cp:revision>
  <dcterms:modified xsi:type="dcterms:W3CDTF">2025-10-07T06:16:00Z</dcterms:modified>
</cp:coreProperties>
</file>