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59" r:id="rId1"/>
  </p:sldMasterIdLst>
  <p:notesMasterIdLst>
    <p:notesMasterId r:id="rId13"/>
  </p:notesMasterIdLst>
  <p:sldIdLst>
    <p:sldId id="256" r:id="rId2"/>
    <p:sldId id="272" r:id="rId3"/>
    <p:sldId id="268" r:id="rId4"/>
    <p:sldId id="274" r:id="rId5"/>
    <p:sldId id="275" r:id="rId6"/>
    <p:sldId id="263" r:id="rId7"/>
    <p:sldId id="262" r:id="rId8"/>
    <p:sldId id="264" r:id="rId9"/>
    <p:sldId id="265" r:id="rId10"/>
    <p:sldId id="266" r:id="rId11"/>
    <p:sldId id="267" r:id="rId12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8760"/>
    <p:restoredTop sz="94130"/>
  </p:normalViewPr>
  <p:slideViewPr>
    <p:cSldViewPr snapToGrid="0">
      <p:cViewPr>
        <p:scale>
          <a:sx n="110" d="100"/>
          <a:sy n="110" d="100"/>
        </p:scale>
        <p:origin x="144" y="88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22705e15e71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22705e15e71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5799503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" altLang="zh-TW" sz="1100" dirty="0"/>
              <a:t>from a memory pool (using camera pose and spatial proximity)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7504924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954703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0043619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>
          <a:extLst>
            <a:ext uri="{FF2B5EF4-FFF2-40B4-BE49-F238E27FC236}">
              <a16:creationId xmlns:a16="http://schemas.microsoft.com/office/drawing/2014/main" id="{62DD33F3-34BF-EDA4-FA32-97731BDDF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7a6ff87535_0_0:notes">
            <a:extLst>
              <a:ext uri="{FF2B5EF4-FFF2-40B4-BE49-F238E27FC236}">
                <a16:creationId xmlns:a16="http://schemas.microsoft.com/office/drawing/2014/main" id="{480F0A80-1D4C-78D0-E974-3F904B8DC73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7a6ff87535_0_0:notes">
            <a:extLst>
              <a:ext uri="{FF2B5EF4-FFF2-40B4-BE49-F238E27FC236}">
                <a16:creationId xmlns:a16="http://schemas.microsoft.com/office/drawing/2014/main" id="{8FFE953A-74F0-F009-AC5D-7D69749389B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035848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>
          <a:extLst>
            <a:ext uri="{FF2B5EF4-FFF2-40B4-BE49-F238E27FC236}">
              <a16:creationId xmlns:a16="http://schemas.microsoft.com/office/drawing/2014/main" id="{62DD33F3-34BF-EDA4-FA32-97731BDDF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7a6ff87535_0_0:notes">
            <a:extLst>
              <a:ext uri="{FF2B5EF4-FFF2-40B4-BE49-F238E27FC236}">
                <a16:creationId xmlns:a16="http://schemas.microsoft.com/office/drawing/2014/main" id="{480F0A80-1D4C-78D0-E974-3F904B8DC73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7a6ff87535_0_0:notes">
            <a:extLst>
              <a:ext uri="{FF2B5EF4-FFF2-40B4-BE49-F238E27FC236}">
                <a16:creationId xmlns:a16="http://schemas.microsoft.com/office/drawing/2014/main" id="{8FFE953A-74F0-F009-AC5D-7D69749389B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3719674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>
          <a:extLst>
            <a:ext uri="{FF2B5EF4-FFF2-40B4-BE49-F238E27FC236}">
              <a16:creationId xmlns:a16="http://schemas.microsoft.com/office/drawing/2014/main" id="{62DD33F3-34BF-EDA4-FA32-97731BDDF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7a6ff87535_0_0:notes">
            <a:extLst>
              <a:ext uri="{FF2B5EF4-FFF2-40B4-BE49-F238E27FC236}">
                <a16:creationId xmlns:a16="http://schemas.microsoft.com/office/drawing/2014/main" id="{480F0A80-1D4C-78D0-E974-3F904B8DC73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7a6ff87535_0_0:notes">
            <a:extLst>
              <a:ext uri="{FF2B5EF4-FFF2-40B4-BE49-F238E27FC236}">
                <a16:creationId xmlns:a16="http://schemas.microsoft.com/office/drawing/2014/main" id="{8FFE953A-74F0-F009-AC5D-7D69749389B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275834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>
          <a:extLst>
            <a:ext uri="{FF2B5EF4-FFF2-40B4-BE49-F238E27FC236}">
              <a16:creationId xmlns:a16="http://schemas.microsoft.com/office/drawing/2014/main" id="{62DD33F3-34BF-EDA4-FA32-97731BDDF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7a6ff87535_0_0:notes">
            <a:extLst>
              <a:ext uri="{FF2B5EF4-FFF2-40B4-BE49-F238E27FC236}">
                <a16:creationId xmlns:a16="http://schemas.microsoft.com/office/drawing/2014/main" id="{480F0A80-1D4C-78D0-E974-3F904B8DC73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7a6ff87535_0_0:notes">
            <a:extLst>
              <a:ext uri="{FF2B5EF4-FFF2-40B4-BE49-F238E27FC236}">
                <a16:creationId xmlns:a16="http://schemas.microsoft.com/office/drawing/2014/main" id="{8FFE953A-74F0-F009-AC5D-7D69749389B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4577041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>
          <a:extLst>
            <a:ext uri="{FF2B5EF4-FFF2-40B4-BE49-F238E27FC236}">
              <a16:creationId xmlns:a16="http://schemas.microsoft.com/office/drawing/2014/main" id="{62DD33F3-34BF-EDA4-FA32-97731BDDF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7a6ff87535_0_0:notes">
            <a:extLst>
              <a:ext uri="{FF2B5EF4-FFF2-40B4-BE49-F238E27FC236}">
                <a16:creationId xmlns:a16="http://schemas.microsoft.com/office/drawing/2014/main" id="{480F0A80-1D4C-78D0-E974-3F904B8DC73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7a6ff87535_0_0:notes">
            <a:extLst>
              <a:ext uri="{FF2B5EF4-FFF2-40B4-BE49-F238E27FC236}">
                <a16:creationId xmlns:a16="http://schemas.microsoft.com/office/drawing/2014/main" id="{8FFE953A-74F0-F009-AC5D-7D69749389B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8113176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>
          <a:extLst>
            <a:ext uri="{FF2B5EF4-FFF2-40B4-BE49-F238E27FC236}">
              <a16:creationId xmlns:a16="http://schemas.microsoft.com/office/drawing/2014/main" id="{62DD33F3-34BF-EDA4-FA32-97731BDDF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7a6ff87535_0_0:notes">
            <a:extLst>
              <a:ext uri="{FF2B5EF4-FFF2-40B4-BE49-F238E27FC236}">
                <a16:creationId xmlns:a16="http://schemas.microsoft.com/office/drawing/2014/main" id="{480F0A80-1D4C-78D0-E974-3F904B8DC73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7a6ff87535_0_0:notes">
            <a:extLst>
              <a:ext uri="{FF2B5EF4-FFF2-40B4-BE49-F238E27FC236}">
                <a16:creationId xmlns:a16="http://schemas.microsoft.com/office/drawing/2014/main" id="{8FFE953A-74F0-F009-AC5D-7D69749389B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315245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2164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3200" y="923875"/>
            <a:ext cx="8520600" cy="403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2164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2164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292100" algn="ctr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marL="1371600" lvl="2" indent="-292100" algn="ctr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marL="1828800" lvl="3" indent="-292100" algn="ctr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 algn="ctr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 algn="ctr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 algn="ctr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 algn="ctr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 algn="ctr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2164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 sz="28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3200" y="923875"/>
            <a:ext cx="8520600" cy="403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  <a:def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○"/>
              <a:defRPr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lvl="2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■"/>
              <a:defRPr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lvl="3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  <a:defRPr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lvl="4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○"/>
              <a:defRPr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lvl="5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■"/>
              <a:defRPr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lvl="6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  <a:defRPr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lvl="7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○"/>
              <a:defRPr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lvl="8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■"/>
              <a:defRPr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microsoft.com/office/2007/relationships/media" Target="../media/media2.mp4"/><Relationship Id="rId7" Type="http://schemas.openxmlformats.org/officeDocument/2006/relationships/image" Target="../media/image1.png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notesSlide" Target="../notesSlides/notesSlide2.xml"/><Relationship Id="rId5" Type="http://schemas.openxmlformats.org/officeDocument/2006/relationships/slideLayout" Target="../slideLayouts/slideLayout2.xml"/><Relationship Id="rId4" Type="http://schemas.openxmlformats.org/officeDocument/2006/relationships/video" Target="../media/media2.mp4"/><Relationship Id="rId9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3.mp4"/><Relationship Id="rId1" Type="http://schemas.microsoft.com/office/2007/relationships/media" Target="../media/media3.mp4"/><Relationship Id="rId5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microsoft.com/office/2007/relationships/media" Target="../media/media2.mp4"/><Relationship Id="rId7" Type="http://schemas.openxmlformats.org/officeDocument/2006/relationships/image" Target="../media/image10.png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notesSlide" Target="../notesSlides/notesSlide9.xml"/><Relationship Id="rId5" Type="http://schemas.openxmlformats.org/officeDocument/2006/relationships/slideLayout" Target="../slideLayouts/slideLayout2.xml"/><Relationship Id="rId10" Type="http://schemas.openxmlformats.org/officeDocument/2006/relationships/image" Target="../media/image13.png"/><Relationship Id="rId4" Type="http://schemas.openxmlformats.org/officeDocument/2006/relationships/video" Target="../media/media2.mp4"/><Relationship Id="rId9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microsoft.com/office/2007/relationships/media" Target="../media/media5.mp4"/><Relationship Id="rId7" Type="http://schemas.openxmlformats.org/officeDocument/2006/relationships/image" Target="../media/image15.png"/><Relationship Id="rId2" Type="http://schemas.openxmlformats.org/officeDocument/2006/relationships/video" Target="../media/media4.mp4"/><Relationship Id="rId1" Type="http://schemas.microsoft.com/office/2007/relationships/media" Target="../media/media4.mp4"/><Relationship Id="rId6" Type="http://schemas.openxmlformats.org/officeDocument/2006/relationships/notesSlide" Target="../notesSlides/notesSlide11.xml"/><Relationship Id="rId5" Type="http://schemas.openxmlformats.org/officeDocument/2006/relationships/slideLayout" Target="../slideLayouts/slideLayout2.xml"/><Relationship Id="rId4" Type="http://schemas.openxmlformats.org/officeDocument/2006/relationships/video" Target="../media/media5.mp4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311700" y="1350075"/>
            <a:ext cx="8520600" cy="202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r>
              <a:rPr lang="en-US" altLang="zh-TW" sz="3000" dirty="0" err="1">
                <a:solidFill>
                  <a:schemeClr val="accent1">
                    <a:lumMod val="50000"/>
                  </a:schemeClr>
                </a:solidFill>
                <a:latin typeface="+mj-lt"/>
                <a:ea typeface="Arial"/>
                <a:cs typeface="Arial"/>
                <a:sym typeface="Arial"/>
              </a:rPr>
              <a:t>DeepVerse</a:t>
            </a:r>
            <a:r>
              <a:rPr lang="en" altLang="zh-TW" sz="3000" dirty="0">
                <a:solidFill>
                  <a:schemeClr val="accent1">
                    <a:lumMod val="50000"/>
                  </a:schemeClr>
                </a:solidFill>
                <a:latin typeface="+mj-lt"/>
                <a:ea typeface="Arial"/>
                <a:cs typeface="Arial"/>
                <a:sym typeface="Arial"/>
              </a:rPr>
              <a:t>:</a:t>
            </a:r>
            <a:r>
              <a:rPr lang="en" altLang="zh-TW" dirty="0">
                <a:latin typeface="+mj-lt"/>
              </a:rPr>
              <a:t> </a:t>
            </a:r>
            <a:r>
              <a:rPr lang="en" altLang="zh-TW" sz="3000" dirty="0">
                <a:latin typeface="+mj-lt"/>
              </a:rPr>
              <a:t>4D Autoregressive Video Generation as a World Model</a:t>
            </a:r>
            <a:endParaRPr lang="en-US" sz="3000" dirty="0"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13"/>
          <p:cNvSpPr txBox="1"/>
          <p:nvPr/>
        </p:nvSpPr>
        <p:spPr>
          <a:xfrm>
            <a:off x="2458800" y="2912005"/>
            <a:ext cx="4226400" cy="15696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" altLang="zh-TW" sz="1200" dirty="0"/>
              <a:t>arxiv:2506.01103</a:t>
            </a:r>
            <a:endParaRPr lang="en-US" altLang="zh-TW" sz="11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altLang="zh-TW" sz="1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altLang="zh-TW" sz="1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指導學長：鍾閎凱</a:t>
            </a:r>
            <a:r>
              <a:rPr lang="zh-TW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</a:t>
            </a:r>
            <a:r>
              <a:rPr lang="zh-TW" altLang="en-US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吳彥翔</a:t>
            </a:r>
            <a:endParaRPr lang="en-US" altLang="zh-TW" sz="1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報告人：電機三 賴禹衡</a:t>
            </a:r>
            <a:r>
              <a:rPr lang="en-US" altLang="zh-TW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</a:t>
            </a:r>
            <a:r>
              <a:rPr lang="zh-TW" altLang="en-US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電機三 陳政年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81;p15">
            <a:extLst>
              <a:ext uri="{FF2B5EF4-FFF2-40B4-BE49-F238E27FC236}">
                <a16:creationId xmlns:a16="http://schemas.microsoft.com/office/drawing/2014/main" id="{4F5BE3B7-A263-41E3-8081-6F289AF9A70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r>
              <a:rPr lang="en" altLang="zh-TW" dirty="0">
                <a:solidFill>
                  <a:schemeClr val="tx1"/>
                </a:solidFill>
              </a:rPr>
              <a:t>Overview</a:t>
            </a:r>
          </a:p>
        </p:txBody>
      </p:sp>
      <p:sp>
        <p:nvSpPr>
          <p:cNvPr id="17" name="Google Shape;82;p15">
            <a:extLst>
              <a:ext uri="{FF2B5EF4-FFF2-40B4-BE49-F238E27FC236}">
                <a16:creationId xmlns:a16="http://schemas.microsoft.com/office/drawing/2014/main" id="{90FE54AC-8BAC-4DED-A8AF-F7E695D90D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3200" y="923875"/>
            <a:ext cx="8520600" cy="403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indent="-317500">
              <a:buSzPts val="1400"/>
            </a:pPr>
            <a:r>
              <a:rPr lang="en-US" altLang="zh-TW" sz="1400" b="1" dirty="0"/>
              <a:t>Goal</a:t>
            </a:r>
          </a:p>
          <a:p>
            <a:pPr lvl="1" indent="-317500">
              <a:buSzPct val="100000"/>
            </a:pPr>
            <a:r>
              <a:rPr lang="en" altLang="zh-TW" sz="1200" dirty="0"/>
              <a:t>Build an autoregressive 4D world model that constructs spatiotemporal geometry for higher prediction </a:t>
            </a:r>
            <a:endParaRPr lang="en-US" sz="1200" b="1" dirty="0"/>
          </a:p>
          <a:p>
            <a:pPr marL="596900" lvl="1" indent="0">
              <a:buSzPct val="100000"/>
              <a:buNone/>
            </a:pPr>
            <a:endParaRPr lang="en-US" sz="1200" b="1" dirty="0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-US" sz="1400" b="1" dirty="0"/>
              <a:t>What this paper want to reach – </a:t>
            </a:r>
            <a:r>
              <a:rPr lang="en-US" sz="1400" b="1" dirty="0">
                <a:solidFill>
                  <a:schemeClr val="tx1"/>
                </a:solidFill>
              </a:rPr>
              <a:t>World model</a:t>
            </a:r>
          </a:p>
          <a:p>
            <a:pPr marL="1397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endParaRPr lang="en-US" sz="1400" b="1" dirty="0">
              <a:solidFill>
                <a:schemeClr val="accent1">
                  <a:lumMod val="50000"/>
                </a:schemeClr>
              </a:solidFill>
            </a:endParaRPr>
          </a:p>
          <a:p>
            <a:pPr lvl="1" indent="-317500">
              <a:buSzPct val="100000"/>
              <a:buFont typeface="Calibri" panose="020F0502020204030204" pitchFamily="34" charset="0"/>
              <a:buChar char="○"/>
            </a:pPr>
            <a:r>
              <a:rPr lang="en-US" altLang="zh-TW" sz="1200" dirty="0"/>
              <a:t>Action-conditioned → controllable by action prompts</a:t>
            </a:r>
          </a:p>
          <a:p>
            <a:pPr marL="596900" lvl="1" indent="0">
              <a:buSzPct val="100000"/>
              <a:buNone/>
            </a:pPr>
            <a:endParaRPr lang="en-US" altLang="zh-TW" sz="1200" dirty="0"/>
          </a:p>
          <a:p>
            <a:pPr lvl="1" indent="-317500">
              <a:buSzPct val="100000"/>
              <a:buFont typeface="Calibri" panose="020F0502020204030204" pitchFamily="34" charset="0"/>
              <a:buChar char="○"/>
            </a:pPr>
            <a:r>
              <a:rPr lang="en-US" altLang="zh-TW" sz="1200" dirty="0"/>
              <a:t>Autoregressive → continuously generate the world without “seeing the future”</a:t>
            </a:r>
          </a:p>
          <a:p>
            <a:pPr lvl="1" indent="-317500">
              <a:buSzPct val="100000"/>
              <a:buFont typeface="Calibri" panose="020F0502020204030204" pitchFamily="34" charset="0"/>
              <a:buChar char="○"/>
            </a:pPr>
            <a:endParaRPr lang="en-US" altLang="zh-TW" sz="1200" dirty="0"/>
          </a:p>
          <a:p>
            <a:pPr lvl="1" indent="-317500">
              <a:buSzPct val="100000"/>
              <a:buFont typeface="Calibri" panose="020F0502020204030204" pitchFamily="34" charset="0"/>
              <a:buChar char="○"/>
            </a:pPr>
            <a:r>
              <a:rPr lang="en-US" altLang="zh-TW" sz="1200" dirty="0"/>
              <a:t>4D representation → </a:t>
            </a:r>
            <a:r>
              <a:rPr lang="en" altLang="zh-TW" sz="1200" dirty="0"/>
              <a:t>modeling geometric structures for long-term accuracy and consistency in visual predictions</a:t>
            </a:r>
          </a:p>
          <a:p>
            <a:pPr lvl="1" indent="-317500">
              <a:buSzPct val="100000"/>
              <a:buFont typeface="Calibri" panose="020F0502020204030204" pitchFamily="34" charset="0"/>
              <a:buChar char="○"/>
            </a:pPr>
            <a:endParaRPr lang="en-US" altLang="zh-TW" sz="1200" b="1" dirty="0"/>
          </a:p>
        </p:txBody>
      </p:sp>
      <p:pic>
        <p:nvPicPr>
          <p:cNvPr id="4" name="video1_w">
            <a:hlinkClick r:id="" action="ppaction://media"/>
            <a:extLst>
              <a:ext uri="{FF2B5EF4-FFF2-40B4-BE49-F238E27FC236}">
                <a16:creationId xmlns:a16="http://schemas.microsoft.com/office/drawing/2014/main" id="{5819C6F0-F602-7A30-8E3A-9063E6300748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6237578" y="3491235"/>
            <a:ext cx="1953653" cy="1465240"/>
          </a:xfrm>
          <a:prstGeom prst="rect">
            <a:avLst/>
          </a:prstGeom>
        </p:spPr>
      </p:pic>
      <p:pic>
        <p:nvPicPr>
          <p:cNvPr id="5" name="video1_wo">
            <a:hlinkClick r:id="" action="ppaction://media"/>
            <a:extLst>
              <a:ext uri="{FF2B5EF4-FFF2-40B4-BE49-F238E27FC236}">
                <a16:creationId xmlns:a16="http://schemas.microsoft.com/office/drawing/2014/main" id="{FDA555E4-CAD6-B21E-FAE3-FE71A908B3A0}"/>
              </a:ext>
            </a:extLst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3934485" y="3491235"/>
            <a:ext cx="1953653" cy="1465240"/>
          </a:xfrm>
          <a:prstGeom prst="rect">
            <a:avLst/>
          </a:prstGeom>
        </p:spPr>
      </p:pic>
      <p:pic>
        <p:nvPicPr>
          <p:cNvPr id="6" name="圖片 5" descr="一張含有 哺乳動物, 卡通, 寫生, 藝術 的圖片&#10;&#10;AI 產生的內容可能不正確。">
            <a:extLst>
              <a:ext uri="{FF2B5EF4-FFF2-40B4-BE49-F238E27FC236}">
                <a16:creationId xmlns:a16="http://schemas.microsoft.com/office/drawing/2014/main" id="{894C5505-9B9B-13B3-8858-2B086B59492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1603" y="3486224"/>
            <a:ext cx="1953653" cy="1605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65285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4234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4234"/>
                            </p:stCondLst>
                            <p:childTnLst>
                              <p:par>
                                <p:cTn id="8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9" dur="14234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10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11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5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  <p:video>
              <p:cMediaNode vol="80000">
                <p:cTn id="16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17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1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81;p15">
            <a:extLst>
              <a:ext uri="{FF2B5EF4-FFF2-40B4-BE49-F238E27FC236}">
                <a16:creationId xmlns:a16="http://schemas.microsoft.com/office/drawing/2014/main" id="{4F5BE3B7-A263-41E3-8081-6F289AF9A70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r>
              <a:rPr lang="en" altLang="zh-TW" dirty="0">
                <a:solidFill>
                  <a:schemeClr val="tx1"/>
                </a:solidFill>
              </a:rPr>
              <a:t>Method</a:t>
            </a:r>
          </a:p>
        </p:txBody>
      </p:sp>
      <p:sp>
        <p:nvSpPr>
          <p:cNvPr id="17" name="Google Shape;82;p15">
            <a:extLst>
              <a:ext uri="{FF2B5EF4-FFF2-40B4-BE49-F238E27FC236}">
                <a16:creationId xmlns:a16="http://schemas.microsoft.com/office/drawing/2014/main" id="{90FE54AC-8BAC-4DED-A8AF-F7E695D90D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3200" y="923875"/>
            <a:ext cx="8520600" cy="403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indent="-317500">
              <a:buSzPts val="1400"/>
            </a:pPr>
            <a:r>
              <a:rPr lang="en-US" altLang="zh-TW" sz="1400" b="1" dirty="0"/>
              <a:t>4D Representation</a:t>
            </a:r>
            <a:endParaRPr lang="en-US" altLang="zh-TW" sz="1400" b="1" dirty="0">
              <a:solidFill>
                <a:schemeClr val="accent1">
                  <a:lumMod val="50000"/>
                </a:schemeClr>
              </a:solidFill>
            </a:endParaRPr>
          </a:p>
          <a:p>
            <a:pPr lvl="1" indent="-317500">
              <a:buSzPct val="100000"/>
            </a:pPr>
            <a:r>
              <a:rPr lang="en-US" sz="1400" dirty="0"/>
              <a:t>decompose 3D coordinates into depth and viewpoint components </a:t>
            </a:r>
          </a:p>
          <a:p>
            <a:pPr marL="596900" lvl="1" indent="0">
              <a:buSzPct val="100000"/>
              <a:buNone/>
            </a:pPr>
            <a:endParaRPr lang="en-US" sz="1400" dirty="0"/>
          </a:p>
          <a:p>
            <a:pPr lvl="0" indent="-317500">
              <a:buSzPts val="1400"/>
            </a:pPr>
            <a:r>
              <a:rPr lang="en-US" sz="1400" b="1" dirty="0"/>
              <a:t>General Control</a:t>
            </a:r>
          </a:p>
          <a:p>
            <a:pPr lvl="1" indent="-317500">
              <a:buSzPts val="1400"/>
            </a:pPr>
            <a:r>
              <a:rPr lang="en" altLang="zh-TW" sz="1400" dirty="0"/>
              <a:t>Use text as control to keep pre-trained strengths and easily map to new controllers.</a:t>
            </a:r>
          </a:p>
          <a:p>
            <a:pPr lvl="1" indent="-317500">
              <a:buSzPts val="1400"/>
            </a:pPr>
            <a:endParaRPr lang="en" altLang="zh-TW" sz="1400" dirty="0"/>
          </a:p>
          <a:p>
            <a:pPr lvl="0" indent="-317500">
              <a:buSzPts val="1400"/>
            </a:pPr>
            <a:r>
              <a:rPr lang="en-US" altLang="zh-TW" sz="1400" b="1" dirty="0"/>
              <a:t>Spatial Condition</a:t>
            </a:r>
          </a:p>
          <a:p>
            <a:pPr lvl="1" indent="-317500">
              <a:buSzPts val="1400"/>
            </a:pPr>
            <a:r>
              <a:rPr lang="en" altLang="zh-TW" sz="1400" dirty="0"/>
              <a:t>Retrieve the most spatially relevant historical state and encode it as the spatial condition for prediction.</a:t>
            </a:r>
          </a:p>
          <a:p>
            <a:pPr lvl="1" indent="-317500">
              <a:buSzPts val="1400"/>
            </a:pPr>
            <a:endParaRPr lang="en-US" altLang="zh-TW" sz="1200" b="1" dirty="0"/>
          </a:p>
          <a:p>
            <a:pPr marL="596900" lvl="1" indent="0">
              <a:buSzPts val="1400"/>
              <a:buNone/>
            </a:pPr>
            <a:endParaRPr lang="en" altLang="zh-TW" sz="1400" dirty="0"/>
          </a:p>
          <a:p>
            <a:pPr marL="596900" lvl="1" indent="0">
              <a:buSzPts val="1400"/>
              <a:buNone/>
            </a:pPr>
            <a:endParaRPr lang="en" altLang="zh-TW" sz="1400" dirty="0"/>
          </a:p>
        </p:txBody>
      </p:sp>
      <p:pic>
        <p:nvPicPr>
          <p:cNvPr id="5" name="video4">
            <a:hlinkClick r:id="" action="ppaction://media"/>
            <a:extLst>
              <a:ext uri="{FF2B5EF4-FFF2-40B4-BE49-F238E27FC236}">
                <a16:creationId xmlns:a16="http://schemas.microsoft.com/office/drawing/2014/main" id="{B7B46A9E-E6A1-5E1F-7807-80956EC6D37A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3445657" y="3649355"/>
            <a:ext cx="1902360" cy="1426770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4DEB9B41-A760-1657-FD0D-E675F7B08D6E}"/>
              </a:ext>
            </a:extLst>
          </p:cNvPr>
          <p:cNvSpPr txBox="1"/>
          <p:nvPr/>
        </p:nvSpPr>
        <p:spPr>
          <a:xfrm>
            <a:off x="310200" y="4101130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TW" b="0" i="0" u="none" strike="noStrike" dirty="0">
                <a:solidFill>
                  <a:srgbClr val="000000"/>
                </a:solidFill>
                <a:effectLst/>
                <a:latin typeface="ui-sans-serif"/>
              </a:rPr>
              <a:t>“The character ran down the road, </a:t>
            </a:r>
          </a:p>
          <a:p>
            <a:r>
              <a:rPr lang="en" altLang="zh-TW" b="0" i="0" u="none" strike="noStrike" dirty="0">
                <a:solidFill>
                  <a:srgbClr val="000000"/>
                </a:solidFill>
                <a:effectLst/>
                <a:latin typeface="ui-sans-serif"/>
              </a:rPr>
              <a:t>moving steadily forward.”</a:t>
            </a:r>
            <a:endParaRPr lang="zh-TW" altLang="en-US" dirty="0"/>
          </a:p>
        </p:txBody>
      </p:sp>
      <p:sp>
        <p:nvSpPr>
          <p:cNvPr id="9" name="Google Shape;72;p14">
            <a:extLst>
              <a:ext uri="{FF2B5EF4-FFF2-40B4-BE49-F238E27FC236}">
                <a16:creationId xmlns:a16="http://schemas.microsoft.com/office/drawing/2014/main" id="{92D6AEF7-A0BB-B2AE-B431-EE7BED538A1B}"/>
              </a:ext>
            </a:extLst>
          </p:cNvPr>
          <p:cNvSpPr/>
          <p:nvPr/>
        </p:nvSpPr>
        <p:spPr>
          <a:xfrm>
            <a:off x="2979840" y="4362740"/>
            <a:ext cx="278700" cy="21270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7707268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81;p15">
            <a:extLst>
              <a:ext uri="{FF2B5EF4-FFF2-40B4-BE49-F238E27FC236}">
                <a16:creationId xmlns:a16="http://schemas.microsoft.com/office/drawing/2014/main" id="{4F5BE3B7-A263-41E3-8081-6F289AF9A70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r>
              <a:rPr lang="en" altLang="zh-TW" dirty="0">
                <a:solidFill>
                  <a:schemeClr val="tx1"/>
                </a:solidFill>
              </a:rPr>
              <a:t>Method</a:t>
            </a:r>
          </a:p>
        </p:txBody>
      </p:sp>
      <p:sp>
        <p:nvSpPr>
          <p:cNvPr id="17" name="Google Shape;82;p15">
            <a:extLst>
              <a:ext uri="{FF2B5EF4-FFF2-40B4-BE49-F238E27FC236}">
                <a16:creationId xmlns:a16="http://schemas.microsoft.com/office/drawing/2014/main" id="{90FE54AC-8BAC-4DED-A8AF-F7E695D90D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3200" y="923875"/>
            <a:ext cx="8520600" cy="403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596900" lvl="1" indent="0">
              <a:buSzPts val="1400"/>
              <a:buNone/>
            </a:pPr>
            <a:endParaRPr lang="en" altLang="zh-TW" sz="1400" dirty="0"/>
          </a:p>
        </p:txBody>
      </p:sp>
      <p:pic>
        <p:nvPicPr>
          <p:cNvPr id="13" name="圖片 12" descr="一張含有 螢幕擷取畫面 的圖片&#10;&#10;AI 產生的內容可能不正確。">
            <a:extLst>
              <a:ext uri="{FF2B5EF4-FFF2-40B4-BE49-F238E27FC236}">
                <a16:creationId xmlns:a16="http://schemas.microsoft.com/office/drawing/2014/main" id="{39F43EA2-0489-E10F-860E-A670F4CDA0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679" y="789125"/>
            <a:ext cx="7411388" cy="40897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985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EA5252D-6CF8-49C7-3BD9-8A0AE6A504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 dirty="0"/>
              <a:t>Dataset</a:t>
            </a:r>
            <a:r>
              <a:rPr kumimoji="1" lang="zh-TW" altLang="en-US" dirty="0"/>
              <a:t> </a:t>
            </a:r>
            <a:r>
              <a:rPr kumimoji="1" lang="en-US" altLang="zh-TW" dirty="0"/>
              <a:t>Construction</a:t>
            </a:r>
            <a:endParaRPr kumimoji="1" lang="zh-TW" altLang="en-US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B4A6BA53-3271-632E-A4B8-F0E8A1F70F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" altLang="zh-TW" sz="1400" b="1" dirty="0"/>
              <a:t>Collection &amp; Synthesis</a:t>
            </a:r>
          </a:p>
          <a:p>
            <a:pPr lvl="1"/>
            <a:r>
              <a:rPr lang="en" altLang="zh-TW" sz="1400" dirty="0"/>
              <a:t>10M gameplay frames</a:t>
            </a:r>
          </a:p>
          <a:p>
            <a:pPr lvl="1"/>
            <a:r>
              <a:rPr lang="en" altLang="zh-TW" sz="1400" dirty="0"/>
              <a:t> synthetic data with camera parameters, depth maps</a:t>
            </a:r>
          </a:p>
          <a:p>
            <a:pPr marL="622300" lvl="1" indent="0">
              <a:buNone/>
            </a:pPr>
            <a:endParaRPr lang="en" altLang="zh-TW" sz="1200" b="1" dirty="0"/>
          </a:p>
          <a:p>
            <a:r>
              <a:rPr lang="en" altLang="zh-TW" sz="1400" b="1" dirty="0"/>
              <a:t>Filtering</a:t>
            </a:r>
            <a:endParaRPr lang="en" altLang="zh-TW" sz="1400" dirty="0"/>
          </a:p>
          <a:p>
            <a:pPr lvl="1"/>
            <a:r>
              <a:rPr lang="en" altLang="zh-TW" sz="1400" dirty="0"/>
              <a:t> Remove clips with excessive rotation/rapid transitions or minimal movement</a:t>
            </a:r>
          </a:p>
          <a:p>
            <a:pPr lvl="1"/>
            <a:endParaRPr lang="en" altLang="zh-TW" sz="1200" b="1" dirty="0"/>
          </a:p>
          <a:p>
            <a:r>
              <a:rPr lang="en" altLang="zh-TW" sz="1400" b="1" dirty="0"/>
              <a:t>Annotation</a:t>
            </a:r>
          </a:p>
          <a:p>
            <a:pPr lvl="1"/>
            <a:r>
              <a:rPr lang="en" altLang="zh-TW" sz="1400" dirty="0"/>
              <a:t>construct textual</a:t>
            </a:r>
            <a:r>
              <a:rPr lang="zh-TW" altLang="en-US" sz="1400" dirty="0"/>
              <a:t> </a:t>
            </a:r>
            <a:r>
              <a:rPr lang="en" altLang="zh-TW" sz="1400" dirty="0"/>
              <a:t>descriptions directly from camera movements/rotations</a:t>
            </a:r>
          </a:p>
          <a:p>
            <a:pPr lvl="1"/>
            <a:r>
              <a:rPr lang="en" altLang="zh-TW" sz="1400" dirty="0"/>
              <a:t>Qwen-VL generates first-person descriptions for viewpoint transitions or third-person narratives for character actions and movements</a:t>
            </a:r>
          </a:p>
          <a:p>
            <a:pPr marL="622300" lvl="1" indent="0">
              <a:buNone/>
            </a:pPr>
            <a:endParaRPr lang="en" altLang="zh-TW" sz="1200" b="1" dirty="0"/>
          </a:p>
          <a:p>
            <a:pPr marL="622300" lvl="1" indent="0">
              <a:buNone/>
            </a:pPr>
            <a:endParaRPr lang="en" altLang="zh-TW" sz="1200" b="1" dirty="0"/>
          </a:p>
          <a:p>
            <a:pPr marL="622300" lvl="1" indent="0">
              <a:buNone/>
            </a:pPr>
            <a:endParaRPr lang="en" altLang="zh-TW" sz="1200" b="1" dirty="0"/>
          </a:p>
          <a:p>
            <a:pPr marL="622300" lvl="1" indent="0">
              <a:buNone/>
            </a:pPr>
            <a:endParaRPr lang="en" altLang="zh-TW" sz="1200" b="1" dirty="0"/>
          </a:p>
          <a:p>
            <a:pPr marL="622300" lvl="1" indent="0">
              <a:buNone/>
            </a:pPr>
            <a:endParaRPr lang="en" altLang="zh-TW" sz="1200" b="1" dirty="0"/>
          </a:p>
          <a:p>
            <a:pPr marL="622300" lvl="1" indent="0">
              <a:buNone/>
            </a:pPr>
            <a:endParaRPr lang="en" altLang="zh-TW" sz="1200" b="1" dirty="0"/>
          </a:p>
          <a:p>
            <a:pPr marL="622300" lvl="1" indent="0">
              <a:buNone/>
            </a:pPr>
            <a:endParaRPr lang="en" altLang="zh-TW" sz="1200" b="1" dirty="0"/>
          </a:p>
          <a:p>
            <a:pPr marL="622300" lvl="1" indent="0">
              <a:buNone/>
            </a:pPr>
            <a:endParaRPr lang="en" altLang="zh-TW" sz="1200" b="1" dirty="0"/>
          </a:p>
          <a:p>
            <a:pPr marL="622300" lvl="1" indent="0">
              <a:buNone/>
            </a:pPr>
            <a:endParaRPr lang="en" altLang="zh-TW" sz="1200" b="1" dirty="0"/>
          </a:p>
          <a:p>
            <a:pPr marL="622300" lvl="1" indent="0">
              <a:buNone/>
            </a:pPr>
            <a:endParaRPr lang="en" altLang="zh-TW" sz="1200" dirty="0"/>
          </a:p>
          <a:p>
            <a:pPr lvl="1"/>
            <a:endParaRPr lang="en" altLang="zh-TW" sz="1200" dirty="0"/>
          </a:p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DA76371-64CE-ECD9-36BF-7E4F76769E7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 smtClean="0"/>
              <a:t>5</a:t>
            </a:fld>
            <a:endParaRPr lang="zh-TW" altLang="en-US"/>
          </a:p>
        </p:txBody>
      </p:sp>
      <p:pic>
        <p:nvPicPr>
          <p:cNvPr id="6" name="圖片 5" descr="一張含有 文字, 螢幕擷取畫面, 平面設計, 圖形 的圖片&#10;&#10;AI 產生的內容可能不正確。">
            <a:extLst>
              <a:ext uri="{FF2B5EF4-FFF2-40B4-BE49-F238E27FC236}">
                <a16:creationId xmlns:a16="http://schemas.microsoft.com/office/drawing/2014/main" id="{8ACD9766-94E1-D15D-38A1-6FFD3037A9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0131" y="3389842"/>
            <a:ext cx="2616742" cy="1659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10025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>
          <a:extLst>
            <a:ext uri="{FF2B5EF4-FFF2-40B4-BE49-F238E27FC236}">
              <a16:creationId xmlns:a16="http://schemas.microsoft.com/office/drawing/2014/main" id="{A0169B00-F940-706C-02FE-E7B7A6F2ED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5">
            <a:extLst>
              <a:ext uri="{FF2B5EF4-FFF2-40B4-BE49-F238E27FC236}">
                <a16:creationId xmlns:a16="http://schemas.microsoft.com/office/drawing/2014/main" id="{1D871E5A-98A3-B713-5F68-2E409844AA5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2164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r>
              <a:rPr lang="en-US" altLang="zh-TW" dirty="0"/>
              <a:t>Experiment – overview of the architecture</a:t>
            </a:r>
            <a:br>
              <a:rPr lang="en" altLang="zh-TW" dirty="0"/>
            </a:br>
            <a:endParaRPr lang="en" altLang="zh-TW" dirty="0"/>
          </a:p>
        </p:txBody>
      </p:sp>
      <p:sp>
        <p:nvSpPr>
          <p:cNvPr id="82" name="Google Shape;82;p15">
            <a:extLst>
              <a:ext uri="{FF2B5EF4-FFF2-40B4-BE49-F238E27FC236}">
                <a16:creationId xmlns:a16="http://schemas.microsoft.com/office/drawing/2014/main" id="{101B91CE-2603-169E-5B25-207B3DFF6A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3200" y="923875"/>
            <a:ext cx="8520600" cy="403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-US" altLang="zh-TW" sz="1400" b="1" dirty="0"/>
              <a:t>Final model architecture</a:t>
            </a:r>
            <a:endParaRPr lang="en-US" altLang="zh-TW" sz="1200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D32F0E1D-90EA-A0BD-A63A-B8DB02F59B4A}"/>
              </a:ext>
            </a:extLst>
          </p:cNvPr>
          <p:cNvSpPr txBox="1"/>
          <p:nvPr/>
        </p:nvSpPr>
        <p:spPr>
          <a:xfrm>
            <a:off x="4114800" y="2117834"/>
            <a:ext cx="65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8CA8DE3A-1B8F-4C70-93F6-CD0187A19D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8483" y="1613026"/>
            <a:ext cx="4927033" cy="3070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08881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>
          <a:extLst>
            <a:ext uri="{FF2B5EF4-FFF2-40B4-BE49-F238E27FC236}">
              <a16:creationId xmlns:a16="http://schemas.microsoft.com/office/drawing/2014/main" id="{A0169B00-F940-706C-02FE-E7B7A6F2ED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5">
            <a:extLst>
              <a:ext uri="{FF2B5EF4-FFF2-40B4-BE49-F238E27FC236}">
                <a16:creationId xmlns:a16="http://schemas.microsoft.com/office/drawing/2014/main" id="{1D871E5A-98A3-B713-5F68-2E409844AA5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2164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r>
              <a:rPr lang="en-US" altLang="zh-TW" dirty="0"/>
              <a:t>Experiment – two model architecture</a:t>
            </a:r>
            <a:br>
              <a:rPr lang="en" altLang="zh-TW" dirty="0"/>
            </a:br>
            <a:endParaRPr lang="en" altLang="zh-TW" dirty="0"/>
          </a:p>
        </p:txBody>
      </p:sp>
      <p:sp>
        <p:nvSpPr>
          <p:cNvPr id="82" name="Google Shape;82;p15">
            <a:extLst>
              <a:ext uri="{FF2B5EF4-FFF2-40B4-BE49-F238E27FC236}">
                <a16:creationId xmlns:a16="http://schemas.microsoft.com/office/drawing/2014/main" id="{101B91CE-2603-169E-5B25-207B3DFF6A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3200" y="923875"/>
            <a:ext cx="8520600" cy="403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indent="-317500">
              <a:buSzPts val="1400"/>
            </a:pPr>
            <a:r>
              <a:rPr lang="en-US" altLang="zh-TW" sz="1400" b="1" dirty="0"/>
              <a:t>Model 1</a:t>
            </a:r>
          </a:p>
          <a:p>
            <a:pPr lvl="1" indent="-317500">
              <a:buSzPct val="100000"/>
            </a:pPr>
            <a:r>
              <a:rPr lang="en-US" altLang="zh-TW" sz="1200" dirty="0" err="1">
                <a:solidFill>
                  <a:schemeClr val="accent1">
                    <a:lumMod val="50000"/>
                  </a:schemeClr>
                </a:solidFill>
              </a:rPr>
              <a:t>Concat</a:t>
            </a:r>
            <a:r>
              <a:rPr lang="en-US" altLang="zh-TW" sz="1200" dirty="0"/>
              <a:t> current latent with history latent -&gt; </a:t>
            </a:r>
            <a:r>
              <a:rPr lang="en-US" altLang="zh-TW" sz="1200" dirty="0" err="1">
                <a:solidFill>
                  <a:schemeClr val="accent1">
                    <a:lumMod val="50000"/>
                  </a:schemeClr>
                </a:solidFill>
              </a:rPr>
              <a:t>Patchify</a:t>
            </a:r>
            <a:r>
              <a:rPr lang="en-US" altLang="zh-TW" sz="1200" dirty="0">
                <a:solidFill>
                  <a:schemeClr val="accent1">
                    <a:lumMod val="50000"/>
                  </a:schemeClr>
                </a:solidFill>
              </a:rPr>
              <a:t> </a:t>
            </a:r>
            <a:r>
              <a:rPr lang="en-US" altLang="zh-TW" sz="1200" dirty="0">
                <a:solidFill>
                  <a:schemeClr val="tx1"/>
                </a:solidFill>
              </a:rPr>
              <a:t>the whole temporal sequence </a:t>
            </a:r>
            <a:r>
              <a:rPr lang="en-US" altLang="zh-TW" sz="1200" dirty="0"/>
              <a:t>-&gt; </a:t>
            </a:r>
            <a:r>
              <a:rPr lang="en-US" altLang="zh-TW" sz="1200" dirty="0">
                <a:solidFill>
                  <a:schemeClr val="tx1"/>
                </a:solidFill>
              </a:rPr>
              <a:t>Input token</a:t>
            </a:r>
          </a:p>
          <a:p>
            <a:pPr marL="596900" lvl="1" indent="0">
              <a:buSzPct val="100000"/>
              <a:buNone/>
            </a:pPr>
            <a:endParaRPr lang="en-US" altLang="zh-TW" sz="1200" dirty="0"/>
          </a:p>
          <a:p>
            <a:pPr indent="-317500">
              <a:buSzPts val="1400"/>
            </a:pPr>
            <a:r>
              <a:rPr lang="en-US" altLang="zh-TW" sz="1400" b="1" dirty="0"/>
              <a:t>Model 2</a:t>
            </a:r>
          </a:p>
          <a:p>
            <a:pPr lvl="1" indent="-317500">
              <a:buSzPct val="100000"/>
            </a:pPr>
            <a:r>
              <a:rPr lang="en-US" altLang="zh-TW" sz="1200" dirty="0" err="1">
                <a:solidFill>
                  <a:schemeClr val="accent1">
                    <a:lumMod val="50000"/>
                  </a:schemeClr>
                </a:solidFill>
              </a:rPr>
              <a:t>Patchify</a:t>
            </a:r>
            <a:r>
              <a:rPr lang="en-US" altLang="zh-TW" sz="1200" dirty="0"/>
              <a:t> each latent independently from temporal sequence -&gt;</a:t>
            </a:r>
            <a:r>
              <a:rPr lang="zh-TW" altLang="en-US" sz="1200" dirty="0"/>
              <a:t> </a:t>
            </a:r>
            <a:r>
              <a:rPr lang="en-US" altLang="zh-TW" sz="1200" dirty="0">
                <a:solidFill>
                  <a:schemeClr val="accent1">
                    <a:lumMod val="50000"/>
                  </a:schemeClr>
                </a:solidFill>
              </a:rPr>
              <a:t>3D VAE </a:t>
            </a:r>
            <a:r>
              <a:rPr lang="en-US" altLang="zh-TW" sz="1200" dirty="0">
                <a:solidFill>
                  <a:schemeClr val="tx1"/>
                </a:solidFill>
              </a:rPr>
              <a:t>to compress temporal feature </a:t>
            </a:r>
            <a:r>
              <a:rPr lang="en-US" altLang="zh-TW" sz="1200" dirty="0"/>
              <a:t>-&gt; Input token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D32F0E1D-90EA-A0BD-A63A-B8DB02F59B4A}"/>
              </a:ext>
            </a:extLst>
          </p:cNvPr>
          <p:cNvSpPr txBox="1"/>
          <p:nvPr/>
        </p:nvSpPr>
        <p:spPr>
          <a:xfrm>
            <a:off x="4114800" y="2117834"/>
            <a:ext cx="65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kumimoji="1"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9DF0A3D8-295F-456F-B31D-A4586958EC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614" y="2333278"/>
            <a:ext cx="3813957" cy="2503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79007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>
          <a:extLst>
            <a:ext uri="{FF2B5EF4-FFF2-40B4-BE49-F238E27FC236}">
              <a16:creationId xmlns:a16="http://schemas.microsoft.com/office/drawing/2014/main" id="{A0169B00-F940-706C-02FE-E7B7A6F2ED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5">
            <a:extLst>
              <a:ext uri="{FF2B5EF4-FFF2-40B4-BE49-F238E27FC236}">
                <a16:creationId xmlns:a16="http://schemas.microsoft.com/office/drawing/2014/main" id="{1D871E5A-98A3-B713-5F68-2E409844AA5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2164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r>
              <a:rPr lang="en-US" altLang="zh-TW" dirty="0"/>
              <a:t>Experiment – comparing two models</a:t>
            </a:r>
            <a:br>
              <a:rPr lang="en" altLang="zh-TW" dirty="0"/>
            </a:br>
            <a:endParaRPr lang="en" altLang="zh-TW" dirty="0"/>
          </a:p>
        </p:txBody>
      </p:sp>
      <p:sp>
        <p:nvSpPr>
          <p:cNvPr id="82" name="Google Shape;82;p15">
            <a:extLst>
              <a:ext uri="{FF2B5EF4-FFF2-40B4-BE49-F238E27FC236}">
                <a16:creationId xmlns:a16="http://schemas.microsoft.com/office/drawing/2014/main" id="{101B91CE-2603-169E-5B25-207B3DFF6A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3200" y="923875"/>
            <a:ext cx="8520600" cy="403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indent="-317500">
              <a:buSzPts val="1400"/>
            </a:pPr>
            <a:r>
              <a:rPr lang="en-US" altLang="zh-TW" sz="1400" b="1" dirty="0" err="1"/>
              <a:t>VBench</a:t>
            </a:r>
            <a:r>
              <a:rPr lang="en-US" altLang="zh-TW" sz="1400" b="1" dirty="0"/>
              <a:t> result</a:t>
            </a:r>
          </a:p>
          <a:p>
            <a:pPr lvl="1" indent="-317500">
              <a:buSzPct val="100000"/>
            </a:pPr>
            <a:r>
              <a:rPr lang="en-US" altLang="zh-TW" sz="1200" dirty="0">
                <a:solidFill>
                  <a:schemeClr val="tx1"/>
                </a:solidFill>
              </a:rPr>
              <a:t>Token-wise model (model 2) outperforms</a:t>
            </a:r>
          </a:p>
          <a:p>
            <a:pPr lvl="1" indent="-317500">
              <a:buSzPct val="100000"/>
            </a:pPr>
            <a:endParaRPr lang="en-US" altLang="zh-TW" sz="1200" dirty="0">
              <a:solidFill>
                <a:schemeClr val="tx1"/>
              </a:solidFill>
            </a:endParaRPr>
          </a:p>
          <a:p>
            <a:pPr lvl="1" indent="-317500">
              <a:buSzPct val="100000"/>
            </a:pPr>
            <a:r>
              <a:rPr lang="en-US" altLang="zh-TW" sz="1200" dirty="0">
                <a:solidFill>
                  <a:schemeClr val="tx1"/>
                </a:solidFill>
              </a:rPr>
              <a:t>Channel-wise model (model 1) exacerbates error accumulation, particularly under extended scenarios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D32F0E1D-90EA-A0BD-A63A-B8DB02F59B4A}"/>
              </a:ext>
            </a:extLst>
          </p:cNvPr>
          <p:cNvSpPr txBox="1"/>
          <p:nvPr/>
        </p:nvSpPr>
        <p:spPr>
          <a:xfrm>
            <a:off x="4114800" y="2117834"/>
            <a:ext cx="65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kumimoji="1" lang="zh-TW" altLang="en-US" dirty="0"/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0A75BB4D-3681-4B99-93B9-BE4343E02B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2117834"/>
            <a:ext cx="3531973" cy="27305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44379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>
          <a:extLst>
            <a:ext uri="{FF2B5EF4-FFF2-40B4-BE49-F238E27FC236}">
              <a16:creationId xmlns:a16="http://schemas.microsoft.com/office/drawing/2014/main" id="{A0169B00-F940-706C-02FE-E7B7A6F2ED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5">
            <a:extLst>
              <a:ext uri="{FF2B5EF4-FFF2-40B4-BE49-F238E27FC236}">
                <a16:creationId xmlns:a16="http://schemas.microsoft.com/office/drawing/2014/main" id="{1D871E5A-98A3-B713-5F68-2E409844AA5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2164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r>
              <a:rPr lang="en-US" altLang="zh-TW" dirty="0"/>
              <a:t>Experiment – ablation on depth</a:t>
            </a:r>
            <a:br>
              <a:rPr lang="en" altLang="zh-TW" dirty="0"/>
            </a:br>
            <a:endParaRPr lang="en" altLang="zh-TW" dirty="0"/>
          </a:p>
        </p:txBody>
      </p:sp>
      <p:sp>
        <p:nvSpPr>
          <p:cNvPr id="82" name="Google Shape;82;p15">
            <a:extLst>
              <a:ext uri="{FF2B5EF4-FFF2-40B4-BE49-F238E27FC236}">
                <a16:creationId xmlns:a16="http://schemas.microsoft.com/office/drawing/2014/main" id="{101B91CE-2603-169E-5B25-207B3DFF6A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3200" y="923875"/>
            <a:ext cx="8520600" cy="403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indent="-317500">
              <a:buSzPts val="1400"/>
            </a:pPr>
            <a:r>
              <a:rPr lang="en-US" altLang="zh-TW" sz="1400" b="1" dirty="0"/>
              <a:t>FVD, </a:t>
            </a:r>
            <a:r>
              <a:rPr lang="en-US" altLang="zh-TW" sz="1400" b="1" dirty="0" err="1"/>
              <a:t>Vbench</a:t>
            </a:r>
            <a:r>
              <a:rPr lang="en-US" altLang="zh-TW" sz="1400" b="1" dirty="0"/>
              <a:t>, and visual result</a:t>
            </a:r>
          </a:p>
          <a:p>
            <a:pPr lvl="1" indent="-317500">
              <a:buSzPct val="100000"/>
            </a:pPr>
            <a:r>
              <a:rPr lang="en-US" altLang="zh-TW" sz="1200" dirty="0">
                <a:solidFill>
                  <a:schemeClr val="tx1"/>
                </a:solidFill>
              </a:rPr>
              <a:t>Model with depth outperforms, alleviating the drift phenomenon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D32F0E1D-90EA-A0BD-A63A-B8DB02F59B4A}"/>
              </a:ext>
            </a:extLst>
          </p:cNvPr>
          <p:cNvSpPr txBox="1"/>
          <p:nvPr/>
        </p:nvSpPr>
        <p:spPr>
          <a:xfrm>
            <a:off x="4114800" y="2117834"/>
            <a:ext cx="65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kumimoji="1" lang="zh-TW" altLang="en-US" dirty="0"/>
          </a:p>
        </p:txBody>
      </p:sp>
      <p:pic>
        <p:nvPicPr>
          <p:cNvPr id="5" name="video1_w">
            <a:hlinkClick r:id="" action="ppaction://media"/>
            <a:extLst>
              <a:ext uri="{FF2B5EF4-FFF2-40B4-BE49-F238E27FC236}">
                <a16:creationId xmlns:a16="http://schemas.microsoft.com/office/drawing/2014/main" id="{676D9FDD-C096-44CE-B6F4-BA40CBE7B86A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3433971" y="3045540"/>
            <a:ext cx="2508713" cy="1881535"/>
          </a:xfrm>
          <a:prstGeom prst="rect">
            <a:avLst/>
          </a:prstGeom>
        </p:spPr>
      </p:pic>
      <p:pic>
        <p:nvPicPr>
          <p:cNvPr id="6" name="video1_wo">
            <a:hlinkClick r:id="" action="ppaction://media"/>
            <a:extLst>
              <a:ext uri="{FF2B5EF4-FFF2-40B4-BE49-F238E27FC236}">
                <a16:creationId xmlns:a16="http://schemas.microsoft.com/office/drawing/2014/main" id="{796A49C9-6317-4AF3-8AAB-04C265D7B04A}"/>
              </a:ext>
            </a:extLst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6322085" y="3045540"/>
            <a:ext cx="2508714" cy="1881535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EBE820FF-B659-479A-B23A-654AE0E90DDF}"/>
              </a:ext>
            </a:extLst>
          </p:cNvPr>
          <p:cNvSpPr txBox="1"/>
          <p:nvPr/>
        </p:nvSpPr>
        <p:spPr>
          <a:xfrm>
            <a:off x="3433970" y="2737763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indent="-317500">
              <a:buSzPct val="100000"/>
            </a:pPr>
            <a:r>
              <a:rPr lang="en-US" altLang="zh-TW" sz="1400" dirty="0">
                <a:solidFill>
                  <a:schemeClr val="tx1"/>
                </a:solidFill>
              </a:rPr>
              <a:t>With depth</a:t>
            </a: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80568254-87AE-4313-BC01-03647E790F52}"/>
              </a:ext>
            </a:extLst>
          </p:cNvPr>
          <p:cNvSpPr txBox="1"/>
          <p:nvPr/>
        </p:nvSpPr>
        <p:spPr>
          <a:xfrm>
            <a:off x="6322085" y="2737763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indent="-317500">
              <a:buSzPct val="100000"/>
            </a:pPr>
            <a:r>
              <a:rPr lang="en-US" altLang="zh-TW" sz="1400" dirty="0">
                <a:solidFill>
                  <a:schemeClr val="tx1"/>
                </a:solidFill>
              </a:rPr>
              <a:t>Without depth</a:t>
            </a:r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05A56E5D-F096-4B92-B1AF-69BC50B58DF9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t="1480"/>
          <a:stretch/>
        </p:blipFill>
        <p:spPr>
          <a:xfrm>
            <a:off x="1272209" y="1500809"/>
            <a:ext cx="5890973" cy="1070941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CFF04F5E-65A9-48F1-BB06-97E29088BA2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7018" y="2943712"/>
            <a:ext cx="2508714" cy="1901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372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4234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14234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11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12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  <p:video>
              <p:cMediaNode vol="80000">
                <p:cTn id="17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1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2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>
          <a:extLst>
            <a:ext uri="{FF2B5EF4-FFF2-40B4-BE49-F238E27FC236}">
              <a16:creationId xmlns:a16="http://schemas.microsoft.com/office/drawing/2014/main" id="{A0169B00-F940-706C-02FE-E7B7A6F2ED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5">
            <a:extLst>
              <a:ext uri="{FF2B5EF4-FFF2-40B4-BE49-F238E27FC236}">
                <a16:creationId xmlns:a16="http://schemas.microsoft.com/office/drawing/2014/main" id="{1D871E5A-98A3-B713-5F68-2E409844AA5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2164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r>
              <a:rPr lang="en-US" altLang="zh-TW" dirty="0"/>
              <a:t>Experiment – ablation on spatial conditioning</a:t>
            </a:r>
            <a:br>
              <a:rPr lang="en" altLang="zh-TW" dirty="0"/>
            </a:br>
            <a:endParaRPr lang="en" altLang="zh-TW" dirty="0"/>
          </a:p>
        </p:txBody>
      </p:sp>
      <p:sp>
        <p:nvSpPr>
          <p:cNvPr id="82" name="Google Shape;82;p15">
            <a:extLst>
              <a:ext uri="{FF2B5EF4-FFF2-40B4-BE49-F238E27FC236}">
                <a16:creationId xmlns:a16="http://schemas.microsoft.com/office/drawing/2014/main" id="{101B91CE-2603-169E-5B25-207B3DFF6A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3200" y="923875"/>
            <a:ext cx="8520600" cy="403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indent="-317500">
              <a:buSzPts val="1400"/>
            </a:pPr>
            <a:r>
              <a:rPr lang="en-US" altLang="zh-TW" sz="1400" b="1" dirty="0"/>
              <a:t>Visual result</a:t>
            </a:r>
          </a:p>
          <a:p>
            <a:pPr lvl="1" indent="-317500">
              <a:buSzPct val="100000"/>
            </a:pPr>
            <a:r>
              <a:rPr lang="en-US" altLang="zh-TW" sz="1200" dirty="0">
                <a:solidFill>
                  <a:schemeClr val="tx1"/>
                </a:solidFill>
              </a:rPr>
              <a:t>Model with spatial conditioning outperforms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D32F0E1D-90EA-A0BD-A63A-B8DB02F59B4A}"/>
              </a:ext>
            </a:extLst>
          </p:cNvPr>
          <p:cNvSpPr txBox="1"/>
          <p:nvPr/>
        </p:nvSpPr>
        <p:spPr>
          <a:xfrm>
            <a:off x="4114800" y="2117834"/>
            <a:ext cx="65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kumimoji="1" lang="zh-TW" altLang="en-US" dirty="0"/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444B3A76-4ED1-4F87-97CC-A153C03B4B4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74426"/>
          <a:stretch/>
        </p:blipFill>
        <p:spPr>
          <a:xfrm>
            <a:off x="2732508" y="2303382"/>
            <a:ext cx="2462014" cy="1746881"/>
          </a:xfrm>
          <a:prstGeom prst="rect">
            <a:avLst/>
          </a:prstGeom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24181B83-C337-4831-AD05-9A461F79F9D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62772"/>
          <a:stretch/>
        </p:blipFill>
        <p:spPr>
          <a:xfrm>
            <a:off x="5454209" y="1545022"/>
            <a:ext cx="3284290" cy="1600801"/>
          </a:xfrm>
          <a:prstGeom prst="rect">
            <a:avLst/>
          </a:prstGeom>
        </p:spPr>
      </p:pic>
      <p:pic>
        <p:nvPicPr>
          <p:cNvPr id="15" name="圖片 14">
            <a:extLst>
              <a:ext uri="{FF2B5EF4-FFF2-40B4-BE49-F238E27FC236}">
                <a16:creationId xmlns:a16="http://schemas.microsoft.com/office/drawing/2014/main" id="{7BFA1729-3618-420B-B34D-8CA76A2FE4A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5634" r="37692"/>
          <a:stretch/>
        </p:blipFill>
        <p:spPr>
          <a:xfrm>
            <a:off x="5454274" y="3176823"/>
            <a:ext cx="3284417" cy="1625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40215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>
          <a:extLst>
            <a:ext uri="{FF2B5EF4-FFF2-40B4-BE49-F238E27FC236}">
              <a16:creationId xmlns:a16="http://schemas.microsoft.com/office/drawing/2014/main" id="{A0169B00-F940-706C-02FE-E7B7A6F2ED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5">
            <a:extLst>
              <a:ext uri="{FF2B5EF4-FFF2-40B4-BE49-F238E27FC236}">
                <a16:creationId xmlns:a16="http://schemas.microsoft.com/office/drawing/2014/main" id="{1D871E5A-98A3-B713-5F68-2E409844AA5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2164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r>
              <a:rPr lang="en-US" altLang="zh-TW" dirty="0"/>
              <a:t>Conclusion</a:t>
            </a:r>
            <a:endParaRPr lang="en" altLang="zh-TW" dirty="0"/>
          </a:p>
        </p:txBody>
      </p:sp>
      <p:sp>
        <p:nvSpPr>
          <p:cNvPr id="82" name="Google Shape;82;p15">
            <a:extLst>
              <a:ext uri="{FF2B5EF4-FFF2-40B4-BE49-F238E27FC236}">
                <a16:creationId xmlns:a16="http://schemas.microsoft.com/office/drawing/2014/main" id="{101B91CE-2603-169E-5B25-207B3DFF6A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3200" y="923875"/>
            <a:ext cx="8520600" cy="403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indent="-317500">
              <a:buSzPts val="1400"/>
            </a:pPr>
            <a:r>
              <a:rPr lang="en-US" altLang="zh-TW" sz="1400" b="1" dirty="0"/>
              <a:t>Contribution</a:t>
            </a:r>
          </a:p>
          <a:p>
            <a:pPr lvl="1" indent="-317500">
              <a:buSzPct val="100000"/>
            </a:pPr>
            <a:r>
              <a:rPr lang="en-US" altLang="zh-TW" sz="1200" dirty="0">
                <a:solidFill>
                  <a:schemeClr val="tx1"/>
                </a:solidFill>
              </a:rPr>
              <a:t>4D world modeling</a:t>
            </a:r>
          </a:p>
          <a:p>
            <a:pPr lvl="1" indent="-317500">
              <a:buSzPct val="100000"/>
            </a:pPr>
            <a:r>
              <a:rPr lang="en-US" altLang="zh-TW" sz="1200" dirty="0">
                <a:solidFill>
                  <a:schemeClr val="tx1"/>
                </a:solidFill>
              </a:rPr>
              <a:t>Geometry-aware memory read-and-write mechanism</a:t>
            </a:r>
          </a:p>
          <a:p>
            <a:pPr lvl="1" indent="-317500">
              <a:buSzPct val="100000"/>
            </a:pPr>
            <a:r>
              <a:rPr lang="en-US" altLang="zh-TW" sz="1200" dirty="0">
                <a:solidFill>
                  <a:schemeClr val="tx1"/>
                </a:solidFill>
              </a:rPr>
              <a:t>Token-wise </a:t>
            </a:r>
            <a:r>
              <a:rPr lang="en-US" altLang="zh-TW" sz="1200" dirty="0" err="1">
                <a:solidFill>
                  <a:schemeClr val="tx1"/>
                </a:solidFill>
              </a:rPr>
              <a:t>concating</a:t>
            </a:r>
            <a:r>
              <a:rPr lang="en-US" altLang="zh-TW" sz="1200" dirty="0">
                <a:solidFill>
                  <a:schemeClr val="tx1"/>
                </a:solidFill>
              </a:rPr>
              <a:t> model</a:t>
            </a:r>
          </a:p>
          <a:p>
            <a:pPr lvl="1" indent="-317500">
              <a:buSzPct val="100000"/>
            </a:pPr>
            <a:endParaRPr lang="en-US" altLang="zh-TW" sz="1200" dirty="0">
              <a:solidFill>
                <a:schemeClr val="tx1"/>
              </a:solidFill>
            </a:endParaRPr>
          </a:p>
          <a:p>
            <a:pPr indent="-317500">
              <a:buSzPts val="1400"/>
            </a:pPr>
            <a:r>
              <a:rPr lang="en-US" altLang="zh-TW" sz="1400" b="1" dirty="0"/>
              <a:t>Limitation</a:t>
            </a:r>
          </a:p>
          <a:p>
            <a:pPr lvl="1" indent="-317500">
              <a:buSzPct val="100000"/>
            </a:pPr>
            <a:r>
              <a:rPr lang="en-US" altLang="zh-TW" sz="1200" dirty="0">
                <a:solidFill>
                  <a:schemeClr val="tx1"/>
                </a:solidFill>
              </a:rPr>
              <a:t>Trained on synthetic data, </a:t>
            </a:r>
            <a:br>
              <a:rPr lang="en-US" altLang="zh-TW" sz="1200" dirty="0">
                <a:solidFill>
                  <a:schemeClr val="tx1"/>
                </a:solidFill>
              </a:rPr>
            </a:br>
            <a:r>
              <a:rPr lang="en-US" altLang="zh-TW" sz="1200" dirty="0">
                <a:solidFill>
                  <a:schemeClr val="tx1"/>
                </a:solidFill>
              </a:rPr>
              <a:t>generalization capability to real-world scenarios remains limited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D32F0E1D-90EA-A0BD-A63A-B8DB02F59B4A}"/>
              </a:ext>
            </a:extLst>
          </p:cNvPr>
          <p:cNvSpPr txBox="1"/>
          <p:nvPr/>
        </p:nvSpPr>
        <p:spPr>
          <a:xfrm>
            <a:off x="4114800" y="2117834"/>
            <a:ext cx="65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kumimoji="1" lang="zh-TW" altLang="en-US" dirty="0"/>
          </a:p>
        </p:txBody>
      </p:sp>
      <p:pic>
        <p:nvPicPr>
          <p:cNvPr id="2" name="video2">
            <a:hlinkClick r:id="" action="ppaction://media"/>
            <a:extLst>
              <a:ext uri="{FF2B5EF4-FFF2-40B4-BE49-F238E27FC236}">
                <a16:creationId xmlns:a16="http://schemas.microsoft.com/office/drawing/2014/main" id="{CFBF2F97-6609-47B6-B163-28DD90305B62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798040" y="2681904"/>
            <a:ext cx="3032760" cy="2274571"/>
          </a:xfrm>
          <a:prstGeom prst="rect">
            <a:avLst/>
          </a:prstGeom>
        </p:spPr>
      </p:pic>
      <p:pic>
        <p:nvPicPr>
          <p:cNvPr id="4" name="video15">
            <a:hlinkClick r:id="" action="ppaction://media"/>
            <a:extLst>
              <a:ext uri="{FF2B5EF4-FFF2-40B4-BE49-F238E27FC236}">
                <a16:creationId xmlns:a16="http://schemas.microsoft.com/office/drawing/2014/main" id="{B5E681EA-D8F2-4265-8853-A43639E036F5}"/>
              </a:ext>
            </a:extLst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5798040" y="297229"/>
            <a:ext cx="3032695" cy="22745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71567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919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14234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11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12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6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  <p:video>
              <p:cMediaNode vol="80000">
                <p:cTn id="1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1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2712</TotalTime>
  <Words>367</Words>
  <Application>Microsoft Macintosh PowerPoint</Application>
  <PresentationFormat>如螢幕大小 (16:9)</PresentationFormat>
  <Paragraphs>82</Paragraphs>
  <Slides>11</Slides>
  <Notes>11</Notes>
  <HiddenSlides>0</HiddenSlides>
  <MMClips>7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11</vt:i4>
      </vt:variant>
    </vt:vector>
  </HeadingPairs>
  <TitlesOfParts>
    <vt:vector size="15" baseType="lpstr">
      <vt:lpstr>ui-sans-serif</vt:lpstr>
      <vt:lpstr>Arial</vt:lpstr>
      <vt:lpstr>Calibri</vt:lpstr>
      <vt:lpstr>Simple Light</vt:lpstr>
      <vt:lpstr>DeepVerse: 4D Autoregressive Video Generation as a World Model</vt:lpstr>
      <vt:lpstr>Overview</vt:lpstr>
      <vt:lpstr>Method</vt:lpstr>
      <vt:lpstr>Method</vt:lpstr>
      <vt:lpstr>Dataset Construction</vt:lpstr>
      <vt:lpstr>Experiment – overview of the architecture </vt:lpstr>
      <vt:lpstr>Experiment – two model architecture </vt:lpstr>
      <vt:lpstr>Experiment – comparing two models </vt:lpstr>
      <vt:lpstr>Experiment – ablation on depth </vt:lpstr>
      <vt:lpstr>Experiment – ablation on spatial conditioning </vt:lpstr>
      <vt:lpstr>Conclusion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Vid2World: Crafting Video Diffusion Models to Interactive World Models</dc:title>
  <cp:lastModifiedBy>賴禹衡</cp:lastModifiedBy>
  <cp:revision>81</cp:revision>
  <dcterms:modified xsi:type="dcterms:W3CDTF">2025-09-30T07:03:15Z</dcterms:modified>
</cp:coreProperties>
</file>