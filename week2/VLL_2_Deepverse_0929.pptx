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72" r:id="rId3"/>
    <p:sldId id="268" r:id="rId4"/>
    <p:sldId id="275" r:id="rId5"/>
    <p:sldId id="263" r:id="rId6"/>
    <p:sldId id="262" r:id="rId7"/>
    <p:sldId id="264" r:id="rId8"/>
    <p:sldId id="265" r:id="rId9"/>
    <p:sldId id="266" r:id="rId10"/>
    <p:sldId id="267" r:id="rId1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130"/>
  </p:normalViewPr>
  <p:slideViewPr>
    <p:cSldViewPr snapToGrid="0">
      <p:cViewPr>
        <p:scale>
          <a:sx n="115" d="100"/>
          <a:sy n="115" d="100"/>
        </p:scale>
        <p:origin x="144" y="81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2705e15e71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2705e15e71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579950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TW" sz="1100" dirty="0"/>
              <a:t>from a memory pool (using camera pose and spatial proximity)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750492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004361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62DD33F3-34BF-EDA4-FA32-97731BD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>
            <a:extLst>
              <a:ext uri="{FF2B5EF4-FFF2-40B4-BE49-F238E27FC236}">
                <a16:creationId xmlns:a16="http://schemas.microsoft.com/office/drawing/2014/main" id="{480F0A80-1D4C-78D0-E974-3F904B8DC7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>
            <a:extLst>
              <a:ext uri="{FF2B5EF4-FFF2-40B4-BE49-F238E27FC236}">
                <a16:creationId xmlns:a16="http://schemas.microsoft.com/office/drawing/2014/main" id="{8FFE953A-74F0-F009-AC5D-7D69749389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35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62DD33F3-34BF-EDA4-FA32-97731BD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>
            <a:extLst>
              <a:ext uri="{FF2B5EF4-FFF2-40B4-BE49-F238E27FC236}">
                <a16:creationId xmlns:a16="http://schemas.microsoft.com/office/drawing/2014/main" id="{480F0A80-1D4C-78D0-E974-3F904B8DC7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>
            <a:extLst>
              <a:ext uri="{FF2B5EF4-FFF2-40B4-BE49-F238E27FC236}">
                <a16:creationId xmlns:a16="http://schemas.microsoft.com/office/drawing/2014/main" id="{8FFE953A-74F0-F009-AC5D-7D69749389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371967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62DD33F3-34BF-EDA4-FA32-97731BD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>
            <a:extLst>
              <a:ext uri="{FF2B5EF4-FFF2-40B4-BE49-F238E27FC236}">
                <a16:creationId xmlns:a16="http://schemas.microsoft.com/office/drawing/2014/main" id="{480F0A80-1D4C-78D0-E974-3F904B8DC7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>
            <a:extLst>
              <a:ext uri="{FF2B5EF4-FFF2-40B4-BE49-F238E27FC236}">
                <a16:creationId xmlns:a16="http://schemas.microsoft.com/office/drawing/2014/main" id="{8FFE953A-74F0-F009-AC5D-7D69749389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7583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62DD33F3-34BF-EDA4-FA32-97731BD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>
            <a:extLst>
              <a:ext uri="{FF2B5EF4-FFF2-40B4-BE49-F238E27FC236}">
                <a16:creationId xmlns:a16="http://schemas.microsoft.com/office/drawing/2014/main" id="{480F0A80-1D4C-78D0-E974-3F904B8DC7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>
            <a:extLst>
              <a:ext uri="{FF2B5EF4-FFF2-40B4-BE49-F238E27FC236}">
                <a16:creationId xmlns:a16="http://schemas.microsoft.com/office/drawing/2014/main" id="{8FFE953A-74F0-F009-AC5D-7D69749389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457704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62DD33F3-34BF-EDA4-FA32-97731BD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>
            <a:extLst>
              <a:ext uri="{FF2B5EF4-FFF2-40B4-BE49-F238E27FC236}">
                <a16:creationId xmlns:a16="http://schemas.microsoft.com/office/drawing/2014/main" id="{480F0A80-1D4C-78D0-E974-3F904B8DC7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>
            <a:extLst>
              <a:ext uri="{FF2B5EF4-FFF2-40B4-BE49-F238E27FC236}">
                <a16:creationId xmlns:a16="http://schemas.microsoft.com/office/drawing/2014/main" id="{8FFE953A-74F0-F009-AC5D-7D69749389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811317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62DD33F3-34BF-EDA4-FA32-97731BD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>
            <a:extLst>
              <a:ext uri="{FF2B5EF4-FFF2-40B4-BE49-F238E27FC236}">
                <a16:creationId xmlns:a16="http://schemas.microsoft.com/office/drawing/2014/main" id="{480F0A80-1D4C-78D0-E974-3F904B8DC7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>
            <a:extLst>
              <a:ext uri="{FF2B5EF4-FFF2-40B4-BE49-F238E27FC236}">
                <a16:creationId xmlns:a16="http://schemas.microsoft.com/office/drawing/2014/main" id="{8FFE953A-74F0-F009-AC5D-7D69749389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15245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2921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○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■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○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■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○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■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microsoft.com/office/2007/relationships/media" Target="../media/media3.mp4"/><Relationship Id="rId7" Type="http://schemas.openxmlformats.org/officeDocument/2006/relationships/image" Target="../media/image3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2.xml"/><Relationship Id="rId4" Type="http://schemas.openxmlformats.org/officeDocument/2006/relationships/video" Target="../media/media3.mp4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microsoft.com/office/2007/relationships/media" Target="../media/media5.mp4"/><Relationship Id="rId7" Type="http://schemas.openxmlformats.org/officeDocument/2006/relationships/image" Target="../media/image9.png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6" Type="http://schemas.openxmlformats.org/officeDocument/2006/relationships/notesSlide" Target="../notesSlides/notesSlide8.xml"/><Relationship Id="rId5" Type="http://schemas.openxmlformats.org/officeDocument/2006/relationships/slideLayout" Target="../slideLayouts/slideLayout2.xml"/><Relationship Id="rId10" Type="http://schemas.openxmlformats.org/officeDocument/2006/relationships/image" Target="../media/image12.png"/><Relationship Id="rId4" Type="http://schemas.openxmlformats.org/officeDocument/2006/relationships/video" Target="../media/media5.mp4"/><Relationship Id="rId9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microsoft.com/office/2007/relationships/media" Target="../media/media7.mp4"/><Relationship Id="rId7" Type="http://schemas.openxmlformats.org/officeDocument/2006/relationships/image" Target="../media/image14.png"/><Relationship Id="rId2" Type="http://schemas.openxmlformats.org/officeDocument/2006/relationships/video" Target="../media/media6.mp4"/><Relationship Id="rId1" Type="http://schemas.microsoft.com/office/2007/relationships/media" Target="../media/media6.mp4"/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2.xml"/><Relationship Id="rId4" Type="http://schemas.openxmlformats.org/officeDocument/2006/relationships/video" Target="../media/media7.mp4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0" y="1350075"/>
            <a:ext cx="8520600" cy="202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r>
              <a:rPr lang="en-US" altLang="zh-TW" sz="3000" dirty="0" err="1">
                <a:solidFill>
                  <a:schemeClr val="accent1">
                    <a:lumMod val="50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DeepVerse</a:t>
            </a:r>
            <a:r>
              <a:rPr lang="en" altLang="zh-TW" sz="3000" dirty="0">
                <a:solidFill>
                  <a:schemeClr val="accent1">
                    <a:lumMod val="50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:</a:t>
            </a:r>
            <a:r>
              <a:rPr lang="en" altLang="zh-TW" dirty="0">
                <a:latin typeface="+mj-lt"/>
              </a:rPr>
              <a:t> </a:t>
            </a:r>
            <a:r>
              <a:rPr lang="en" altLang="zh-TW" sz="3000" dirty="0">
                <a:latin typeface="+mj-lt"/>
              </a:rPr>
              <a:t>4D Autoregressive Video Generation as a World Model</a:t>
            </a:r>
            <a:endParaRPr lang="en-US" sz="3000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2458800" y="2912005"/>
            <a:ext cx="4226400" cy="1569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" altLang="zh-TW" sz="1200" dirty="0"/>
              <a:t>arxiv:2506.01103</a:t>
            </a:r>
            <a:endParaRPr lang="en-US" altLang="zh-TW"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TW"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TW"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指導學長：鍾閎凱</a:t>
            </a:r>
            <a:r>
              <a:rPr lang="zh-TW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zh-TW" alt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吳彥翔</a:t>
            </a:r>
            <a:endParaRPr lang="en-US" altLang="zh-TW"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報告人：電機三 賴禹衡</a:t>
            </a:r>
            <a:r>
              <a:rPr lang="en-US" altLang="zh-TW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zh-TW" alt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電機三 陳政年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1;p15">
            <a:extLst>
              <a:ext uri="{FF2B5EF4-FFF2-40B4-BE49-F238E27FC236}">
                <a16:creationId xmlns:a16="http://schemas.microsoft.com/office/drawing/2014/main" id="{4F5BE3B7-A263-41E3-8081-6F289AF9A7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" altLang="zh-TW" dirty="0">
                <a:solidFill>
                  <a:schemeClr val="tx1"/>
                </a:solidFill>
              </a:rPr>
              <a:t>Overview</a:t>
            </a:r>
          </a:p>
        </p:txBody>
      </p:sp>
      <p:sp>
        <p:nvSpPr>
          <p:cNvPr id="17" name="Google Shape;82;p15">
            <a:extLst>
              <a:ext uri="{FF2B5EF4-FFF2-40B4-BE49-F238E27FC236}">
                <a16:creationId xmlns:a16="http://schemas.microsoft.com/office/drawing/2014/main" id="{90FE54AC-8BAC-4DED-A8AF-F7E695D90D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/>
              <a:t>Goal</a:t>
            </a:r>
          </a:p>
          <a:p>
            <a:pPr lvl="1" indent="-317500">
              <a:buSzPct val="100000"/>
            </a:pPr>
            <a:r>
              <a:rPr lang="en" altLang="zh-TW" sz="1200" dirty="0"/>
              <a:t>Build an autoregressive 4D world model that constructs spatiotemporal geometry</a:t>
            </a:r>
          </a:p>
          <a:p>
            <a:pPr lvl="1" indent="-317500">
              <a:buSzPct val="100000"/>
            </a:pPr>
            <a:r>
              <a:rPr lang="en" altLang="zh-TW" sz="1200" dirty="0"/>
              <a:t>enhance prediction accuracy</a:t>
            </a:r>
          </a:p>
          <a:p>
            <a:pPr lvl="1" indent="-317500">
              <a:buSzPct val="100000"/>
            </a:pPr>
            <a:r>
              <a:rPr lang="en" altLang="zh-TW" sz="1200" dirty="0"/>
              <a:t>reduce drifting</a:t>
            </a:r>
          </a:p>
          <a:p>
            <a:pPr lvl="1" indent="-317500">
              <a:buSzPct val="100000"/>
            </a:pPr>
            <a:r>
              <a:rPr lang="en" altLang="zh-TW" sz="1200" dirty="0"/>
              <a:t>address the forgetting issue over extended temporal horizons.</a:t>
            </a:r>
          </a:p>
          <a:p>
            <a:pPr lvl="1" indent="-317500">
              <a:buSzPct val="100000"/>
            </a:pPr>
            <a:endParaRPr lang="en-US" sz="1200" b="1" dirty="0"/>
          </a:p>
          <a:p>
            <a:pPr marL="596900" lvl="1" indent="0">
              <a:buSzPct val="100000"/>
              <a:buNone/>
            </a:pPr>
            <a:endParaRPr lang="en-US" sz="1200" b="1" dirty="0"/>
          </a:p>
          <a:p>
            <a:pPr lvl="1" indent="-317500">
              <a:buSzPct val="100000"/>
              <a:buFont typeface="Calibri" panose="020F0502020204030204" pitchFamily="34" charset="0"/>
              <a:buChar char="○"/>
            </a:pPr>
            <a:endParaRPr lang="en-US" altLang="zh-TW" sz="1200" b="1" dirty="0"/>
          </a:p>
        </p:txBody>
      </p:sp>
      <p:pic>
        <p:nvPicPr>
          <p:cNvPr id="6" name="圖片 5" descr="一張含有 哺乳動物, 卡通, 寫生, 藝術 的圖片&#10;&#10;AI 產生的內容可能不正確。">
            <a:extLst>
              <a:ext uri="{FF2B5EF4-FFF2-40B4-BE49-F238E27FC236}">
                <a16:creationId xmlns:a16="http://schemas.microsoft.com/office/drawing/2014/main" id="{894C5505-9B9B-13B3-8858-2B086B5949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200" y="2348539"/>
            <a:ext cx="2125684" cy="1746331"/>
          </a:xfrm>
          <a:prstGeom prst="rect">
            <a:avLst/>
          </a:prstGeom>
        </p:spPr>
      </p:pic>
      <p:pic>
        <p:nvPicPr>
          <p:cNvPr id="3" name="video18">
            <a:hlinkClick r:id="" action="ppaction://media"/>
            <a:extLst>
              <a:ext uri="{FF2B5EF4-FFF2-40B4-BE49-F238E27FC236}">
                <a16:creationId xmlns:a16="http://schemas.microsoft.com/office/drawing/2014/main" id="{C77CFC83-2DDF-A96F-A3E1-210D41FB7C1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3169016" y="2348539"/>
            <a:ext cx="2516884" cy="1887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528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234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1;p15">
            <a:extLst>
              <a:ext uri="{FF2B5EF4-FFF2-40B4-BE49-F238E27FC236}">
                <a16:creationId xmlns:a16="http://schemas.microsoft.com/office/drawing/2014/main" id="{4F5BE3B7-A263-41E3-8081-6F289AF9A7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" altLang="zh-TW" dirty="0">
                <a:solidFill>
                  <a:schemeClr val="tx1"/>
                </a:solidFill>
              </a:rPr>
              <a:t>Method</a:t>
            </a:r>
          </a:p>
        </p:txBody>
      </p:sp>
      <p:sp>
        <p:nvSpPr>
          <p:cNvPr id="17" name="Google Shape;82;p15">
            <a:extLst>
              <a:ext uri="{FF2B5EF4-FFF2-40B4-BE49-F238E27FC236}">
                <a16:creationId xmlns:a16="http://schemas.microsoft.com/office/drawing/2014/main" id="{90FE54AC-8BAC-4DED-A8AF-F7E695D90D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/>
              <a:t>4D Representation</a:t>
            </a:r>
            <a:endParaRPr lang="en-US" altLang="zh-TW" sz="1400" b="1" dirty="0">
              <a:solidFill>
                <a:schemeClr val="accent1">
                  <a:lumMod val="50000"/>
                </a:schemeClr>
              </a:solidFill>
            </a:endParaRPr>
          </a:p>
          <a:p>
            <a:pPr lvl="1" indent="-317500">
              <a:buSzPct val="100000"/>
            </a:pPr>
            <a:r>
              <a:rPr lang="en-US" sz="1400" dirty="0"/>
              <a:t>decompose 3D coordinates into depth and viewpoint components (using Aether, ICCV 25)</a:t>
            </a:r>
          </a:p>
          <a:p>
            <a:pPr marL="596900" lvl="1" indent="0">
              <a:buSzPct val="100000"/>
              <a:buNone/>
            </a:pPr>
            <a:endParaRPr lang="en-US" sz="1400" dirty="0"/>
          </a:p>
          <a:p>
            <a:pPr lvl="0" indent="-317500">
              <a:buSzPts val="1400"/>
            </a:pPr>
            <a:r>
              <a:rPr lang="en-US" sz="1400" b="1" dirty="0"/>
              <a:t>General Control</a:t>
            </a:r>
          </a:p>
          <a:p>
            <a:pPr lvl="1" indent="-317500">
              <a:buSzPts val="1400"/>
            </a:pPr>
            <a:r>
              <a:rPr lang="en" altLang="zh-TW" sz="1400" dirty="0"/>
              <a:t>Use text as control to keep pre-trained strengths and easily map to new controllers.</a:t>
            </a:r>
          </a:p>
          <a:p>
            <a:pPr lvl="1" indent="-317500">
              <a:buSzPts val="1400"/>
            </a:pPr>
            <a:endParaRPr lang="en" altLang="zh-TW" sz="1400" dirty="0"/>
          </a:p>
          <a:p>
            <a:pPr lvl="0" indent="-317500">
              <a:buSzPts val="1400"/>
            </a:pPr>
            <a:r>
              <a:rPr lang="en-US" altLang="zh-TW" sz="1400" b="1" dirty="0"/>
              <a:t>Spatial Condition</a:t>
            </a:r>
          </a:p>
          <a:p>
            <a:pPr lvl="1" indent="-317500">
              <a:buSzPts val="1400"/>
            </a:pPr>
            <a:r>
              <a:rPr lang="en" altLang="zh-TW" sz="1400" dirty="0"/>
              <a:t>Retrieve the most spatially relevant historical state and encode it as the spatial condition for prediction.</a:t>
            </a:r>
          </a:p>
          <a:p>
            <a:pPr lvl="1" indent="-317500">
              <a:buSzPts val="1400"/>
            </a:pPr>
            <a:endParaRPr lang="en-US" altLang="zh-TW" sz="1200" b="1" dirty="0"/>
          </a:p>
          <a:p>
            <a:pPr marL="596900" lvl="1" indent="0">
              <a:buSzPts val="1400"/>
              <a:buNone/>
            </a:pPr>
            <a:endParaRPr lang="en" altLang="zh-TW" sz="1400" dirty="0"/>
          </a:p>
          <a:p>
            <a:pPr marL="596900" lvl="1" indent="0">
              <a:buSzPts val="1400"/>
              <a:buNone/>
            </a:pPr>
            <a:endParaRPr lang="en" altLang="zh-TW" sz="1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DEB9B41-A760-1657-FD0D-E675F7B08D6E}"/>
              </a:ext>
            </a:extLst>
          </p:cNvPr>
          <p:cNvSpPr txBox="1"/>
          <p:nvPr/>
        </p:nvSpPr>
        <p:spPr>
          <a:xfrm>
            <a:off x="2785770" y="395801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b="0" i="0" u="none" strike="noStrike" dirty="0">
                <a:solidFill>
                  <a:srgbClr val="000000"/>
                </a:solidFill>
                <a:effectLst/>
                <a:latin typeface="ui-sans-serif"/>
              </a:rPr>
              <a:t>“The character ran down the road, </a:t>
            </a:r>
          </a:p>
          <a:p>
            <a:r>
              <a:rPr lang="en" altLang="zh-TW" b="0" i="0" u="none" strike="noStrike" dirty="0">
                <a:solidFill>
                  <a:srgbClr val="000000"/>
                </a:solidFill>
                <a:effectLst/>
                <a:latin typeface="ui-sans-serif"/>
              </a:rPr>
              <a:t>moving steadily forward.”</a:t>
            </a:r>
            <a:endParaRPr lang="zh-TW" altLang="en-US" dirty="0"/>
          </a:p>
        </p:txBody>
      </p:sp>
      <p:sp>
        <p:nvSpPr>
          <p:cNvPr id="9" name="Google Shape;72;p14">
            <a:extLst>
              <a:ext uri="{FF2B5EF4-FFF2-40B4-BE49-F238E27FC236}">
                <a16:creationId xmlns:a16="http://schemas.microsoft.com/office/drawing/2014/main" id="{92D6AEF7-A0BB-B2AE-B431-EE7BED538A1B}"/>
              </a:ext>
            </a:extLst>
          </p:cNvPr>
          <p:cNvSpPr/>
          <p:nvPr/>
        </p:nvSpPr>
        <p:spPr>
          <a:xfrm>
            <a:off x="5357646" y="4219625"/>
            <a:ext cx="278700" cy="2127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video3_w">
            <a:hlinkClick r:id="" action="ppaction://media"/>
            <a:extLst>
              <a:ext uri="{FF2B5EF4-FFF2-40B4-BE49-F238E27FC236}">
                <a16:creationId xmlns:a16="http://schemas.microsoft.com/office/drawing/2014/main" id="{04AEAEB8-9A57-5AE8-14F4-2EDE0656F74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61814" y="3213377"/>
            <a:ext cx="2363852" cy="1772889"/>
          </a:xfrm>
          <a:prstGeom prst="rect">
            <a:avLst/>
          </a:prstGeom>
        </p:spPr>
      </p:pic>
      <p:pic>
        <p:nvPicPr>
          <p:cNvPr id="6" name="video4">
            <a:hlinkClick r:id="" action="ppaction://media"/>
            <a:extLst>
              <a:ext uri="{FF2B5EF4-FFF2-40B4-BE49-F238E27FC236}">
                <a16:creationId xmlns:a16="http://schemas.microsoft.com/office/drawing/2014/main" id="{8F4E7D07-92E9-FEF8-0FEB-794213C85FBB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805748" y="3213377"/>
            <a:ext cx="2363852" cy="1772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726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234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423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Dataset</a:t>
            </a:r>
            <a:r>
              <a:rPr kumimoji="1" lang="zh-TW" altLang="en-US" dirty="0"/>
              <a:t> </a:t>
            </a:r>
            <a:r>
              <a:rPr kumimoji="1" lang="en-US" altLang="zh-TW" dirty="0"/>
              <a:t>Construction</a:t>
            </a:r>
            <a:endParaRPr kumimoji="1"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" altLang="zh-TW" sz="1400" b="1" dirty="0"/>
              <a:t>Collection &amp; Synthesis</a:t>
            </a:r>
          </a:p>
          <a:p>
            <a:pPr lvl="1"/>
            <a:r>
              <a:rPr lang="en" altLang="zh-TW" sz="1400" dirty="0"/>
              <a:t>10M gameplay frames</a:t>
            </a:r>
          </a:p>
          <a:p>
            <a:pPr lvl="1"/>
            <a:r>
              <a:rPr lang="en" altLang="zh-TW" sz="1400" dirty="0"/>
              <a:t> synthetic data with camera parameters, depth maps</a:t>
            </a:r>
          </a:p>
          <a:p>
            <a:pPr marL="622300" lvl="1" indent="0">
              <a:buNone/>
            </a:pPr>
            <a:endParaRPr lang="en" altLang="zh-TW" sz="1200" b="1" dirty="0"/>
          </a:p>
          <a:p>
            <a:r>
              <a:rPr lang="en" altLang="zh-TW" sz="1400" b="1" dirty="0"/>
              <a:t>Filtering</a:t>
            </a:r>
            <a:endParaRPr lang="en" altLang="zh-TW" sz="1400" dirty="0"/>
          </a:p>
          <a:p>
            <a:pPr lvl="1"/>
            <a:r>
              <a:rPr lang="en" altLang="zh-TW" sz="1400" dirty="0"/>
              <a:t> Remove clips with excessive rotation/rapid transitions or minimal movement</a:t>
            </a:r>
          </a:p>
          <a:p>
            <a:pPr lvl="1"/>
            <a:endParaRPr lang="en" altLang="zh-TW" sz="1200" b="1" dirty="0"/>
          </a:p>
          <a:p>
            <a:r>
              <a:rPr lang="en" altLang="zh-TW" sz="1400" b="1" dirty="0"/>
              <a:t>Annotation</a:t>
            </a:r>
          </a:p>
          <a:p>
            <a:pPr lvl="1"/>
            <a:r>
              <a:rPr lang="en" altLang="zh-TW" sz="1400" dirty="0"/>
              <a:t>construct textual</a:t>
            </a:r>
            <a:r>
              <a:rPr lang="zh-TW" altLang="en-US" sz="1400" dirty="0"/>
              <a:t> </a:t>
            </a:r>
            <a:r>
              <a:rPr lang="en" altLang="zh-TW" sz="1400" dirty="0"/>
              <a:t>descriptions directly from camera movements/rotations</a:t>
            </a:r>
          </a:p>
          <a:p>
            <a:pPr lvl="1"/>
            <a:r>
              <a:rPr lang="en" altLang="zh-TW" sz="1400" dirty="0"/>
              <a:t>Qwen-VL generates first-person descriptions for viewpoint transitions or third-person narratives for character actions and movements</a:t>
            </a:r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dirty="0"/>
          </a:p>
          <a:p>
            <a:pPr lvl="1"/>
            <a:endParaRPr lang="en" altLang="zh-TW" sz="1200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DA76371-64CE-ECD9-36BF-7E4F76769E7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 smtClean="0"/>
              <a:t>4</a:t>
            </a:fld>
            <a:endParaRPr lang="zh-TW" altLang="en-US"/>
          </a:p>
        </p:txBody>
      </p:sp>
      <p:pic>
        <p:nvPicPr>
          <p:cNvPr id="6" name="圖片 5" descr="一張含有 文字, 螢幕擷取畫面, 平面設計, 圖形 的圖片&#10;&#10;AI 產生的內容可能不正確。">
            <a:extLst>
              <a:ext uri="{FF2B5EF4-FFF2-40B4-BE49-F238E27FC236}">
                <a16:creationId xmlns:a16="http://schemas.microsoft.com/office/drawing/2014/main" id="{8ACD9766-94E1-D15D-38A1-6FFD3037A9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0131" y="3389842"/>
            <a:ext cx="2616742" cy="1659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002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A0169B00-F940-706C-02FE-E7B7A6F2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>
            <a:extLst>
              <a:ext uri="{FF2B5EF4-FFF2-40B4-BE49-F238E27FC236}">
                <a16:creationId xmlns:a16="http://schemas.microsoft.com/office/drawing/2014/main" id="{1D871E5A-98A3-B713-5F68-2E409844A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Experiment – overview of the architecture</a:t>
            </a:r>
            <a:br>
              <a:rPr lang="en" altLang="zh-TW" dirty="0"/>
            </a:br>
            <a:endParaRPr lang="en" altLang="zh-TW" dirty="0"/>
          </a:p>
        </p:txBody>
      </p:sp>
      <p:sp>
        <p:nvSpPr>
          <p:cNvPr id="82" name="Google Shape;82;p15">
            <a:extLst>
              <a:ext uri="{FF2B5EF4-FFF2-40B4-BE49-F238E27FC236}">
                <a16:creationId xmlns:a16="http://schemas.microsoft.com/office/drawing/2014/main" id="{101B91CE-2603-169E-5B25-207B3DFF6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-US" altLang="zh-TW" sz="1400" b="1" dirty="0"/>
              <a:t>Final model architecture</a:t>
            </a:r>
            <a:endParaRPr lang="en-US" altLang="zh-TW" sz="12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32F0E1D-90EA-A0BD-A63A-B8DB02F59B4A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CA8DE3A-1B8F-4C70-93F6-CD0187A19D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8483" y="1613026"/>
            <a:ext cx="4927033" cy="307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888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A0169B00-F940-706C-02FE-E7B7A6F2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>
            <a:extLst>
              <a:ext uri="{FF2B5EF4-FFF2-40B4-BE49-F238E27FC236}">
                <a16:creationId xmlns:a16="http://schemas.microsoft.com/office/drawing/2014/main" id="{1D871E5A-98A3-B713-5F68-2E409844A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Experiment – two model architecture</a:t>
            </a:r>
            <a:br>
              <a:rPr lang="en" altLang="zh-TW" dirty="0"/>
            </a:br>
            <a:endParaRPr lang="en" altLang="zh-TW" dirty="0"/>
          </a:p>
        </p:txBody>
      </p:sp>
      <p:sp>
        <p:nvSpPr>
          <p:cNvPr id="82" name="Google Shape;82;p15">
            <a:extLst>
              <a:ext uri="{FF2B5EF4-FFF2-40B4-BE49-F238E27FC236}">
                <a16:creationId xmlns:a16="http://schemas.microsoft.com/office/drawing/2014/main" id="{101B91CE-2603-169E-5B25-207B3DFF6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/>
              <a:t>Model 1</a:t>
            </a:r>
          </a:p>
          <a:p>
            <a:pPr lvl="1" indent="-317500">
              <a:buSzPct val="100000"/>
            </a:pPr>
            <a:r>
              <a:rPr lang="en-US" altLang="zh-TW" sz="1200" dirty="0" err="1">
                <a:solidFill>
                  <a:schemeClr val="accent1">
                    <a:lumMod val="50000"/>
                  </a:schemeClr>
                </a:solidFill>
              </a:rPr>
              <a:t>Concat</a:t>
            </a:r>
            <a:r>
              <a:rPr lang="en-US" altLang="zh-TW" sz="1200" dirty="0"/>
              <a:t> current latent with history latent -&gt; </a:t>
            </a:r>
            <a:r>
              <a:rPr lang="en-US" altLang="zh-TW" sz="1200" dirty="0" err="1">
                <a:solidFill>
                  <a:schemeClr val="accent1">
                    <a:lumMod val="50000"/>
                  </a:schemeClr>
                </a:solidFill>
              </a:rPr>
              <a:t>Patchify</a:t>
            </a: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en-US" altLang="zh-TW" sz="1200" dirty="0">
                <a:solidFill>
                  <a:schemeClr val="tx1"/>
                </a:solidFill>
              </a:rPr>
              <a:t>the whole temporal sequence </a:t>
            </a:r>
            <a:r>
              <a:rPr lang="en-US" altLang="zh-TW" sz="1200" dirty="0"/>
              <a:t>-&gt; </a:t>
            </a:r>
            <a:r>
              <a:rPr lang="en-US" altLang="zh-TW" sz="1200" dirty="0">
                <a:solidFill>
                  <a:schemeClr val="tx1"/>
                </a:solidFill>
              </a:rPr>
              <a:t>Input token</a:t>
            </a:r>
          </a:p>
          <a:p>
            <a:pPr marL="596900" lvl="1" indent="0">
              <a:buSzPct val="100000"/>
              <a:buNone/>
            </a:pPr>
            <a:endParaRPr lang="en-US" altLang="zh-TW" sz="1200" dirty="0"/>
          </a:p>
          <a:p>
            <a:pPr indent="-317500">
              <a:buSzPts val="1400"/>
            </a:pPr>
            <a:r>
              <a:rPr lang="en-US" altLang="zh-TW" sz="1400" b="1" dirty="0"/>
              <a:t>Model 2</a:t>
            </a:r>
          </a:p>
          <a:p>
            <a:pPr lvl="1" indent="-317500">
              <a:buSzPct val="100000"/>
            </a:pPr>
            <a:r>
              <a:rPr lang="en-US" altLang="zh-TW" sz="1200" dirty="0" err="1">
                <a:solidFill>
                  <a:schemeClr val="accent1">
                    <a:lumMod val="50000"/>
                  </a:schemeClr>
                </a:solidFill>
              </a:rPr>
              <a:t>Patchify</a:t>
            </a:r>
            <a:r>
              <a:rPr lang="en-US" altLang="zh-TW" sz="1200" dirty="0"/>
              <a:t> each latent independently from temporal sequence -&gt;</a:t>
            </a:r>
            <a:r>
              <a:rPr lang="zh-TW" altLang="en-US" sz="1200" dirty="0"/>
              <a:t> </a:t>
            </a: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</a:rPr>
              <a:t>3D VAE </a:t>
            </a:r>
            <a:r>
              <a:rPr lang="en-US" altLang="zh-TW" sz="1200" dirty="0">
                <a:solidFill>
                  <a:schemeClr val="tx1"/>
                </a:solidFill>
              </a:rPr>
              <a:t>to compress temporal feature </a:t>
            </a:r>
            <a:r>
              <a:rPr lang="en-US" altLang="zh-TW" sz="1200" dirty="0"/>
              <a:t>-&gt; Input token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32F0E1D-90EA-A0BD-A63A-B8DB02F59B4A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DF0A3D8-295F-456F-B31D-A4586958E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614" y="2333278"/>
            <a:ext cx="3813957" cy="250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9007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A0169B00-F940-706C-02FE-E7B7A6F2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>
            <a:extLst>
              <a:ext uri="{FF2B5EF4-FFF2-40B4-BE49-F238E27FC236}">
                <a16:creationId xmlns:a16="http://schemas.microsoft.com/office/drawing/2014/main" id="{1D871E5A-98A3-B713-5F68-2E409844A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Experiment – comparing two models</a:t>
            </a:r>
            <a:br>
              <a:rPr lang="en" altLang="zh-TW" dirty="0"/>
            </a:br>
            <a:endParaRPr lang="en" altLang="zh-TW" dirty="0"/>
          </a:p>
        </p:txBody>
      </p:sp>
      <p:sp>
        <p:nvSpPr>
          <p:cNvPr id="82" name="Google Shape;82;p15">
            <a:extLst>
              <a:ext uri="{FF2B5EF4-FFF2-40B4-BE49-F238E27FC236}">
                <a16:creationId xmlns:a16="http://schemas.microsoft.com/office/drawing/2014/main" id="{101B91CE-2603-169E-5B25-207B3DFF6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 err="1"/>
              <a:t>VBench</a:t>
            </a:r>
            <a:r>
              <a:rPr lang="en-US" altLang="zh-TW" sz="1400" b="1" dirty="0"/>
              <a:t> result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Token-wise model (model 2) outperforms</a:t>
            </a:r>
          </a:p>
          <a:p>
            <a:pPr lvl="1" indent="-317500">
              <a:buSzPct val="100000"/>
            </a:pPr>
            <a:endParaRPr lang="en-US" altLang="zh-TW" sz="1200" dirty="0">
              <a:solidFill>
                <a:schemeClr val="tx1"/>
              </a:solidFill>
            </a:endParaRP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Channel-wise model (model 1) exacerbates error accumulation, particularly under extended scenarios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32F0E1D-90EA-A0BD-A63A-B8DB02F59B4A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A75BB4D-3681-4B99-93B9-BE4343E02B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117834"/>
            <a:ext cx="3531973" cy="2730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4379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A0169B00-F940-706C-02FE-E7B7A6F2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>
            <a:extLst>
              <a:ext uri="{FF2B5EF4-FFF2-40B4-BE49-F238E27FC236}">
                <a16:creationId xmlns:a16="http://schemas.microsoft.com/office/drawing/2014/main" id="{1D871E5A-98A3-B713-5F68-2E409844A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Experiment – ablation on depth</a:t>
            </a:r>
            <a:br>
              <a:rPr lang="en" altLang="zh-TW" dirty="0"/>
            </a:br>
            <a:endParaRPr lang="en" altLang="zh-TW" dirty="0"/>
          </a:p>
        </p:txBody>
      </p:sp>
      <p:sp>
        <p:nvSpPr>
          <p:cNvPr id="82" name="Google Shape;82;p15">
            <a:extLst>
              <a:ext uri="{FF2B5EF4-FFF2-40B4-BE49-F238E27FC236}">
                <a16:creationId xmlns:a16="http://schemas.microsoft.com/office/drawing/2014/main" id="{101B91CE-2603-169E-5B25-207B3DFF6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/>
              <a:t>FVD, </a:t>
            </a:r>
            <a:r>
              <a:rPr lang="en-US" altLang="zh-TW" sz="1400" b="1" dirty="0" err="1"/>
              <a:t>Vbench</a:t>
            </a:r>
            <a:r>
              <a:rPr lang="en-US" altLang="zh-TW" sz="1400" b="1" dirty="0"/>
              <a:t>, and visual result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Model with depth outperforms, alleviating the drift phenomenon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32F0E1D-90EA-A0BD-A63A-B8DB02F59B4A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5" name="video1_w">
            <a:hlinkClick r:id="" action="ppaction://media"/>
            <a:extLst>
              <a:ext uri="{FF2B5EF4-FFF2-40B4-BE49-F238E27FC236}">
                <a16:creationId xmlns:a16="http://schemas.microsoft.com/office/drawing/2014/main" id="{676D9FDD-C096-44CE-B6F4-BA40CBE7B86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433971" y="3045540"/>
            <a:ext cx="2508713" cy="1881535"/>
          </a:xfrm>
          <a:prstGeom prst="rect">
            <a:avLst/>
          </a:prstGeom>
        </p:spPr>
      </p:pic>
      <p:pic>
        <p:nvPicPr>
          <p:cNvPr id="6" name="video1_wo">
            <a:hlinkClick r:id="" action="ppaction://media"/>
            <a:extLst>
              <a:ext uri="{FF2B5EF4-FFF2-40B4-BE49-F238E27FC236}">
                <a16:creationId xmlns:a16="http://schemas.microsoft.com/office/drawing/2014/main" id="{796A49C9-6317-4AF3-8AAB-04C265D7B04A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322085" y="3045540"/>
            <a:ext cx="2508714" cy="1881535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EBE820FF-B659-479A-B23A-654AE0E90DDF}"/>
              </a:ext>
            </a:extLst>
          </p:cNvPr>
          <p:cNvSpPr txBox="1"/>
          <p:nvPr/>
        </p:nvSpPr>
        <p:spPr>
          <a:xfrm>
            <a:off x="3433970" y="2737763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indent="-317500">
              <a:buSzPct val="100000"/>
            </a:pPr>
            <a:r>
              <a:rPr lang="en-US" altLang="zh-TW" sz="1400" dirty="0">
                <a:solidFill>
                  <a:schemeClr val="tx1"/>
                </a:solidFill>
              </a:rPr>
              <a:t>With depth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0568254-87AE-4313-BC01-03647E790F52}"/>
              </a:ext>
            </a:extLst>
          </p:cNvPr>
          <p:cNvSpPr txBox="1"/>
          <p:nvPr/>
        </p:nvSpPr>
        <p:spPr>
          <a:xfrm>
            <a:off x="6322085" y="2737763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indent="-317500">
              <a:buSzPct val="100000"/>
            </a:pPr>
            <a:r>
              <a:rPr lang="en-US" altLang="zh-TW" sz="1400" dirty="0">
                <a:solidFill>
                  <a:schemeClr val="tx1"/>
                </a:solidFill>
              </a:rPr>
              <a:t>Without depth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05A56E5D-F096-4B92-B1AF-69BC50B58DF9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t="1480"/>
          <a:stretch/>
        </p:blipFill>
        <p:spPr>
          <a:xfrm>
            <a:off x="1272209" y="1500809"/>
            <a:ext cx="5890973" cy="1070941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CFF04F5E-65A9-48F1-BB06-97E29088BA2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7018" y="2943712"/>
            <a:ext cx="2508714" cy="1901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7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23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423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A0169B00-F940-706C-02FE-E7B7A6F2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>
            <a:extLst>
              <a:ext uri="{FF2B5EF4-FFF2-40B4-BE49-F238E27FC236}">
                <a16:creationId xmlns:a16="http://schemas.microsoft.com/office/drawing/2014/main" id="{1D871E5A-98A3-B713-5F68-2E409844A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Experiment – ablation on spatial conditioning</a:t>
            </a:r>
            <a:br>
              <a:rPr lang="en" altLang="zh-TW" dirty="0"/>
            </a:br>
            <a:endParaRPr lang="en" altLang="zh-TW" dirty="0"/>
          </a:p>
        </p:txBody>
      </p:sp>
      <p:sp>
        <p:nvSpPr>
          <p:cNvPr id="82" name="Google Shape;82;p15">
            <a:extLst>
              <a:ext uri="{FF2B5EF4-FFF2-40B4-BE49-F238E27FC236}">
                <a16:creationId xmlns:a16="http://schemas.microsoft.com/office/drawing/2014/main" id="{101B91CE-2603-169E-5B25-207B3DFF6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/>
              <a:t>Visual result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Model with spatial conditioning outperforms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32F0E1D-90EA-A0BD-A63A-B8DB02F59B4A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444B3A76-4ED1-4F87-97CC-A153C03B4B4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74426"/>
          <a:stretch/>
        </p:blipFill>
        <p:spPr>
          <a:xfrm>
            <a:off x="2732508" y="2303382"/>
            <a:ext cx="2462014" cy="1746881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24181B83-C337-4831-AD05-9A461F79F9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2772"/>
          <a:stretch/>
        </p:blipFill>
        <p:spPr>
          <a:xfrm>
            <a:off x="5454209" y="1545022"/>
            <a:ext cx="3284290" cy="1600801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7BFA1729-3618-420B-B34D-8CA76A2FE4A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5634" r="37692"/>
          <a:stretch/>
        </p:blipFill>
        <p:spPr>
          <a:xfrm>
            <a:off x="5454274" y="3176823"/>
            <a:ext cx="3284417" cy="1625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0215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A0169B00-F940-706C-02FE-E7B7A6F2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>
            <a:extLst>
              <a:ext uri="{FF2B5EF4-FFF2-40B4-BE49-F238E27FC236}">
                <a16:creationId xmlns:a16="http://schemas.microsoft.com/office/drawing/2014/main" id="{1D871E5A-98A3-B713-5F68-2E409844A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Conclusion</a:t>
            </a:r>
            <a:endParaRPr lang="en" altLang="zh-TW" dirty="0"/>
          </a:p>
        </p:txBody>
      </p:sp>
      <p:sp>
        <p:nvSpPr>
          <p:cNvPr id="82" name="Google Shape;82;p15">
            <a:extLst>
              <a:ext uri="{FF2B5EF4-FFF2-40B4-BE49-F238E27FC236}">
                <a16:creationId xmlns:a16="http://schemas.microsoft.com/office/drawing/2014/main" id="{101B91CE-2603-169E-5B25-207B3DFF6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/>
              <a:t>Contribution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4D world modeling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Geometry-aware memory read-and-write mechanism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Token-wise </a:t>
            </a:r>
            <a:r>
              <a:rPr lang="en-US" altLang="zh-TW" sz="1200" dirty="0" err="1">
                <a:solidFill>
                  <a:schemeClr val="tx1"/>
                </a:solidFill>
              </a:rPr>
              <a:t>concating</a:t>
            </a:r>
            <a:r>
              <a:rPr lang="en-US" altLang="zh-TW" sz="1200" dirty="0">
                <a:solidFill>
                  <a:schemeClr val="tx1"/>
                </a:solidFill>
              </a:rPr>
              <a:t> model</a:t>
            </a:r>
          </a:p>
          <a:p>
            <a:pPr lvl="1" indent="-317500">
              <a:buSzPct val="100000"/>
            </a:pPr>
            <a:endParaRPr lang="en-US" altLang="zh-TW" sz="1200" dirty="0">
              <a:solidFill>
                <a:schemeClr val="tx1"/>
              </a:solidFill>
            </a:endParaRPr>
          </a:p>
          <a:p>
            <a:pPr indent="-317500">
              <a:buSzPts val="1400"/>
            </a:pPr>
            <a:r>
              <a:rPr lang="en-US" altLang="zh-TW" sz="1400" b="1" dirty="0"/>
              <a:t>Limitation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Trained on synthetic data, </a:t>
            </a:r>
            <a:br>
              <a:rPr lang="en-US" altLang="zh-TW" sz="1200" dirty="0">
                <a:solidFill>
                  <a:schemeClr val="tx1"/>
                </a:solidFill>
              </a:rPr>
            </a:br>
            <a:r>
              <a:rPr lang="en-US" altLang="zh-TW" sz="1200" dirty="0">
                <a:solidFill>
                  <a:schemeClr val="tx1"/>
                </a:solidFill>
              </a:rPr>
              <a:t>generalization capability to real-world scenarios remains limited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32F0E1D-90EA-A0BD-A63A-B8DB02F59B4A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2" name="video2">
            <a:hlinkClick r:id="" action="ppaction://media"/>
            <a:extLst>
              <a:ext uri="{FF2B5EF4-FFF2-40B4-BE49-F238E27FC236}">
                <a16:creationId xmlns:a16="http://schemas.microsoft.com/office/drawing/2014/main" id="{CFBF2F97-6609-47B6-B163-28DD90305B6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798040" y="2681904"/>
            <a:ext cx="3032760" cy="2274571"/>
          </a:xfrm>
          <a:prstGeom prst="rect">
            <a:avLst/>
          </a:prstGeom>
        </p:spPr>
      </p:pic>
      <p:pic>
        <p:nvPicPr>
          <p:cNvPr id="4" name="video15">
            <a:hlinkClick r:id="" action="ppaction://media"/>
            <a:extLst>
              <a:ext uri="{FF2B5EF4-FFF2-40B4-BE49-F238E27FC236}">
                <a16:creationId xmlns:a16="http://schemas.microsoft.com/office/drawing/2014/main" id="{B5E681EA-D8F2-4265-8853-A43639E036F5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798040" y="297229"/>
            <a:ext cx="3032695" cy="2274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156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919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423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2739</TotalTime>
  <Words>343</Words>
  <Application>Microsoft Macintosh PowerPoint</Application>
  <PresentationFormat>如螢幕大小 (16:9)</PresentationFormat>
  <Paragraphs>77</Paragraphs>
  <Slides>10</Slides>
  <Notes>10</Notes>
  <HiddenSlides>0</HiddenSlides>
  <MMClips>7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4" baseType="lpstr">
      <vt:lpstr>ui-sans-serif</vt:lpstr>
      <vt:lpstr>Arial</vt:lpstr>
      <vt:lpstr>Calibri</vt:lpstr>
      <vt:lpstr>Simple Light</vt:lpstr>
      <vt:lpstr>DeepVerse: 4D Autoregressive Video Generation as a World Model</vt:lpstr>
      <vt:lpstr>Overview</vt:lpstr>
      <vt:lpstr>Method</vt:lpstr>
      <vt:lpstr>Dataset Construction</vt:lpstr>
      <vt:lpstr>Experiment – overview of the architecture </vt:lpstr>
      <vt:lpstr>Experiment – two model architecture </vt:lpstr>
      <vt:lpstr>Experiment – comparing two models </vt:lpstr>
      <vt:lpstr>Experiment – ablation on depth </vt:lpstr>
      <vt:lpstr>Experiment – ablation on spatial conditioning 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Vid2World: Crafting Video Diffusion Models to Interactive World Models</dc:title>
  <cp:lastModifiedBy>賴禹衡</cp:lastModifiedBy>
  <cp:revision>82</cp:revision>
  <dcterms:modified xsi:type="dcterms:W3CDTF">2025-10-06T04:53:45Z</dcterms:modified>
</cp:coreProperties>
</file>