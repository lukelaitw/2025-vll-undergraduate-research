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84" r:id="rId3"/>
    <p:sldId id="288" r:id="rId4"/>
    <p:sldId id="286" r:id="rId5"/>
    <p:sldId id="290" r:id="rId6"/>
    <p:sldId id="291" r:id="rId7"/>
    <p:sldId id="292" r:id="rId8"/>
    <p:sldId id="293" r:id="rId9"/>
    <p:sldId id="294" r:id="rId10"/>
    <p:sldId id="295" r:id="rId11"/>
    <p:sldId id="296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年 松" initials="年" lastIdx="1" clrIdx="0">
    <p:extLst>
      <p:ext uri="{19B8F6BF-5375-455C-9EA6-DF929625EA0E}">
        <p15:presenceInfo xmlns:p15="http://schemas.microsoft.com/office/powerpoint/2012/main" userId="fe8ded9e810998a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28" autoAdjust="0"/>
    <p:restoredTop sz="94657"/>
  </p:normalViewPr>
  <p:slideViewPr>
    <p:cSldViewPr snapToGrid="0">
      <p:cViewPr varScale="1">
        <p:scale>
          <a:sx n="94" d="100"/>
          <a:sy n="94" d="100"/>
        </p:scale>
        <p:origin x="23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B01F6F-EDDE-E842-A1D2-813517CF47B4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0113E-94D9-6E40-9986-93BB30B9720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60708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8817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uniformly sampled the frequency and dura-</a:t>
            </a:r>
          </a:p>
          <a:p>
            <a:r>
              <a:rPr lang="en" altLang="zh-TW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tion</a:t>
            </a:r>
            <a: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each action and randomly combined them to enhance action generalization (e.g., pressing two keys simultaneously or</a:t>
            </a:r>
          </a:p>
          <a:p>
            <a: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combining keyboard and mouse operations).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3699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jump command influences multiple subsequent frames</a:t>
            </a:r>
            <a:b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Repeat: make dimension same as latent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zh-TW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2561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9DD57-C73C-C262-EDF5-8D44732D0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B66D2E8-7AD0-455E-6526-AE8FEC76E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528B81-E967-B03A-7478-0ED1A38B1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jump command influences multiple subsequent frames</a:t>
            </a:r>
            <a:b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Repeat: make dimension same as latent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zh-TW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90852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097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3816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40084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2340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12112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0377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A9853F-9B42-567F-B1B1-8AF2434F8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68628B-2A60-EAFD-B984-900E929DD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8D7D47-3912-F783-57E3-0AC9AD421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CD9DA2-CF3E-A1F6-D832-6FD910B73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1D187A-B37B-EE70-D489-8F6908BAB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14573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4AFEAB-BD7A-A729-982B-E09ED492E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B3FD5C-E626-3B47-4075-AE70B0A1E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DDC4FD-C877-887D-BF84-C347EB0E4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EC5537-3DBF-F73C-52C4-D813C06B7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A92F04-63E3-AA7A-7466-67E7901C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78030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9B82D6-954F-E6C3-9664-6C35A8B76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A83AE2B-1D41-F4A0-AB10-F424CD284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1C13F5-C2BA-E448-5AF8-A9787C25B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1DBEA9-CEB4-096F-CA64-A5A3DEF78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9BA8F1-B80A-5AA4-BF62-05C44F1E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7242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6D1C12-D772-3608-77FB-043E3FF7B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645FBC-0B76-4B23-B4BE-3002B94FC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BA4B98-5B50-2271-BB86-F4DC336AF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7780351-75E6-B866-FC1E-B9D56780C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8B321E7-59D1-62A2-443A-6D06C2383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90FCE4-57C2-38C0-792E-17157D750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39723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CC9866-98A0-A592-E7DD-413A14C18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88E684-8B52-2165-B3F8-204FF6A7F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6D10DD6-3D00-24FC-F702-416B1CC61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C4DC67-5CF4-B80B-7EA1-9B0244017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7F8BADF-7EEB-DD1C-DF98-F62F2A119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BF4DE82-1B67-61CD-218B-F83B5739B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326C6EB-E7B0-C731-B2AC-F69BE3622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6C9C24-3B45-2209-6409-6B7A739C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98718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ED0D82-7D7E-D584-F830-A2749C7BE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F73AC10-03AC-FA12-5C25-63F3CD5C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2BC06E4-AD22-9F96-4BBD-C269F14F9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FF94572-97E2-2B18-F623-1DE44696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5493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3B5255B-A24D-3958-D0B7-EB90BA84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A0CCB54-8B0D-DE45-DF6A-BB1F4243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0E86EA-6B6F-EAB3-C476-22C855A72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8383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FD573C-E9EA-991E-5580-D6567718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9E9A77-CF9E-3962-241E-F47C4F65A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B2B4005-3919-9785-FDFB-2953468A0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0FDF93-C1D0-E2F2-8B34-E883A1D9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1DDD28-9C8B-C042-09F7-6353C1AA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E26582E-FBE7-1DAC-4E6D-59A32C57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315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2E59AD-2080-50E8-4D20-816C3A82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D12A37E-71C8-41BB-4B54-265D6816F5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B58B66D-EA91-D0CB-2D10-3AAD948C4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A15EC1-31AF-1434-51C9-FF58ED535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FDB9FA-DD36-8849-E6B5-1F5AB4C84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42997E-2F8F-AB7A-1B9B-15607D94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35322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72C5B7-9F7F-1162-D3AA-8CAC5E172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9DCD953-7CA3-4DB3-66A4-07881E089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A5390F-830E-8BFF-DD9D-5BB9FD155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BBE400-5E05-DBCD-EA67-0CBADAC66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4843D0-EFD2-1930-72DA-91E4329A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5848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D620DF5-DE1D-A769-7738-5EEC0B61B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98421BF-4B81-2156-784A-39F7FFC8F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B9B658-F7E6-08BE-E79F-241C94294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8B809-EC84-AA44-970B-7890D055606C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1BE8D2-196D-3A55-EF4A-F816EB41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596BA4-9CF0-14F3-8EF4-64F13242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42333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2885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7600" y="1231833"/>
            <a:ext cx="11360800" cy="5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2pPr>
            <a:lvl3pPr marL="1828754" lvl="2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3pPr>
            <a:lvl4pPr marL="2438339" lvl="3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333"/>
            </a:lvl4pPr>
            <a:lvl5pPr marL="3047924" lvl="4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5pPr>
            <a:lvl6pPr marL="3657509" lvl="5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6pPr>
            <a:lvl7pPr marL="4267093" lvl="6" indent="-389457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333"/>
            </a:lvl7pPr>
            <a:lvl8pPr marL="4876678" lvl="7" indent="-389457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8pPr>
            <a:lvl9pPr marL="5486263" lvl="8" indent="-389457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1868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0B532BD-636E-B399-C0F0-B04FE6E86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C7AC752-5C92-C7A9-C13F-B298768DA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8CA9EF-BEDF-9AB3-A4E7-091833200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18B809-EC84-AA44-970B-7890D055606C}" type="datetimeFigureOut">
              <a:rPr kumimoji="1" lang="zh-TW" altLang="en-US" smtClean="0"/>
              <a:t>2025/11/18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44485D-E3EC-04A0-935B-6F4E1E6C8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44E86D-5CC2-0D9F-5031-63AB35E0D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EBA67-1CE4-3642-BC12-45630B5D3B3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8976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video" Target="../media/media2.mp4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07/relationships/media" Target="../media/media4.mp4"/><Relationship Id="rId7" Type="http://schemas.openxmlformats.org/officeDocument/2006/relationships/image" Target="../media/image17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video" Target="../media/media4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7AE5AC3-95AB-AE60-D73A-5B8A0EC91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260" y="964504"/>
            <a:ext cx="12066740" cy="2545459"/>
          </a:xfrm>
        </p:spPr>
        <p:txBody>
          <a:bodyPr>
            <a:normAutofit/>
          </a:bodyPr>
          <a:lstStyle/>
          <a:p>
            <a:r>
              <a:rPr lang="en-US" altLang="zh-TW" sz="40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GameFactory</a:t>
            </a:r>
            <a:r>
              <a:rPr lang="en-US" altLang="zh-TW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  <a:br>
              <a:rPr lang="en-US" altLang="zh-TW" sz="4000" b="1" dirty="0"/>
            </a:br>
            <a:r>
              <a:rPr lang="en-US" altLang="zh-TW" sz="4000" b="1" dirty="0"/>
              <a:t>Creating New Games with Generative Interactive Videos</a:t>
            </a:r>
            <a:endParaRPr lang="zh-TW" altLang="en-US" sz="4000" b="1" dirty="0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6865C43A-EF67-7C4D-0573-F355E9C11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66750"/>
            <a:ext cx="9144000" cy="1655762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</a:rPr>
              <a:t>ICCV 2025 Highlight, arXiv:2501.08325</a:t>
            </a:r>
            <a:endParaRPr kumimoji="1" lang="en-US" altLang="zh-TW" dirty="0">
              <a:solidFill>
                <a:srgbClr val="000000"/>
              </a:solidFill>
            </a:endParaRPr>
          </a:p>
          <a:p>
            <a:r>
              <a:rPr kumimoji="1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指導學長：鍾閎凱／吳彥翔</a:t>
            </a:r>
          </a:p>
          <a:p>
            <a:r>
              <a:rPr kumimoji="1"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報告人：電機三 賴禹衡／電機三 陳政年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43465BE-BF08-64E0-7A36-935290ABF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509963"/>
            <a:ext cx="9408517" cy="67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Overview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06927" y="883084"/>
            <a:ext cx="8326294" cy="59749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Goal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3" dirty="0"/>
              <a:t>A framework for </a:t>
            </a:r>
            <a:r>
              <a:rPr lang="en-US" altLang="zh-TW" sz="2133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action-controlled</a:t>
            </a:r>
            <a:r>
              <a:rPr lang="en-US" altLang="zh-TW" sz="2133" dirty="0"/>
              <a:t> and </a:t>
            </a:r>
            <a:r>
              <a:rPr lang="en-US" altLang="zh-TW" sz="2133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scene-generalizable</a:t>
            </a:r>
            <a:r>
              <a:rPr lang="en-US" altLang="zh-TW" sz="2133" dirty="0"/>
              <a:t> game video generation</a:t>
            </a:r>
            <a:endParaRPr lang="en" altLang="zh-TW" sz="2133" dirty="0"/>
          </a:p>
          <a:p>
            <a:pPr>
              <a:lnSpc>
                <a:spcPct val="100000"/>
              </a:lnSpc>
              <a:buSzPct val="100000"/>
            </a:pPr>
            <a:endParaRPr lang="en" altLang="zh-TW" sz="2400" b="1" dirty="0"/>
          </a:p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Previous works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Lacks Scene Generalization: </a:t>
            </a:r>
            <a:r>
              <a:rPr lang="en" altLang="zh-TW" sz="2130" dirty="0"/>
              <a:t>generates specific game, limiting the potential for developing new games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Biased Action: </a:t>
            </a:r>
            <a:r>
              <a:rPr lang="en" altLang="zh-TW" sz="2130" dirty="0"/>
              <a:t>collecting real human gameplay action, overlooking rare action combinations, such as moving backward</a:t>
            </a:r>
            <a:endParaRPr lang="en" altLang="zh-TW" sz="213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829713" lvl="1" indent="0">
              <a:lnSpc>
                <a:spcPct val="100000"/>
              </a:lnSpc>
              <a:buSzPct val="100000"/>
              <a:buNone/>
            </a:pPr>
            <a:endParaRPr lang="en" altLang="zh-TW" sz="2000" dirty="0"/>
          </a:p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Methods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Using video generation models trained on open-domain videos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Disentangle the learning of game style and action control</a:t>
            </a:r>
          </a:p>
        </p:txBody>
      </p:sp>
      <p:pic>
        <p:nvPicPr>
          <p:cNvPr id="6" name="圖片 5" descr="一張含有 文字, 螢幕擷取畫面, 卡通, 字型 的圖片&#10;&#10;AI 產生的內容可能不正確。">
            <a:extLst>
              <a:ext uri="{FF2B5EF4-FFF2-40B4-BE49-F238E27FC236}">
                <a16:creationId xmlns:a16="http://schemas.microsoft.com/office/drawing/2014/main" id="{F1E91046-91FE-84CA-8768-655EB032FE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0044" y="288567"/>
            <a:ext cx="4951956" cy="2387999"/>
          </a:xfrm>
          <a:prstGeom prst="rect">
            <a:avLst/>
          </a:prstGeom>
        </p:spPr>
      </p:pic>
      <p:pic>
        <p:nvPicPr>
          <p:cNvPr id="4" name="a">
            <a:hlinkClick r:id="" action="ppaction://media"/>
            <a:extLst>
              <a:ext uri="{FF2B5EF4-FFF2-40B4-BE49-F238E27FC236}">
                <a16:creationId xmlns:a16="http://schemas.microsoft.com/office/drawing/2014/main" id="{0FA2E490-4AE4-752F-E71E-3414E6249B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017929" y="2673875"/>
            <a:ext cx="3959909" cy="2177950"/>
          </a:xfrm>
          <a:prstGeom prst="rect">
            <a:avLst/>
          </a:prstGeom>
        </p:spPr>
      </p:pic>
      <p:pic>
        <p:nvPicPr>
          <p:cNvPr id="5" name="ul">
            <a:hlinkClick r:id="" action="ppaction://media"/>
            <a:extLst>
              <a:ext uri="{FF2B5EF4-FFF2-40B4-BE49-F238E27FC236}">
                <a16:creationId xmlns:a16="http://schemas.microsoft.com/office/drawing/2014/main" id="{B923656E-EB9C-6E15-9034-6D0C7108C44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017929" y="4851825"/>
            <a:ext cx="3959907" cy="217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1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1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altLang="zh-TW" b="1" dirty="0"/>
              <a:t>GF-Minecraft </a:t>
            </a:r>
            <a:r>
              <a:rPr kumimoji="1" lang="en-US" altLang="zh-TW" b="1" dirty="0"/>
              <a:t>Dataset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Collection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Collection 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Collecting 70 hours of Minecraft gameplay video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Capturing videos across different scenes, weather conditions, and times of day. 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Unbiased Action</a:t>
            </a:r>
            <a:endParaRPr lang="en" altLang="zh-TW" sz="1863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Rare action combinations, such as moving backward, jumping in place, or standing still with mouse movements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Randomly combined each action (e.g., pressing two keys simultaneously)</a:t>
            </a:r>
          </a:p>
          <a:p>
            <a:pPr marL="829713" lvl="1" indent="0">
              <a:lnSpc>
                <a:spcPct val="100000"/>
              </a:lnSpc>
              <a:buSzPct val="100000"/>
              <a:buNone/>
            </a:pPr>
            <a:endParaRPr lang="en" altLang="zh-TW" sz="2130" dirty="0"/>
          </a:p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Annotation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000" dirty="0"/>
              <a:t>Captions annotated by a multimodal LLM, </a:t>
            </a:r>
            <a:r>
              <a:rPr lang="en" altLang="zh-TW" sz="2000" dirty="0" err="1"/>
              <a:t>MiniCPM</a:t>
            </a:r>
            <a:r>
              <a:rPr lang="en" altLang="zh-TW" sz="2000" dirty="0"/>
              <a:t>-V</a:t>
            </a:r>
            <a:endParaRPr lang="en" altLang="zh-TW" sz="2130" dirty="0"/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</p:txBody>
      </p:sp>
    </p:spTree>
    <p:extLst>
      <p:ext uri="{BB962C8B-B14F-4D97-AF65-F5344CB8AC3E}">
        <p14:creationId xmlns:p14="http://schemas.microsoft.com/office/powerpoint/2010/main" val="3260606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Methods </a:t>
            </a:r>
            <a:r>
              <a:rPr lang="en-US" altLang="zh-TW" b="1" dirty="0"/>
              <a:t>–</a:t>
            </a:r>
            <a:r>
              <a:rPr kumimoji="1" lang="en-US" altLang="zh-TW" b="1" dirty="0"/>
              <a:t> Action Controlled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7186899" cy="533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Action Control Module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3" dirty="0"/>
              <a:t>Input action includes both continuous mouse movement and discrete keyboard action </a:t>
            </a:r>
          </a:p>
          <a:p>
            <a:pPr lvl="1">
              <a:lnSpc>
                <a:spcPct val="100000"/>
              </a:lnSpc>
              <a:buSzPct val="100000"/>
            </a:pPr>
            <a:endParaRPr lang="en-US" altLang="zh-TW" sz="2133" b="1" dirty="0"/>
          </a:p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Grouping Actions with a Sliding Windows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3" dirty="0"/>
              <a:t>Avoid mismatch between action and latent</a:t>
            </a:r>
          </a:p>
          <a:p>
            <a:pPr lvl="1">
              <a:lnSpc>
                <a:spcPct val="100000"/>
              </a:lnSpc>
              <a:buSzPct val="100000"/>
            </a:pPr>
            <a:endParaRPr lang="en-US" altLang="zh-TW" sz="2133" dirty="0"/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3" dirty="0"/>
              <a:t>Captures delayed action effects</a:t>
            </a:r>
          </a:p>
          <a:p>
            <a:pPr lvl="1">
              <a:lnSpc>
                <a:spcPct val="100000"/>
              </a:lnSpc>
              <a:buSzPct val="100000"/>
            </a:pPr>
            <a:endParaRPr lang="en-US" altLang="zh-TW" sz="2133" b="1" dirty="0"/>
          </a:p>
          <a:p>
            <a:pPr lvl="1">
              <a:lnSpc>
                <a:spcPct val="100000"/>
              </a:lnSpc>
              <a:buSzPct val="100000"/>
            </a:pPr>
            <a:endParaRPr lang="en" altLang="zh-TW" dirty="0"/>
          </a:p>
          <a:p>
            <a:pPr lvl="1">
              <a:lnSpc>
                <a:spcPct val="100000"/>
              </a:lnSpc>
              <a:buSzPct val="100000"/>
            </a:pPr>
            <a:endParaRPr lang="en-US" altLang="zh-TW" sz="2133" b="1" dirty="0"/>
          </a:p>
        </p:txBody>
      </p:sp>
      <p:pic>
        <p:nvPicPr>
          <p:cNvPr id="5" name="圖片 4" descr="一張含有 文字, 圖表, 螢幕擷取畫面, 方案 的圖片&#10;&#10;AI 產生的內容可能不正確。">
            <a:extLst>
              <a:ext uri="{FF2B5EF4-FFF2-40B4-BE49-F238E27FC236}">
                <a16:creationId xmlns:a16="http://schemas.microsoft.com/office/drawing/2014/main" id="{F596BC48-1604-8212-0813-1D5DE21AA1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86" t="1363" r="1431" b="-2530"/>
          <a:stretch>
            <a:fillRect/>
          </a:stretch>
        </p:blipFill>
        <p:spPr>
          <a:xfrm>
            <a:off x="7320732" y="0"/>
            <a:ext cx="4271374" cy="3429000"/>
          </a:xfrm>
          <a:prstGeom prst="rect">
            <a:avLst/>
          </a:prstGeom>
        </p:spPr>
      </p:pic>
      <p:pic>
        <p:nvPicPr>
          <p:cNvPr id="7" name="圖片 6" descr="一張含有 文字, 螢幕擷取畫面, 數字, 計算機 的圖片&#10;&#10;AI 產生的內容可能不正確。">
            <a:extLst>
              <a:ext uri="{FF2B5EF4-FFF2-40B4-BE49-F238E27FC236}">
                <a16:creationId xmlns:a16="http://schemas.microsoft.com/office/drawing/2014/main" id="{07904A72-36BA-6482-2A5A-2F76BDE136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51"/>
          <a:stretch>
            <a:fillRect/>
          </a:stretch>
        </p:blipFill>
        <p:spPr>
          <a:xfrm>
            <a:off x="7285817" y="3322748"/>
            <a:ext cx="4035775" cy="353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98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8FB2B-F922-B0BC-842F-6D48728E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255310-B39C-342A-6531-1646B410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Methods </a:t>
            </a:r>
            <a:r>
              <a:rPr lang="en-US" altLang="zh-TW" b="1" dirty="0"/>
              <a:t>–</a:t>
            </a:r>
            <a:r>
              <a:rPr kumimoji="1" lang="en-US" altLang="zh-TW" b="1" dirty="0"/>
              <a:t> Autoregressive Generation</a:t>
            </a:r>
            <a:endParaRPr kumimoji="1"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8A470A50-E91D-3697-2158-A32A878F002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0" y="876956"/>
                <a:ext cx="8866945" cy="5293658"/>
              </a:xfrm>
            </p:spPr>
            <p:txBody>
              <a:bodyPr>
                <a:normAutofit/>
              </a:bodyPr>
              <a:lstStyle/>
              <a:p>
                <a:pPr marL="829713" lvl="1" indent="0">
                  <a:lnSpc>
                    <a:spcPct val="100000"/>
                  </a:lnSpc>
                  <a:buSzPct val="100000"/>
                  <a:buNone/>
                </a:pPr>
                <a:endParaRPr lang="en-US" altLang="zh-TW" sz="2133" b="1" dirty="0"/>
              </a:p>
              <a:p>
                <a:pPr>
                  <a:lnSpc>
                    <a:spcPct val="100000"/>
                  </a:lnSpc>
                  <a:buSzPct val="100000"/>
                </a:pPr>
                <a:r>
                  <a:rPr lang="en" altLang="zh-TW" sz="2400" b="1" dirty="0"/>
                  <a:t>Inputs</a:t>
                </a:r>
                <a:endParaRPr lang="en-US" altLang="zh-TW" sz="2000" dirty="0"/>
              </a:p>
              <a:p>
                <a:pPr lvl="1">
                  <a:lnSpc>
                    <a:spcPct val="100000"/>
                  </a:lnSpc>
                  <a:buSzPct val="1000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altLang="zh-TW" sz="2000" dirty="0"/>
                  <a:t>		: Clean history context </a:t>
                </a:r>
                <a:r>
                  <a:rPr lang="en-US" altLang="zh-TW" sz="2000" dirty="0" err="1"/>
                  <a:t>latents</a:t>
                </a:r>
                <a:r>
                  <a:rPr lang="en-US" altLang="zh-TW" sz="2000" dirty="0"/>
                  <a:t> and their actions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altLang="zh-TW" sz="2000" dirty="0"/>
                  <a:t>		: Noisy current latent chunk and its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actions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zh-TW" altLang="en-US" sz="2000" dirty="0"/>
                  <a:t>𝑝 	</a:t>
                </a:r>
                <a:r>
                  <a:rPr lang="en-US" altLang="zh-TW" sz="2000" dirty="0"/>
                  <a:t>	: Text prompt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zh-TW" altLang="en-US" sz="2000" dirty="0"/>
                  <a:t>𝑡 	</a:t>
                </a:r>
                <a:r>
                  <a:rPr lang="en-US" altLang="zh-TW" sz="2000" dirty="0"/>
                  <a:t>	: Timestep embedding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endParaRPr lang="en" altLang="zh-TW" dirty="0"/>
              </a:p>
              <a:p>
                <a:pPr>
                  <a:lnSpc>
                    <a:spcPct val="100000"/>
                  </a:lnSpc>
                  <a:buSzPct val="100000"/>
                </a:pPr>
                <a:r>
                  <a:rPr lang="en" altLang="zh-TW" sz="2400" b="1" dirty="0"/>
                  <a:t>Outputs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en-US" altLang="zh-TW" sz="2000" dirty="0">
                    <a:solidFill>
                      <a:prstClr val="black"/>
                    </a:solidFill>
                  </a:rPr>
                  <a:t>Generate</a:t>
                </a:r>
                <a:r>
                  <a:rPr lang="zh-TW" altLang="en-US" sz="2000" dirty="0">
                    <a:solidFill>
                      <a:prstClr val="black"/>
                    </a:solidFill>
                  </a:rPr>
                  <a:t> </a:t>
                </a:r>
                <a:r>
                  <a:rPr lang="en-US" altLang="zh-TW" sz="2000" dirty="0">
                    <a:solidFill>
                      <a:prstClr val="black"/>
                    </a:solidFill>
                  </a:rPr>
                  <a:t>video frames autoregressively</a:t>
                </a:r>
                <a:endParaRPr lang="en" altLang="zh-TW" sz="2000" dirty="0">
                  <a:solidFill>
                    <a:prstClr val="black"/>
                  </a:solidFill>
                </a:endParaRPr>
              </a:p>
              <a:p>
                <a:pPr lvl="1">
                  <a:lnSpc>
                    <a:spcPct val="100000"/>
                  </a:lnSpc>
                  <a:buSzPct val="100000"/>
                </a:pPr>
                <a:endParaRPr lang="en-US" altLang="zh-TW" sz="2133" b="1" dirty="0"/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8A470A50-E91D-3697-2158-A32A878F00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876956"/>
                <a:ext cx="8866945" cy="529365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73EB0F2F-5605-9F2A-5696-84750737E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943" y="3916443"/>
            <a:ext cx="6383851" cy="284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12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Methods – Multiphase Training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49601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Goal 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Finetuning with single-game dataset </a:t>
            </a:r>
            <a:r>
              <a:rPr lang="en-US" altLang="zh-TW" sz="2130" dirty="0"/>
              <a:t>degrades scene generalizability from pretrained model</a:t>
            </a:r>
            <a:endParaRPr lang="en" altLang="zh-TW" sz="213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Disentangle the learning of </a:t>
            </a:r>
            <a:r>
              <a:rPr lang="en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game style</a:t>
            </a:r>
            <a:r>
              <a:rPr lang="en" altLang="zh-TW" sz="213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" altLang="zh-TW" sz="2130" dirty="0"/>
              <a:t>and </a:t>
            </a:r>
            <a:r>
              <a:rPr lang="en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action control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Training phases</a:t>
            </a:r>
            <a:endParaRPr lang="en" altLang="zh-TW" sz="1863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#0 : Model pretraining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#1 : Tune </a:t>
            </a:r>
            <a:r>
              <a:rPr lang="en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LoRA as domain adapter</a:t>
            </a:r>
            <a:r>
              <a:rPr lang="en" altLang="zh-TW" sz="2130" dirty="0"/>
              <a:t> to fit game videos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#2 : Tune action control module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dirty="0"/>
              <a:t>#3</a:t>
            </a:r>
            <a:r>
              <a:rPr lang="zh-TW" altLang="en-US" sz="2130" dirty="0"/>
              <a:t> </a:t>
            </a:r>
            <a:r>
              <a:rPr lang="en-US" altLang="zh-TW" sz="2130" dirty="0"/>
              <a:t>:</a:t>
            </a:r>
            <a:r>
              <a:rPr lang="zh-TW" altLang="en-US" sz="2130" dirty="0"/>
              <a:t> </a:t>
            </a:r>
            <a:r>
              <a:rPr lang="en-US" altLang="zh-TW" sz="2130" dirty="0"/>
              <a:t>Inference on open domain</a:t>
            </a:r>
            <a:endParaRPr lang="en" altLang="zh-TW" sz="213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3589873-58DB-48D4-8EC7-61D4CC9E4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726" y="4606503"/>
            <a:ext cx="7881463" cy="196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1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 – Action Controllability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Discrete keyboard inputs 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Cross-attention outperforms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dirty="0"/>
              <a:t>Category-based signal benefits from similarity based cross-attention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Continuous mouse movement</a:t>
            </a:r>
            <a:endParaRPr lang="en" altLang="zh-TW" sz="1863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Concatenation outperforms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dirty="0"/>
              <a:t>Cross-attention tends to reduce the influence of magnitude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3446E18-1BFC-401B-A4D8-DAC6EE8D0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79" y="5258518"/>
            <a:ext cx="10545842" cy="131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66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 – Scene Generalization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Action following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dirty="0"/>
              <a:t>Cam, Flow</a:t>
            </a:r>
            <a:endParaRPr lang="en" altLang="zh-TW" sz="2130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Multi-phase outperforms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2130" dirty="0"/>
          </a:p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Scene generation</a:t>
            </a:r>
            <a:endParaRPr lang="en" altLang="zh-TW" sz="1863" dirty="0"/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dirty="0"/>
              <a:t>Dom, CLIP, FID, FVD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Multi-phase outperforms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4E200F4-1CB1-4242-AC08-321229863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317" y="5185954"/>
            <a:ext cx="6496336" cy="138347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1BD4D23-99EE-4372-BB5B-8898F70FF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837" y="1231833"/>
            <a:ext cx="6605296" cy="377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106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 – GF-Minecraft Dataset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Compare with VPT 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dirty="0"/>
              <a:t>VPT dataset is with human player’s bias</a:t>
            </a:r>
            <a:endParaRPr lang="en" altLang="zh-TW" sz="2130" dirty="0"/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GF-Minecraft</a:t>
            </a:r>
            <a:r>
              <a:rPr lang="en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outperforms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8ECF6EA-8F62-441D-BABA-848C963C4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494" y="1326107"/>
            <a:ext cx="5364653" cy="94029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0AA20AB-8C74-4D1B-8BD7-8C2B66FE0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20" y="5343679"/>
            <a:ext cx="5387159" cy="109550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36B4791-C6D4-43CA-9FC3-2072336FC2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487" y="2656025"/>
            <a:ext cx="5387159" cy="250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22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Experiment – Long Video Generation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2400" b="1" dirty="0"/>
              <a:t>Compare different scope for computing loss 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Computing only predicted frames’ loss</a:t>
            </a:r>
            <a:r>
              <a:rPr lang="en" altLang="zh-TW" sz="213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outperforms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34B363F-149F-4AE9-A640-6478A0E6D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28" y="2428863"/>
            <a:ext cx="6896373" cy="147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563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1">
            <a:hlinkClick r:id="" action="ppaction://media"/>
            <a:extLst>
              <a:ext uri="{FF2B5EF4-FFF2-40B4-BE49-F238E27FC236}">
                <a16:creationId xmlns:a16="http://schemas.microsoft.com/office/drawing/2014/main" id="{9E571003-EF07-41F4-AB23-41E2DB9880F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535522" y="4058384"/>
            <a:ext cx="4565540" cy="2511047"/>
          </a:xfrm>
          <a:prstGeom prst="rect">
            <a:avLst/>
          </a:prstGeom>
        </p:spPr>
      </p:pic>
      <p:pic>
        <p:nvPicPr>
          <p:cNvPr id="7" name="13">
            <a:hlinkClick r:id="" action="ppaction://media"/>
            <a:extLst>
              <a:ext uri="{FF2B5EF4-FFF2-40B4-BE49-F238E27FC236}">
                <a16:creationId xmlns:a16="http://schemas.microsoft.com/office/drawing/2014/main" id="{B7037428-49DF-4FFF-9642-C032DA73531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630163" y="4058383"/>
            <a:ext cx="4565540" cy="251104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Conclusion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347" y="1231833"/>
            <a:ext cx="11360800" cy="5376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Action-control and scene-generalizable video generation</a:t>
            </a:r>
          </a:p>
          <a:p>
            <a:pPr>
              <a:lnSpc>
                <a:spcPct val="100000"/>
              </a:lnSpc>
              <a:buSzPct val="100000"/>
            </a:pPr>
            <a:endParaRPr lang="en-US" altLang="zh-TW" sz="2400" b="1" dirty="0"/>
          </a:p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Domain adapter and multi-phase disentangling training strategy</a:t>
            </a:r>
          </a:p>
          <a:p>
            <a:pPr>
              <a:lnSpc>
                <a:spcPct val="100000"/>
              </a:lnSpc>
              <a:buSzPct val="100000"/>
            </a:pPr>
            <a:endParaRPr lang="en-US" altLang="zh-TW" sz="2400" b="1" dirty="0"/>
          </a:p>
          <a:p>
            <a:pPr>
              <a:lnSpc>
                <a:spcPct val="100000"/>
              </a:lnSpc>
              <a:buSzPct val="100000"/>
            </a:pPr>
            <a:r>
              <a:rPr lang="en-US" altLang="zh-TW" sz="2400" b="1" dirty="0"/>
              <a:t>An unbiased action-annotated game video dataset GF-Minecraft</a:t>
            </a:r>
            <a:endParaRPr lang="en" altLang="zh-TW" sz="2130" b="1" dirty="0"/>
          </a:p>
        </p:txBody>
      </p:sp>
    </p:spTree>
    <p:extLst>
      <p:ext uri="{BB962C8B-B14F-4D97-AF65-F5344CB8AC3E}">
        <p14:creationId xmlns:p14="http://schemas.microsoft.com/office/powerpoint/2010/main" val="371485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13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483</Words>
  <Application>Microsoft Macintosh PowerPoint</Application>
  <PresentationFormat>寬螢幕</PresentationFormat>
  <Paragraphs>93</Paragraphs>
  <Slides>11</Slides>
  <Notes>10</Notes>
  <HiddenSlides>0</HiddenSlides>
  <MMClips>4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微軟正黑體</vt:lpstr>
      <vt:lpstr>Aptos</vt:lpstr>
      <vt:lpstr>Aptos Display</vt:lpstr>
      <vt:lpstr>Arial</vt:lpstr>
      <vt:lpstr>Cambria Math</vt:lpstr>
      <vt:lpstr>Office 佈景主題</vt:lpstr>
      <vt:lpstr>GameFactory: Creating New Games with Generative Interactive Videos</vt:lpstr>
      <vt:lpstr>Overview</vt:lpstr>
      <vt:lpstr>GF-Minecraft Dataset Collection</vt:lpstr>
      <vt:lpstr>Methods – Action Controlled</vt:lpstr>
      <vt:lpstr>Methods – Autoregressive Generation</vt:lpstr>
      <vt:lpstr>Methods – Multiphase Training</vt:lpstr>
      <vt:lpstr>Experiment – Action Controllability</vt:lpstr>
      <vt:lpstr>Experiment – Scene Generalization</vt:lpstr>
      <vt:lpstr>Experiment – GF-Minecraft Dataset</vt:lpstr>
      <vt:lpstr>Experiment – Long Video Generation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GameFactory: Creating New Games with Generative Interactive Videos</dc:title>
  <dc:creator>賴禹衡</dc:creator>
  <cp:lastModifiedBy>賴禹衡</cp:lastModifiedBy>
  <cp:revision>49</cp:revision>
  <dcterms:created xsi:type="dcterms:W3CDTF">2025-11-03T01:45:49Z</dcterms:created>
  <dcterms:modified xsi:type="dcterms:W3CDTF">2025-11-18T06:35:34Z</dcterms:modified>
</cp:coreProperties>
</file>