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7" r:id="rId2"/>
    <p:sldId id="284" r:id="rId3"/>
    <p:sldId id="288" r:id="rId4"/>
    <p:sldId id="286" r:id="rId5"/>
    <p:sldId id="290" r:id="rId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0758"/>
    <p:restoredTop sz="94703"/>
  </p:normalViewPr>
  <p:slideViewPr>
    <p:cSldViewPr snapToGrid="0">
      <p:cViewPr>
        <p:scale>
          <a:sx n="93" d="100"/>
          <a:sy n="93" d="100"/>
        </p:scale>
        <p:origin x="208" y="3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0B01F6F-EDDE-E842-A1D2-813517CF47B4}" type="datetimeFigureOut">
              <a:rPr kumimoji="1" lang="zh-TW" altLang="en-US" smtClean="0"/>
              <a:t>2025/11/3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00113E-94D9-6E40-9986-93BB30B97204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607082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881744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 uniformly sampled the frequency and dura-</a:t>
            </a:r>
          </a:p>
          <a:p>
            <a:r>
              <a:rPr lang="en" altLang="zh-TW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tion</a:t>
            </a:r>
            <a:r>
              <a:rPr lang="en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each action and randomly combined them to enhance action generalization (e.g., pressing two keys simultaneously or</a:t>
            </a:r>
          </a:p>
          <a:p>
            <a:r>
              <a:rPr lang="en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combining keyboard and mouse operations).</a:t>
            </a:r>
          </a:p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436995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jump command influences multiple subsequent frames</a:t>
            </a:r>
            <a:br>
              <a:rPr lang="en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Repeat: make dimension same as latent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" altLang="zh-TW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025619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49DD57-C73C-C262-EDF5-8D44732D0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B66D2E8-7AD0-455E-6526-AE8FEC76EF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E528B81-E967-B03A-7478-0ED1A38B1B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jump command influences multiple subsequent frames</a:t>
            </a:r>
            <a:br>
              <a:rPr lang="en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Repeat: make dimension same as latent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" altLang="zh-TW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2908524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4A9853F-9B42-567F-B1B1-8AF2434F89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168628B-2A60-EAFD-B984-900E929DD6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D8D7D47-3912-F783-57E3-0AC9AD4218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18B809-EC84-AA44-970B-7890D055606C}" type="datetimeFigureOut">
              <a:rPr kumimoji="1" lang="zh-TW" altLang="en-US" smtClean="0"/>
              <a:t>2025/11/3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9CD9DA2-CF3E-A1F6-D832-6FD910B73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A1D187A-B37B-EE70-D489-8F6908BAB7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EBA67-1CE4-3642-BC12-45630B5D3B3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1145732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54AFEAB-BD7A-A729-982B-E09ED492E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DB3FD5C-E626-3B47-4075-AE70B0A1E7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BDDC4FD-C877-887D-BF84-C347EB0E43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18B809-EC84-AA44-970B-7890D055606C}" type="datetimeFigureOut">
              <a:rPr kumimoji="1" lang="zh-TW" altLang="en-US" smtClean="0"/>
              <a:t>2025/11/3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EEC5537-3DBF-F73C-52C4-D813C06B71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7A92F04-63E3-AA7A-7466-67E7901C0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EBA67-1CE4-3642-BC12-45630B5D3B3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6780304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A9B82D6-954F-E6C3-9664-6C35A8B76D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A83AE2B-1D41-F4A0-AB10-F424CD284A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51C13F5-C2BA-E448-5AF8-A9787C25B6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18B809-EC84-AA44-970B-7890D055606C}" type="datetimeFigureOut">
              <a:rPr kumimoji="1" lang="zh-TW" altLang="en-US" smtClean="0"/>
              <a:t>2025/11/3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D1DBEA9-CEB4-096F-CA64-A5A3DEF78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49BA8F1-B80A-5AA4-BF62-05C44F1E5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EBA67-1CE4-3642-BC12-45630B5D3B3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2724234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F6D1C12-D772-3608-77FB-043E3FF7BE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7645FBC-0B76-4B23-B4BE-3002B94FC9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3BA4B98-5B50-2271-BB86-F4DC336AF3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67780351-75E6-B866-FC1E-B9D56780C4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18B809-EC84-AA44-970B-7890D055606C}" type="datetimeFigureOut">
              <a:rPr kumimoji="1" lang="zh-TW" altLang="en-US" smtClean="0"/>
              <a:t>2025/11/3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E8B321E7-59D1-62A2-443A-6D06C2383B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E90FCE4-57C2-38C0-792E-17157D750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EBA67-1CE4-3642-BC12-45630B5D3B3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4397239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ACC9866-98A0-A592-E7DD-413A14C18E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6088E684-8B52-2165-B3F8-204FF6A7F1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16D10DD6-3D00-24FC-F702-416B1CC61F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AFC4DC67-5CF4-B80B-7EA1-9B0244017E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77F8BADF-7EEB-DD1C-DF98-F62F2A1191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BBF4DE82-1B67-61CD-218B-F83B5739B3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18B809-EC84-AA44-970B-7890D055606C}" type="datetimeFigureOut">
              <a:rPr kumimoji="1" lang="zh-TW" altLang="en-US" smtClean="0"/>
              <a:t>2025/11/3</a:t>
            </a:fld>
            <a:endParaRPr kumimoji="1"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B326C6EB-E7B0-C731-B2AC-F69BE36229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336C9C24-3B45-2209-6409-6B7A739C4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EBA67-1CE4-3642-BC12-45630B5D3B3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6987188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8ED0D82-7D7E-D584-F830-A2749C7BE0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AF73AC10-03AC-FA12-5C25-63F3CD5C2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18B809-EC84-AA44-970B-7890D055606C}" type="datetimeFigureOut">
              <a:rPr kumimoji="1" lang="zh-TW" altLang="en-US" smtClean="0"/>
              <a:t>2025/11/3</a:t>
            </a:fld>
            <a:endParaRPr kumimoji="1"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E2BC06E4-AD22-9F96-4BBD-C269F14F97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6FF94572-97E2-2B18-F623-1DE44696C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EBA67-1CE4-3642-BC12-45630B5D3B3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9154933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43B5255B-A24D-3958-D0B7-EB90BA8425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18B809-EC84-AA44-970B-7890D055606C}" type="datetimeFigureOut">
              <a:rPr kumimoji="1" lang="zh-TW" altLang="en-US" smtClean="0"/>
              <a:t>2025/11/3</a:t>
            </a:fld>
            <a:endParaRPr kumimoji="1"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AA0CCB54-8B0D-DE45-DF6A-BB1F42433E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E0E86EA-6B6F-EAB3-C476-22C855A72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EBA67-1CE4-3642-BC12-45630B5D3B3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783832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2FD573C-E9EA-991E-5580-D656771867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79E9A77-CF9E-3962-241E-F47C4F65AA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2B2B4005-3919-9785-FDFB-2953468A02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E0FDF93-C1D0-E2F2-8B34-E883A1D93E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18B809-EC84-AA44-970B-7890D055606C}" type="datetimeFigureOut">
              <a:rPr kumimoji="1" lang="zh-TW" altLang="en-US" smtClean="0"/>
              <a:t>2025/11/3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31DDD28-9C8B-C042-09F7-6353C1AAD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AE26582E-FBE7-1DAC-4E6D-59A32C57F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EBA67-1CE4-3642-BC12-45630B5D3B3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3931584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52E59AD-2080-50E8-4D20-816C3A8230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FD12A37E-71C8-41BB-4B54-265D6816F5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3B58B66D-EA91-D0CB-2D10-3AAD948C48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6FA15EC1-31AF-1434-51C9-FF58ED5351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18B809-EC84-AA44-970B-7890D055606C}" type="datetimeFigureOut">
              <a:rPr kumimoji="1" lang="zh-TW" altLang="en-US" smtClean="0"/>
              <a:t>2025/11/3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21FDB9FA-DD36-8849-E6B5-1F5AB4C84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B342997E-2F8F-AB7A-1B9B-15607D940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EBA67-1CE4-3642-BC12-45630B5D3B3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0353228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672C5B7-9F7F-1162-D3AA-8CAC5E1722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79DCD953-7CA3-4DB3-66A4-07881E089A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0A5390F-830E-8BFF-DD9D-5BB9FD155E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18B809-EC84-AA44-970B-7890D055606C}" type="datetimeFigureOut">
              <a:rPr kumimoji="1" lang="zh-TW" altLang="en-US" smtClean="0"/>
              <a:t>2025/11/3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8BBE400-5E05-DBCD-EA67-0CBADAC661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D4843D0-EFD2-1930-72DA-91E4329A9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EBA67-1CE4-3642-BC12-45630B5D3B3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9584871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AD620DF5-DE1D-A769-7738-5EEC0B61B2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498421BF-4B81-2156-784A-39F7FFC8F9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1B9B658-F7E6-08BE-E79F-241C942945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18B809-EC84-AA44-970B-7890D055606C}" type="datetimeFigureOut">
              <a:rPr kumimoji="1" lang="zh-TW" altLang="en-US" smtClean="0"/>
              <a:t>2025/11/3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31BE8D2-196D-3A55-EF4A-F816EB412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D596BA4-9CF0-14F3-8EF4-64F1324243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EBA67-1CE4-3642-BC12-45630B5D3B3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5423336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2885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7600" y="1231833"/>
            <a:ext cx="11360800" cy="53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0639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1pPr>
            <a:lvl2pPr marL="1219170" lvl="1" indent="-389457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333"/>
            </a:lvl2pPr>
            <a:lvl3pPr marL="1828754" lvl="2" indent="-389457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333"/>
            </a:lvl3pPr>
            <a:lvl4pPr marL="2438339" lvl="3" indent="-389457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333"/>
            </a:lvl4pPr>
            <a:lvl5pPr marL="3047924" lvl="4" indent="-389457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333"/>
            </a:lvl5pPr>
            <a:lvl6pPr marL="3657509" lvl="5" indent="-389457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333"/>
            </a:lvl6pPr>
            <a:lvl7pPr marL="4267093" lvl="6" indent="-389457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333"/>
            </a:lvl7pPr>
            <a:lvl8pPr marL="4876678" lvl="7" indent="-389457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333"/>
            </a:lvl8pPr>
            <a:lvl9pPr marL="5486263" lvl="8" indent="-389457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333"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-US" altLang="zh-TW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318680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D0B532BD-636E-B399-C0F0-B04FE6E86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C7AC752-5C92-C7A9-C13F-B298768DA8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58CA9EF-BEDF-9AB3-A4E7-0918332006E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18B809-EC84-AA44-970B-7890D055606C}" type="datetimeFigureOut">
              <a:rPr kumimoji="1" lang="zh-TW" altLang="en-US" smtClean="0"/>
              <a:t>2025/11/3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E44485D-E3EC-04A0-935B-6F4E1E6C86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044E86D-5CC2-0D9F-5031-63AB35E0D0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7EBA67-1CE4-3642-BC12-45630B5D3B3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0897650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microsoft.com/office/2007/relationships/media" Target="../media/media2.mp4"/><Relationship Id="rId7" Type="http://schemas.openxmlformats.org/officeDocument/2006/relationships/image" Target="../media/image2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notesSlide" Target="../notesSlides/notesSlide1.xml"/><Relationship Id="rId5" Type="http://schemas.openxmlformats.org/officeDocument/2006/relationships/slideLayout" Target="../slideLayouts/slideLayout12.xml"/><Relationship Id="rId4" Type="http://schemas.openxmlformats.org/officeDocument/2006/relationships/video" Target="../media/media2.mp4"/><Relationship Id="rId9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97AE5AC3-95AB-AE60-D73A-5B8A0EC91F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260" y="964504"/>
            <a:ext cx="12066740" cy="2545459"/>
          </a:xfrm>
        </p:spPr>
        <p:txBody>
          <a:bodyPr>
            <a:normAutofit/>
          </a:bodyPr>
          <a:lstStyle/>
          <a:p>
            <a:r>
              <a:rPr lang="en-US" altLang="zh-TW" sz="4000" b="1" dirty="0" err="1">
                <a:solidFill>
                  <a:schemeClr val="tx2">
                    <a:lumMod val="75000"/>
                    <a:lumOff val="25000"/>
                  </a:schemeClr>
                </a:solidFill>
              </a:rPr>
              <a:t>GameFactory</a:t>
            </a:r>
            <a:r>
              <a:rPr lang="en-US" altLang="zh-TW" sz="40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:</a:t>
            </a:r>
            <a:br>
              <a:rPr lang="en-US" altLang="zh-TW" sz="4000" b="1" dirty="0"/>
            </a:br>
            <a:r>
              <a:rPr lang="en-US" altLang="zh-TW" sz="4000" b="1" dirty="0"/>
              <a:t>Creating New Games with Generative Interactive Videos</a:t>
            </a:r>
            <a:endParaRPr lang="zh-TW" altLang="en-US" sz="4000" b="1" dirty="0"/>
          </a:p>
        </p:txBody>
      </p:sp>
      <p:sp>
        <p:nvSpPr>
          <p:cNvPr id="5" name="副標題 4">
            <a:extLst>
              <a:ext uri="{FF2B5EF4-FFF2-40B4-BE49-F238E27FC236}">
                <a16:creationId xmlns:a16="http://schemas.microsoft.com/office/drawing/2014/main" id="{6865C43A-EF67-7C4D-0573-F355E9C114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666750"/>
            <a:ext cx="9144000" cy="1655762"/>
          </a:xfrm>
        </p:spPr>
        <p:txBody>
          <a:bodyPr/>
          <a:lstStyle/>
          <a:p>
            <a:r>
              <a:rPr lang="en-US" altLang="zh-TW" dirty="0">
                <a:solidFill>
                  <a:srgbClr val="000000"/>
                </a:solidFill>
              </a:rPr>
              <a:t>ICCV 2025 Highlight, arXiv:2501.08325</a:t>
            </a:r>
            <a:endParaRPr kumimoji="1" lang="en-US" altLang="zh-TW" dirty="0">
              <a:solidFill>
                <a:srgbClr val="000000"/>
              </a:solidFill>
            </a:endParaRPr>
          </a:p>
          <a:p>
            <a:r>
              <a:rPr kumimoji="1"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指導學長：鍾閎凱／吳彥翔</a:t>
            </a:r>
          </a:p>
          <a:p>
            <a:r>
              <a:rPr kumimoji="1"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報告人：電機三 賴禹衡／電機三 陳政年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D43465BE-BF08-64E0-7A36-935290ABF6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3509963"/>
            <a:ext cx="9408517" cy="670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806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A5252D-6CF8-49C7-3BD9-8A0AE6A50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b="1" dirty="0"/>
              <a:t>Overview</a:t>
            </a:r>
            <a:endParaRPr kumimoji="1" lang="zh-TW" altLang="en-US" b="1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4A6BA53-3271-632E-A4B8-F0E8A1F70F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-106927" y="883084"/>
            <a:ext cx="8326294" cy="5974916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SzPct val="100000"/>
            </a:pPr>
            <a:r>
              <a:rPr lang="en" altLang="zh-TW" sz="2400" b="1" dirty="0"/>
              <a:t>Goal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-US" altLang="zh-TW" sz="2133" dirty="0"/>
              <a:t>A framework for </a:t>
            </a:r>
            <a:r>
              <a:rPr lang="en-US" altLang="zh-TW" sz="2133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action-controlled</a:t>
            </a:r>
            <a:r>
              <a:rPr lang="en-US" altLang="zh-TW" sz="2133" dirty="0"/>
              <a:t> and </a:t>
            </a:r>
            <a:r>
              <a:rPr lang="en-US" altLang="zh-TW" sz="2133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scene-generalizable</a:t>
            </a:r>
            <a:r>
              <a:rPr lang="en-US" altLang="zh-TW" sz="2133" dirty="0"/>
              <a:t> game video generation</a:t>
            </a:r>
            <a:endParaRPr lang="en" altLang="zh-TW" sz="2133" dirty="0"/>
          </a:p>
          <a:p>
            <a:pPr>
              <a:lnSpc>
                <a:spcPct val="100000"/>
              </a:lnSpc>
              <a:buSzPct val="100000"/>
            </a:pPr>
            <a:endParaRPr lang="en" altLang="zh-TW" sz="2400" b="1" dirty="0"/>
          </a:p>
          <a:p>
            <a:pPr>
              <a:lnSpc>
                <a:spcPct val="100000"/>
              </a:lnSpc>
              <a:buSzPct val="100000"/>
            </a:pPr>
            <a:r>
              <a:rPr lang="en" altLang="zh-TW" sz="2400" b="1" dirty="0"/>
              <a:t>Previous works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Lacks Scene Generalization: </a:t>
            </a:r>
            <a:r>
              <a:rPr lang="en" altLang="zh-TW" sz="2130" dirty="0"/>
              <a:t>generates specific game, limiting the potential for developing new games</a:t>
            </a:r>
          </a:p>
          <a:p>
            <a:pPr lvl="1">
              <a:lnSpc>
                <a:spcPct val="100000"/>
              </a:lnSpc>
              <a:buSzPct val="100000"/>
            </a:pPr>
            <a:endParaRPr lang="en" altLang="zh-TW" sz="2130" dirty="0"/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Biased Action: </a:t>
            </a:r>
            <a:r>
              <a:rPr lang="en" altLang="zh-TW" sz="2130" dirty="0"/>
              <a:t>collecting real human gameplay action, overlooking rare action combinations, such as moving backward</a:t>
            </a:r>
            <a:endParaRPr lang="en" altLang="zh-TW" sz="213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marL="829713" lvl="1" indent="0">
              <a:lnSpc>
                <a:spcPct val="100000"/>
              </a:lnSpc>
              <a:buSzPct val="100000"/>
              <a:buNone/>
            </a:pPr>
            <a:endParaRPr lang="en" altLang="zh-TW" sz="2000" dirty="0"/>
          </a:p>
          <a:p>
            <a:pPr>
              <a:lnSpc>
                <a:spcPct val="100000"/>
              </a:lnSpc>
              <a:buSzPct val="100000"/>
            </a:pPr>
            <a:r>
              <a:rPr lang="en" altLang="zh-TW" sz="2400" b="1" dirty="0"/>
              <a:t>Methods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0" dirty="0"/>
              <a:t>Using video generation models trained on open-domain videos</a:t>
            </a:r>
          </a:p>
          <a:p>
            <a:pPr lvl="1">
              <a:lnSpc>
                <a:spcPct val="100000"/>
              </a:lnSpc>
              <a:buSzPct val="100000"/>
            </a:pPr>
            <a:endParaRPr lang="en" altLang="zh-TW" sz="2130" dirty="0"/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0" dirty="0"/>
              <a:t>Disentangle the learning of game style and action control</a:t>
            </a:r>
          </a:p>
        </p:txBody>
      </p:sp>
      <p:pic>
        <p:nvPicPr>
          <p:cNvPr id="6" name="圖片 5" descr="一張含有 文字, 螢幕擷取畫面, 卡通, 字型 的圖片&#10;&#10;AI 產生的內容可能不正確。">
            <a:extLst>
              <a:ext uri="{FF2B5EF4-FFF2-40B4-BE49-F238E27FC236}">
                <a16:creationId xmlns:a16="http://schemas.microsoft.com/office/drawing/2014/main" id="{F1E91046-91FE-84CA-8768-655EB032FE0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40044" y="288567"/>
            <a:ext cx="4951956" cy="2387999"/>
          </a:xfrm>
          <a:prstGeom prst="rect">
            <a:avLst/>
          </a:prstGeom>
        </p:spPr>
      </p:pic>
      <p:pic>
        <p:nvPicPr>
          <p:cNvPr id="4" name="a">
            <a:hlinkClick r:id="" action="ppaction://media"/>
            <a:extLst>
              <a:ext uri="{FF2B5EF4-FFF2-40B4-BE49-F238E27FC236}">
                <a16:creationId xmlns:a16="http://schemas.microsoft.com/office/drawing/2014/main" id="{0FA2E490-4AE4-752F-E71E-3414E6249B76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8017929" y="2673875"/>
            <a:ext cx="3959909" cy="2177950"/>
          </a:xfrm>
          <a:prstGeom prst="rect">
            <a:avLst/>
          </a:prstGeom>
        </p:spPr>
      </p:pic>
      <p:pic>
        <p:nvPicPr>
          <p:cNvPr id="5" name="ul">
            <a:hlinkClick r:id="" action="ppaction://media"/>
            <a:extLst>
              <a:ext uri="{FF2B5EF4-FFF2-40B4-BE49-F238E27FC236}">
                <a16:creationId xmlns:a16="http://schemas.microsoft.com/office/drawing/2014/main" id="{B923656E-EB9C-6E15-9034-6D0C7108C446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8017929" y="4851825"/>
            <a:ext cx="3959907" cy="2177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0162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13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5134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1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video>
              <p:cMediaNode vol="80000">
                <p:cTn id="1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A5252D-6CF8-49C7-3BD9-8A0AE6A50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" altLang="zh-TW" b="1" dirty="0"/>
              <a:t>GF-Minecraft </a:t>
            </a:r>
            <a:r>
              <a:rPr kumimoji="1" lang="en-US" altLang="zh-TW" b="1" dirty="0"/>
              <a:t>Dataset</a:t>
            </a:r>
            <a:r>
              <a:rPr kumimoji="1" lang="zh-TW" altLang="en-US" b="1" dirty="0"/>
              <a:t> </a:t>
            </a:r>
            <a:r>
              <a:rPr kumimoji="1" lang="en-US" altLang="zh-TW" b="1" dirty="0"/>
              <a:t>Collection</a:t>
            </a:r>
            <a:endParaRPr kumimoji="1" lang="zh-TW" altLang="en-US" b="1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4A6BA53-3271-632E-A4B8-F0E8A1F70F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4347" y="1231833"/>
            <a:ext cx="11360800" cy="537680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SzPct val="100000"/>
            </a:pPr>
            <a:r>
              <a:rPr lang="en" altLang="zh-TW" sz="2400" b="1" dirty="0"/>
              <a:t>Collection 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0" dirty="0"/>
              <a:t>Collecting 70 hours of Minecraft gameplay video</a:t>
            </a:r>
          </a:p>
          <a:p>
            <a:pPr lvl="1">
              <a:lnSpc>
                <a:spcPct val="100000"/>
              </a:lnSpc>
              <a:buSzPct val="100000"/>
            </a:pPr>
            <a:endParaRPr lang="en" altLang="zh-TW" sz="2130" dirty="0"/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0" dirty="0"/>
              <a:t>Capturing videos across different scenes, weather conditions, and times of day. </a:t>
            </a:r>
          </a:p>
          <a:p>
            <a:pPr lvl="1">
              <a:lnSpc>
                <a:spcPct val="100000"/>
              </a:lnSpc>
              <a:buSzPct val="100000"/>
            </a:pPr>
            <a:endParaRPr lang="en" altLang="zh-TW" sz="2130" dirty="0"/>
          </a:p>
          <a:p>
            <a:pPr>
              <a:lnSpc>
                <a:spcPct val="100000"/>
              </a:lnSpc>
              <a:buSzPct val="100000"/>
            </a:pPr>
            <a:r>
              <a:rPr lang="en" altLang="zh-TW" sz="2400" b="1" dirty="0"/>
              <a:t>Unbiased Action</a:t>
            </a:r>
            <a:endParaRPr lang="en" altLang="zh-TW" sz="1863" dirty="0"/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0" dirty="0"/>
              <a:t>Rare action combinations, such as moving backward, jumping in place, or standing still with mouse movements</a:t>
            </a:r>
          </a:p>
          <a:p>
            <a:pPr lvl="1">
              <a:lnSpc>
                <a:spcPct val="100000"/>
              </a:lnSpc>
              <a:buSzPct val="100000"/>
            </a:pPr>
            <a:endParaRPr lang="en" altLang="zh-TW" sz="2130" dirty="0"/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0" dirty="0"/>
              <a:t>Randomly combined each action (e.g., pressing two keys simultaneously)</a:t>
            </a:r>
          </a:p>
          <a:p>
            <a:pPr marL="829713" lvl="1" indent="0">
              <a:lnSpc>
                <a:spcPct val="100000"/>
              </a:lnSpc>
              <a:buSzPct val="100000"/>
              <a:buNone/>
            </a:pPr>
            <a:endParaRPr lang="en" altLang="zh-TW" sz="2130" dirty="0"/>
          </a:p>
          <a:p>
            <a:pPr>
              <a:lnSpc>
                <a:spcPct val="100000"/>
              </a:lnSpc>
              <a:buSzPct val="100000"/>
            </a:pPr>
            <a:r>
              <a:rPr lang="en" altLang="zh-TW" sz="2400" b="1" dirty="0"/>
              <a:t>Annotation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000" dirty="0"/>
              <a:t>Captions annotated by a multimodal LLM, </a:t>
            </a:r>
            <a:r>
              <a:rPr lang="en" altLang="zh-TW" sz="2000" dirty="0" err="1"/>
              <a:t>MiniCPM</a:t>
            </a:r>
            <a:r>
              <a:rPr lang="en" altLang="zh-TW" sz="2000" dirty="0"/>
              <a:t>-V</a:t>
            </a:r>
            <a:endParaRPr lang="en" altLang="zh-TW" sz="2130" dirty="0"/>
          </a:p>
          <a:p>
            <a:pPr lvl="1">
              <a:lnSpc>
                <a:spcPct val="100000"/>
              </a:lnSpc>
              <a:buSzPct val="100000"/>
            </a:pPr>
            <a:endParaRPr lang="en" altLang="zh-TW" sz="2130" dirty="0"/>
          </a:p>
        </p:txBody>
      </p:sp>
    </p:spTree>
    <p:extLst>
      <p:ext uri="{BB962C8B-B14F-4D97-AF65-F5344CB8AC3E}">
        <p14:creationId xmlns:p14="http://schemas.microsoft.com/office/powerpoint/2010/main" val="32606069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A5252D-6CF8-49C7-3BD9-8A0AE6A50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b="1" dirty="0"/>
              <a:t>Methods-Action Controlled</a:t>
            </a:r>
            <a:endParaRPr kumimoji="1" lang="zh-TW" altLang="en-US" b="1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4A6BA53-3271-632E-A4B8-F0E8A1F70F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4347" y="1231833"/>
            <a:ext cx="7186899" cy="533760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SzPct val="100000"/>
            </a:pPr>
            <a:r>
              <a:rPr lang="en-US" altLang="zh-TW" sz="2400" b="1" dirty="0"/>
              <a:t>Action Control Module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-US" altLang="zh-TW" sz="2133" dirty="0"/>
              <a:t>Input action includes both continuous mouse movement and discrete keyboard action </a:t>
            </a:r>
          </a:p>
          <a:p>
            <a:pPr lvl="1">
              <a:lnSpc>
                <a:spcPct val="100000"/>
              </a:lnSpc>
              <a:buSzPct val="100000"/>
            </a:pPr>
            <a:endParaRPr lang="en-US" altLang="zh-TW" sz="2133" b="1" dirty="0"/>
          </a:p>
          <a:p>
            <a:pPr>
              <a:lnSpc>
                <a:spcPct val="100000"/>
              </a:lnSpc>
              <a:buSzPct val="100000"/>
            </a:pPr>
            <a:r>
              <a:rPr lang="en-US" altLang="zh-TW" sz="2400" b="1" dirty="0"/>
              <a:t>Grouping Actions with a Sliding Windows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-US" altLang="zh-TW" sz="2133" dirty="0"/>
              <a:t>Avoid mismatch between action and latent</a:t>
            </a:r>
          </a:p>
          <a:p>
            <a:pPr lvl="1">
              <a:lnSpc>
                <a:spcPct val="100000"/>
              </a:lnSpc>
              <a:buSzPct val="100000"/>
            </a:pPr>
            <a:endParaRPr lang="en-US" altLang="zh-TW" sz="2133" dirty="0"/>
          </a:p>
          <a:p>
            <a:pPr lvl="1">
              <a:lnSpc>
                <a:spcPct val="100000"/>
              </a:lnSpc>
              <a:buSzPct val="100000"/>
            </a:pPr>
            <a:r>
              <a:rPr lang="en-US" altLang="zh-TW" sz="2133" dirty="0"/>
              <a:t>Captures delayed action effects</a:t>
            </a:r>
          </a:p>
          <a:p>
            <a:pPr lvl="1">
              <a:lnSpc>
                <a:spcPct val="100000"/>
              </a:lnSpc>
              <a:buSzPct val="100000"/>
            </a:pPr>
            <a:endParaRPr lang="en-US" altLang="zh-TW" sz="2133" b="1" dirty="0"/>
          </a:p>
          <a:p>
            <a:pPr lvl="1">
              <a:lnSpc>
                <a:spcPct val="100000"/>
              </a:lnSpc>
              <a:buSzPct val="100000"/>
            </a:pPr>
            <a:endParaRPr lang="en" altLang="zh-TW" dirty="0"/>
          </a:p>
          <a:p>
            <a:pPr lvl="1">
              <a:lnSpc>
                <a:spcPct val="100000"/>
              </a:lnSpc>
              <a:buSzPct val="100000"/>
            </a:pPr>
            <a:endParaRPr lang="en-US" altLang="zh-TW" sz="2133" b="1" dirty="0"/>
          </a:p>
        </p:txBody>
      </p:sp>
      <p:pic>
        <p:nvPicPr>
          <p:cNvPr id="5" name="圖片 4" descr="一張含有 文字, 圖表, 螢幕擷取畫面, 方案 的圖片&#10;&#10;AI 產生的內容可能不正確。">
            <a:extLst>
              <a:ext uri="{FF2B5EF4-FFF2-40B4-BE49-F238E27FC236}">
                <a16:creationId xmlns:a16="http://schemas.microsoft.com/office/drawing/2014/main" id="{F596BC48-1604-8212-0813-1D5DE21AA18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986" t="1363" r="1431" b="-2530"/>
          <a:stretch>
            <a:fillRect/>
          </a:stretch>
        </p:blipFill>
        <p:spPr>
          <a:xfrm>
            <a:off x="7320732" y="0"/>
            <a:ext cx="4271374" cy="3429000"/>
          </a:xfrm>
          <a:prstGeom prst="rect">
            <a:avLst/>
          </a:prstGeom>
        </p:spPr>
      </p:pic>
      <p:pic>
        <p:nvPicPr>
          <p:cNvPr id="7" name="圖片 6" descr="一張含有 文字, 螢幕擷取畫面, 數字, 計算機 的圖片&#10;&#10;AI 產生的內容可能不正確。">
            <a:extLst>
              <a:ext uri="{FF2B5EF4-FFF2-40B4-BE49-F238E27FC236}">
                <a16:creationId xmlns:a16="http://schemas.microsoft.com/office/drawing/2014/main" id="{07904A72-36BA-6482-2A5A-2F76BDE136A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251"/>
          <a:stretch>
            <a:fillRect/>
          </a:stretch>
        </p:blipFill>
        <p:spPr>
          <a:xfrm>
            <a:off x="7285817" y="3322748"/>
            <a:ext cx="4035775" cy="3535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9981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8FB2B-F922-B0BC-842F-6D48728EA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E255310-B39C-342A-6531-1646B41022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b="1" dirty="0"/>
              <a:t>Methods-Autoregressive Generation</a:t>
            </a:r>
            <a:endParaRPr kumimoji="1" lang="zh-TW" altLang="en-US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文字版面配置區 2">
                <a:extLst>
                  <a:ext uri="{FF2B5EF4-FFF2-40B4-BE49-F238E27FC236}">
                    <a16:creationId xmlns:a16="http://schemas.microsoft.com/office/drawing/2014/main" id="{8A470A50-E91D-3697-2158-A32A878F0027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0" y="876956"/>
                <a:ext cx="8866945" cy="5293658"/>
              </a:xfrm>
            </p:spPr>
            <p:txBody>
              <a:bodyPr>
                <a:normAutofit/>
              </a:bodyPr>
              <a:lstStyle/>
              <a:p>
                <a:pPr marL="829713" lvl="1" indent="0">
                  <a:lnSpc>
                    <a:spcPct val="100000"/>
                  </a:lnSpc>
                  <a:buSzPct val="100000"/>
                  <a:buNone/>
                </a:pPr>
                <a:endParaRPr lang="en-US" altLang="zh-TW" sz="2133" b="1" dirty="0"/>
              </a:p>
              <a:p>
                <a:pPr>
                  <a:lnSpc>
                    <a:spcPct val="100000"/>
                  </a:lnSpc>
                  <a:buSzPct val="100000"/>
                </a:pPr>
                <a:r>
                  <a:rPr lang="en" altLang="zh-TW" sz="2400" b="1" dirty="0"/>
                  <a:t>Inputs</a:t>
                </a:r>
                <a:endParaRPr lang="en-US" altLang="zh-TW" sz="2000" dirty="0"/>
              </a:p>
              <a:p>
                <a:pPr lvl="1">
                  <a:lnSpc>
                    <a:spcPct val="100000"/>
                  </a:lnSpc>
                  <a:buSzPct val="100000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p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, </m:t>
                    </m:r>
                    <m:sSup>
                      <m:sSup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p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p>
                  </m:oMath>
                </a14:m>
                <a:r>
                  <a:rPr lang="en-US" altLang="zh-TW" sz="2000" dirty="0"/>
                  <a:t>		: Clean history context </a:t>
                </a:r>
                <a:r>
                  <a:rPr lang="en-US" altLang="zh-TW" sz="2000" dirty="0" err="1"/>
                  <a:t>latents</a:t>
                </a:r>
                <a:r>
                  <a:rPr lang="en-US" altLang="zh-TW" sz="2000" dirty="0"/>
                  <a:t> and their actions</a:t>
                </a:r>
              </a:p>
              <a:p>
                <a:pPr lvl="1">
                  <a:lnSpc>
                    <a:spcPct val="100000"/>
                  </a:lnSpc>
                  <a:buSzPct val="100000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2000" b="0" i="0" dirty="0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m:rPr>
                        <m:sty m:val="p"/>
                      </m:rPr>
                      <a:rPr lang="en-US" altLang="zh-TW" sz="2000" b="0" i="0" dirty="0" smtClean="0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en-US" altLang="zh-TW" sz="2000" dirty="0"/>
                  <a:t>		: Noisy current latent chunk and its</a:t>
                </a:r>
                <a:r>
                  <a:rPr lang="zh-TW" altLang="en-US" sz="2000" dirty="0"/>
                  <a:t> </a:t>
                </a:r>
                <a:r>
                  <a:rPr lang="en-US" altLang="zh-TW" sz="2000" dirty="0"/>
                  <a:t>actions</a:t>
                </a:r>
              </a:p>
              <a:p>
                <a:pPr lvl="1">
                  <a:lnSpc>
                    <a:spcPct val="100000"/>
                  </a:lnSpc>
                  <a:buSzPct val="100000"/>
                </a:pPr>
                <a:r>
                  <a:rPr lang="zh-TW" altLang="en-US" sz="2000" dirty="0"/>
                  <a:t>𝑝 	</a:t>
                </a:r>
                <a:r>
                  <a:rPr lang="en-US" altLang="zh-TW" sz="2000" dirty="0"/>
                  <a:t>	: Text prompt</a:t>
                </a:r>
              </a:p>
              <a:p>
                <a:pPr lvl="1">
                  <a:lnSpc>
                    <a:spcPct val="100000"/>
                  </a:lnSpc>
                  <a:buSzPct val="100000"/>
                </a:pPr>
                <a:r>
                  <a:rPr lang="zh-TW" altLang="en-US" sz="2000" dirty="0"/>
                  <a:t>𝑡 	</a:t>
                </a:r>
                <a:r>
                  <a:rPr lang="en-US" altLang="zh-TW" sz="2000" dirty="0"/>
                  <a:t>	: Timestep embedding</a:t>
                </a:r>
              </a:p>
              <a:p>
                <a:pPr lvl="1">
                  <a:lnSpc>
                    <a:spcPct val="100000"/>
                  </a:lnSpc>
                  <a:buSzPct val="100000"/>
                </a:pPr>
                <a:endParaRPr lang="en" altLang="zh-TW" dirty="0"/>
              </a:p>
              <a:p>
                <a:pPr>
                  <a:lnSpc>
                    <a:spcPct val="100000"/>
                  </a:lnSpc>
                  <a:buSzPct val="100000"/>
                </a:pPr>
                <a:r>
                  <a:rPr lang="en" altLang="zh-TW" sz="2400" b="1" dirty="0"/>
                  <a:t>Outputs</a:t>
                </a:r>
              </a:p>
              <a:p>
                <a:pPr lvl="1">
                  <a:lnSpc>
                    <a:spcPct val="100000"/>
                  </a:lnSpc>
                  <a:buSzPct val="100000"/>
                </a:pPr>
                <a:r>
                  <a:rPr lang="en-US" altLang="zh-TW" sz="2000" dirty="0">
                    <a:solidFill>
                      <a:prstClr val="black"/>
                    </a:solidFill>
                  </a:rPr>
                  <a:t>Generate</a:t>
                </a:r>
                <a:r>
                  <a:rPr lang="zh-TW" altLang="en-US" sz="2000" dirty="0">
                    <a:solidFill>
                      <a:prstClr val="black"/>
                    </a:solidFill>
                  </a:rPr>
                  <a:t> </a:t>
                </a:r>
                <a:r>
                  <a:rPr lang="en-US" altLang="zh-TW" sz="2000" dirty="0">
                    <a:solidFill>
                      <a:prstClr val="black"/>
                    </a:solidFill>
                  </a:rPr>
                  <a:t>video frames autoregressively</a:t>
                </a:r>
                <a:endParaRPr lang="en" altLang="zh-TW" sz="2000" dirty="0">
                  <a:solidFill>
                    <a:prstClr val="black"/>
                  </a:solidFill>
                </a:endParaRPr>
              </a:p>
              <a:p>
                <a:pPr lvl="1">
                  <a:lnSpc>
                    <a:spcPct val="100000"/>
                  </a:lnSpc>
                  <a:buSzPct val="100000"/>
                </a:pPr>
                <a:endParaRPr lang="en-US" altLang="zh-TW" sz="2133" b="1" dirty="0"/>
              </a:p>
            </p:txBody>
          </p:sp>
        </mc:Choice>
        <mc:Fallback>
          <p:sp>
            <p:nvSpPr>
              <p:cNvPr id="3" name="文字版面配置區 2">
                <a:extLst>
                  <a:ext uri="{FF2B5EF4-FFF2-40B4-BE49-F238E27FC236}">
                    <a16:creationId xmlns:a16="http://schemas.microsoft.com/office/drawing/2014/main" id="{8A470A50-E91D-3697-2158-A32A878F00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0" y="876956"/>
                <a:ext cx="8866945" cy="5293658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圖片 5">
            <a:extLst>
              <a:ext uri="{FF2B5EF4-FFF2-40B4-BE49-F238E27FC236}">
                <a16:creationId xmlns:a16="http://schemas.microsoft.com/office/drawing/2014/main" id="{73EB0F2F-5605-9F2A-5696-84750737E8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8943" y="3916443"/>
            <a:ext cx="6383851" cy="2842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01120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206</TotalTime>
  <Words>317</Words>
  <Application>Microsoft Macintosh PowerPoint</Application>
  <PresentationFormat>寬螢幕</PresentationFormat>
  <Paragraphs>54</Paragraphs>
  <Slides>5</Slides>
  <Notes>4</Notes>
  <HiddenSlides>0</HiddenSlides>
  <MMClips>2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</vt:i4>
      </vt:variant>
    </vt:vector>
  </HeadingPairs>
  <TitlesOfParts>
    <vt:vector size="11" baseType="lpstr">
      <vt:lpstr>微軟正黑體</vt:lpstr>
      <vt:lpstr>Aptos</vt:lpstr>
      <vt:lpstr>Aptos Display</vt:lpstr>
      <vt:lpstr>Arial</vt:lpstr>
      <vt:lpstr>Cambria Math</vt:lpstr>
      <vt:lpstr>Office 佈景主題</vt:lpstr>
      <vt:lpstr>GameFactory: Creating New Games with Generative Interactive Videos</vt:lpstr>
      <vt:lpstr>Overview</vt:lpstr>
      <vt:lpstr>GF-Minecraft Dataset Collection</vt:lpstr>
      <vt:lpstr>Methods-Action Controlled</vt:lpstr>
      <vt:lpstr>Methods-Autoregressive Generation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賴禹衡</dc:creator>
  <cp:lastModifiedBy>賴禹衡</cp:lastModifiedBy>
  <cp:revision>19</cp:revision>
  <dcterms:created xsi:type="dcterms:W3CDTF">2025-11-03T01:45:49Z</dcterms:created>
  <dcterms:modified xsi:type="dcterms:W3CDTF">2025-11-03T07:19:47Z</dcterms:modified>
</cp:coreProperties>
</file>