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8" r:id="rId3"/>
    <p:sldId id="269" r:id="rId4"/>
    <p:sldId id="258" r:id="rId5"/>
    <p:sldId id="262" r:id="rId6"/>
    <p:sldId id="257" r:id="rId7"/>
    <p:sldId id="284" r:id="rId8"/>
    <p:sldId id="286" r:id="rId9"/>
    <p:sldId id="290" r:id="rId10"/>
    <p:sldId id="291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132"/>
  </p:normalViewPr>
  <p:slideViewPr>
    <p:cSldViewPr snapToGrid="0">
      <p:cViewPr varScale="1">
        <p:scale>
          <a:sx n="112" d="100"/>
          <a:sy n="112" d="100"/>
        </p:scale>
        <p:origin x="184" y="5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705e15e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705e15e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504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02841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每一幀的動作嵌入：每個幀根據其對應的動作生成，使模型能夠根據當前的動作來影響下一幀的生成過程。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動作隨機丟失 </a:t>
            </a:r>
            <a:r>
              <a:rPr lang="en-US" altLang="zh-TW" dirty="0"/>
              <a:t>(</a:t>
            </a:r>
            <a:r>
              <a:rPr lang="en" altLang="zh-TW" dirty="0"/>
              <a:t>Action Dropout)</a:t>
            </a:r>
            <a:r>
              <a:rPr lang="zh-TW" altLang="en" dirty="0"/>
              <a:t>：</a:t>
            </a:r>
            <a:r>
              <a:rPr lang="zh-TW" altLang="en-US" dirty="0"/>
              <a:t>在訓練過程中，隨機丟棄某些幀的動作，使得模型在訓練過程中學會處理有動作與無動作的情境。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62DD33F3-34BF-EDA4-FA32-97731BDD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a6ff87535_0_0:notes">
            <a:extLst>
              <a:ext uri="{FF2B5EF4-FFF2-40B4-BE49-F238E27FC236}">
                <a16:creationId xmlns:a16="http://schemas.microsoft.com/office/drawing/2014/main" id="{480F0A80-1D4C-78D0-E974-3F904B8DC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a6ff87535_0_0:notes">
            <a:extLst>
              <a:ext uri="{FF2B5EF4-FFF2-40B4-BE49-F238E27FC236}">
                <a16:creationId xmlns:a16="http://schemas.microsoft.com/office/drawing/2014/main" id="{8FFE953A-74F0-F009-AC5D-7D6974938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196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88174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jump command influences multiple subsequent frames</a:t>
            </a: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Repeat: make dimension same as latent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2561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9DD57-C73C-C262-EDF5-8D44732D0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66D2E8-7AD0-455E-6526-AE8FEC76E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528B81-E967-B03A-7478-0ED1A38B1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jump command influences multiple subsequent frames</a:t>
            </a: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Repeat: make dimension same as latent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0852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09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○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■"/>
              <a:def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350075"/>
            <a:ext cx="8520600" cy="20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altLang="zh-TW" sz="3000" dirty="0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Vid2World</a:t>
            </a:r>
            <a:r>
              <a:rPr lang="en-US" altLang="zh-TW" sz="3000" dirty="0">
                <a:latin typeface="Arial"/>
                <a:ea typeface="Arial"/>
                <a:cs typeface="Arial"/>
                <a:sym typeface="Arial"/>
              </a:rPr>
              <a:t>: Crafting Video Diffusion Models to Interactive World Models</a:t>
            </a:r>
            <a:endParaRPr lang="en-US"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58800" y="3815254"/>
            <a:ext cx="42264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TW" sz="2000" dirty="0"/>
              <a:t>arxiv:2505.14357</a:t>
            </a:r>
            <a:endParaRPr lang="en-US" altLang="zh-TW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TW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 descr="一張含有 文字, 字型, 白色, 印刷術 的圖片&#10;&#10;AI 產生的內容可能不正確。">
            <a:extLst>
              <a:ext uri="{FF2B5EF4-FFF2-40B4-BE49-F238E27FC236}">
                <a16:creationId xmlns:a16="http://schemas.microsoft.com/office/drawing/2014/main" id="{6F033FC7-C14B-1840-571B-8F9DE21CA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65" y="2925166"/>
            <a:ext cx="6555523" cy="8980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Overview</a:t>
            </a:r>
            <a:endParaRPr lang="en" altLang="zh-TW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7500">
              <a:buSzPts val="1400"/>
            </a:pPr>
            <a:r>
              <a:rPr lang="en-US" altLang="zh-TW" sz="1400" b="1" dirty="0"/>
              <a:t>Inability of causal generation</a:t>
            </a:r>
            <a:endParaRPr lang="en-US" altLang="zh-TW" sz="1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596900" lvl="1" indent="0">
              <a:buSzPct val="100000"/>
              <a:buNone/>
            </a:pPr>
            <a:endParaRPr lang="en-US" sz="14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Lack of action conditioning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5D25F1-59D8-44EC-BB0F-38CFECE92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46" y="2574698"/>
            <a:ext cx="6305550" cy="16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26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1;p15">
            <a:extLst>
              <a:ext uri="{FF2B5EF4-FFF2-40B4-BE49-F238E27FC236}">
                <a16:creationId xmlns:a16="http://schemas.microsoft.com/office/drawing/2014/main" id="{4F5BE3B7-A263-41E3-8081-6F289AF9A7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altLang="zh-TW" dirty="0"/>
              <a:t>Video Diffusion </a:t>
            </a:r>
            <a:r>
              <a:rPr lang="en-US" altLang="zh-TW" dirty="0" err="1"/>
              <a:t>Causalization</a:t>
            </a:r>
            <a:endParaRPr lang="en" altLang="zh-TW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Google Shape;82;p15">
            <a:extLst>
              <a:ext uri="{FF2B5EF4-FFF2-40B4-BE49-F238E27FC236}">
                <a16:creationId xmlns:a16="http://schemas.microsoft.com/office/drawing/2014/main" id="{90FE54AC-8BAC-4DED-A8AF-F7E695D90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1" indent="-317500">
              <a:buSzPct val="100000"/>
            </a:pPr>
            <a:endParaRPr lang="en-US" sz="1400" b="1" dirty="0"/>
          </a:p>
          <a:p>
            <a:pPr lvl="1" indent="-317500">
              <a:buSzPct val="100000"/>
            </a:pPr>
            <a:endParaRPr lang="en-US" sz="1400"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Temporal Convolution Layers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Mixed weight transfer</a:t>
            </a: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lvl="1" indent="-317500">
              <a:buSzPct val="100000"/>
              <a:buFont typeface="Calibri" panose="020F0502020204030204" pitchFamily="34" charset="0"/>
              <a:buChar char="○"/>
            </a:pPr>
            <a:endParaRPr lang="en-US" sz="1200" dirty="0">
              <a:solidFill>
                <a:schemeClr val="tx1"/>
              </a:solidFill>
            </a:endParaRPr>
          </a:p>
          <a:p>
            <a:pPr marL="596900" lvl="1" indent="0">
              <a:buSzPct val="100000"/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559B9D-ABEB-44BC-9CAF-046D1DDF2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961" y="2030931"/>
            <a:ext cx="2738827" cy="5408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2A7D4BB-8779-4EC4-AB75-9C669C5F8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517" y="1685445"/>
            <a:ext cx="4552554" cy="253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83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/>
              <a:t>Causal Action Guidance - training</a:t>
            </a:r>
            <a:br>
              <a:rPr lang="en" altLang="zh-TW" dirty="0"/>
            </a:br>
            <a:endParaRPr lang="en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Google Shape;82;p1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3200" y="923875"/>
                <a:ext cx="8520600" cy="40326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3970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None/>
                </a:pPr>
                <a:endParaRPr lang="en-US" sz="1400" b="1" dirty="0"/>
              </a:p>
              <a:p>
                <a:pPr marL="457200" lvl="0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●"/>
                </a:pPr>
                <a:r>
                  <a:rPr lang="en-US" sz="1400" b="1" dirty="0"/>
                  <a:t>Vid2world</a:t>
                </a:r>
                <a:endParaRPr lang="en-US" sz="1200" dirty="0"/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r>
                  <a:rPr lang="en-US" altLang="zh-TW" sz="1200" dirty="0"/>
                  <a:t>When predicting the t-</a:t>
                </a:r>
                <a:r>
                  <a:rPr lang="en-US" altLang="zh-TW" sz="1200" dirty="0" err="1"/>
                  <a:t>th</a:t>
                </a:r>
                <a:r>
                  <a:rPr lang="en-US" altLang="zh-TW" sz="1200" dirty="0"/>
                  <a:t> frame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sz="1200" dirty="0"/>
                  <a:t>, the embedding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TW" sz="1200" dirty="0"/>
                  <a:t> as action is added to the model’s representation at temporal position</a:t>
                </a:r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endParaRPr lang="en-US" altLang="zh-TW" sz="1200" dirty="0"/>
              </a:p>
              <a:p>
                <a:pPr lvl="1">
                  <a:buSzPct val="100000"/>
                </a:pPr>
                <a:r>
                  <a:rPr lang="en-US" altLang="zh-TW" sz="1200" dirty="0"/>
                  <a:t>Adding dropout </a:t>
                </a:r>
                <a:r>
                  <a:rPr lang="en" altLang="zh-TW" sz="1200" dirty="0"/>
                  <a:t>encourages the model to learn the score functions conditioned on all possible subsets of the action sequences.</a:t>
                </a:r>
              </a:p>
              <a:p>
                <a:pPr lvl="1" indent="-304800">
                  <a:lnSpc>
                    <a:spcPct val="100000"/>
                  </a:lnSpc>
                  <a:spcBef>
                    <a:spcPts val="280"/>
                  </a:spcBef>
                  <a:buSzPts val="1200"/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82" name="Google Shape;82;p1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3200" y="923875"/>
                <a:ext cx="8520600" cy="4032600"/>
              </a:xfrm>
              <a:prstGeom prst="rect">
                <a:avLst/>
              </a:prstGeom>
              <a:blipFill>
                <a:blip r:embed="rId3"/>
                <a:stretch>
                  <a:fillRect r="-1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 descr="一張含有 字型, 文字, 白色, 書法 的圖片&#10;&#10;AI 產生的內容可能不正確。">
            <a:extLst>
              <a:ext uri="{FF2B5EF4-FFF2-40B4-BE49-F238E27FC236}">
                <a16:creationId xmlns:a16="http://schemas.microsoft.com/office/drawing/2014/main" id="{33EDBDD7-FAEA-2C28-405F-CAFBCBAFB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991" y="3622725"/>
            <a:ext cx="2374900" cy="5969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00A9B52-870F-F144-079E-ACD5E2A6811D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5" name="圖片 4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3175DD0B-C78A-9F1F-DE1E-9C461CC00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00" r="1814"/>
          <a:stretch>
            <a:fillRect/>
          </a:stretch>
        </p:blipFill>
        <p:spPr>
          <a:xfrm>
            <a:off x="0" y="3331051"/>
            <a:ext cx="3541853" cy="1812449"/>
          </a:xfrm>
          <a:prstGeom prst="rect">
            <a:avLst/>
          </a:prstGeom>
        </p:spPr>
      </p:pic>
      <p:pic>
        <p:nvPicPr>
          <p:cNvPr id="8" name="圖片 7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2265CFF7-84A9-9D82-05F3-8F6186D74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2926" y="3225849"/>
            <a:ext cx="237490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0169B00-F940-706C-02FE-E7B7A6F2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1D871E5A-98A3-B713-5F68-2E409844AA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altLang="zh-TW" dirty="0"/>
              <a:t>Causal Action Guidance - sampling</a:t>
            </a:r>
            <a:br>
              <a:rPr lang="en" altLang="zh-TW" dirty="0"/>
            </a:br>
            <a:endParaRPr lang="en" altLang="zh-TW" dirty="0"/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01B91CE-2603-169E-5B25-207B3DFF6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923875"/>
            <a:ext cx="8520600" cy="40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 b="1" dirty="0"/>
              <a:t>Vid2world</a:t>
            </a:r>
            <a:endParaRPr lang="en-US" sz="1200" dirty="0"/>
          </a:p>
          <a:p>
            <a:pPr lvl="1" indent="-304800">
              <a:lnSpc>
                <a:spcPct val="100000"/>
              </a:lnSpc>
              <a:spcBef>
                <a:spcPts val="280"/>
              </a:spcBef>
              <a:buSzPts val="1200"/>
            </a:pPr>
            <a:r>
              <a:rPr lang="en-US" altLang="zh-TW" sz="1200" dirty="0"/>
              <a:t>To add flexibility to the level of control in the generated frames, extend classifier-free guidance to action-conditioned generation in auto-regressive setting</a:t>
            </a:r>
          </a:p>
          <a:p>
            <a:pPr marL="609600" lvl="1" indent="0">
              <a:lnSpc>
                <a:spcPct val="100000"/>
              </a:lnSpc>
              <a:spcBef>
                <a:spcPts val="280"/>
              </a:spcBef>
              <a:buSzPts val="1200"/>
              <a:buNone/>
            </a:pPr>
            <a:endParaRPr lang="en-US" altLang="zh-TW" sz="1200" dirty="0"/>
          </a:p>
          <a:p>
            <a:pPr lvl="1">
              <a:buSzPct val="100000"/>
            </a:pPr>
            <a:r>
              <a:rPr lang="en-US" altLang="zh-TW" sz="1200" dirty="0"/>
              <a:t>At</a:t>
            </a:r>
            <a:r>
              <a:rPr lang="zh-TW" altLang="en-US" sz="1200" dirty="0"/>
              <a:t> </a:t>
            </a:r>
            <a:r>
              <a:rPr lang="en-US" altLang="zh-TW" sz="1200" dirty="0"/>
              <a:t>inference time, guide the model’s generation to help</a:t>
            </a:r>
            <a:r>
              <a:rPr lang="zh-TW" altLang="en-US" sz="1200" dirty="0"/>
              <a:t> </a:t>
            </a:r>
            <a:r>
              <a:rPr lang="en" altLang="zh-TW" sz="1200" dirty="0"/>
              <a:t>the model support</a:t>
            </a:r>
            <a:r>
              <a:rPr lang="zh-TW" altLang="en-US" sz="1200" dirty="0"/>
              <a:t> </a:t>
            </a:r>
            <a:r>
              <a:rPr lang="en" altLang="zh-TW" sz="1200" dirty="0"/>
              <a:t>counterfactual reasoning conditioned by the most recent action the agent takes.</a:t>
            </a:r>
            <a:endParaRPr lang="en-US" altLang="zh-TW" sz="12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2F0E1D-90EA-A0BD-A63A-B8DB02F59B4A}"/>
              </a:ext>
            </a:extLst>
          </p:cNvPr>
          <p:cNvSpPr txBox="1"/>
          <p:nvPr/>
        </p:nvSpPr>
        <p:spPr>
          <a:xfrm>
            <a:off x="4114800" y="2117834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3" name="圖片 2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0F689CAB-315E-0369-1614-8EC257868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48" y="2571750"/>
            <a:ext cx="3977927" cy="231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0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97AE5AC3-95AB-AE60-D73A-5B8A0EC9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945" y="723379"/>
            <a:ext cx="9050055" cy="1909094"/>
          </a:xfrm>
        </p:spPr>
        <p:txBody>
          <a:bodyPr>
            <a:normAutofit/>
          </a:bodyPr>
          <a:lstStyle/>
          <a:p>
            <a:r>
              <a:rPr lang="en-US" altLang="zh-TW" sz="3000" dirty="0" err="1">
                <a:solidFill>
                  <a:schemeClr val="accent1">
                    <a:lumMod val="50000"/>
                  </a:schemeClr>
                </a:solidFill>
              </a:rPr>
              <a:t>GameFactory</a:t>
            </a:r>
            <a:r>
              <a:rPr lang="en-US" altLang="zh-TW" sz="30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br>
              <a:rPr lang="en-US" altLang="zh-TW" sz="3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TW" sz="3000" dirty="0"/>
              <a:t>Creating New Games with Generative Interactive Videos</a:t>
            </a:r>
            <a:endParaRPr lang="zh-TW" altLang="en-US" sz="3000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6865C43A-EF67-7C4D-0573-F355E9C11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500062"/>
            <a:ext cx="6858000" cy="1241822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solidFill>
                  <a:srgbClr val="000000"/>
                </a:solidFill>
                <a:latin typeface="+mj-lt"/>
              </a:rPr>
              <a:t>ICCV 2025 Highlight, arXiv:2501.08325</a:t>
            </a:r>
            <a:endParaRPr kumimoji="1" lang="en-US" altLang="zh-TW" sz="20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43465BE-BF08-64E0-7A36-935290AB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632472"/>
            <a:ext cx="7056388" cy="50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Overview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864230"/>
            <a:ext cx="5585340" cy="40628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1800" b="1" dirty="0"/>
              <a:t>Goal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1600" dirty="0"/>
              <a:t>A framework for </a:t>
            </a:r>
            <a:r>
              <a:rPr lang="en-US" altLang="zh-TW" sz="1600" b="1" dirty="0">
                <a:solidFill>
                  <a:schemeClr val="accent1">
                    <a:lumMod val="50000"/>
                  </a:schemeClr>
                </a:solidFill>
              </a:rPr>
              <a:t>action-controlled</a:t>
            </a:r>
            <a:r>
              <a:rPr lang="en-US" altLang="zh-TW" sz="1600" dirty="0"/>
              <a:t> and </a:t>
            </a:r>
            <a:r>
              <a:rPr lang="en-US" altLang="zh-TW" sz="1600" b="1" dirty="0">
                <a:solidFill>
                  <a:schemeClr val="accent1">
                    <a:lumMod val="50000"/>
                  </a:schemeClr>
                </a:solidFill>
              </a:rPr>
              <a:t>scene-generalizable</a:t>
            </a:r>
            <a:r>
              <a:rPr lang="en-US" altLang="zh-TW" sz="1600" dirty="0"/>
              <a:t> game video generation</a:t>
            </a:r>
            <a:endParaRPr lang="en" altLang="zh-TW" sz="1600" dirty="0"/>
          </a:p>
          <a:p>
            <a:pPr marL="622285" lvl="1" indent="0">
              <a:lnSpc>
                <a:spcPct val="100000"/>
              </a:lnSpc>
              <a:buSzPct val="100000"/>
              <a:buNone/>
            </a:pPr>
            <a:endParaRPr lang="en" altLang="zh-TW" sz="1500" dirty="0"/>
          </a:p>
          <a:p>
            <a:pPr>
              <a:lnSpc>
                <a:spcPct val="100000"/>
              </a:lnSpc>
              <a:buSzPct val="100000"/>
            </a:pPr>
            <a:r>
              <a:rPr lang="en" altLang="zh-TW" sz="1800" b="1" dirty="0"/>
              <a:t>Methods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Using video generation models trained on open-domain videos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1598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Disentangle the learning of game style and action control</a:t>
            </a:r>
          </a:p>
        </p:txBody>
      </p:sp>
      <p:pic>
        <p:nvPicPr>
          <p:cNvPr id="6" name="圖片 5" descr="一張含有 文字, 螢幕擷取畫面, 卡通, 字型 的圖片&#10;&#10;AI 產生的內容可能不正確。">
            <a:extLst>
              <a:ext uri="{FF2B5EF4-FFF2-40B4-BE49-F238E27FC236}">
                <a16:creationId xmlns:a16="http://schemas.microsoft.com/office/drawing/2014/main" id="{F1E91046-91FE-84CA-8768-655EB032FE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800" y="135639"/>
            <a:ext cx="3713967" cy="1790999"/>
          </a:xfrm>
          <a:prstGeom prst="rect">
            <a:avLst/>
          </a:prstGeom>
        </p:spPr>
      </p:pic>
      <p:pic>
        <p:nvPicPr>
          <p:cNvPr id="4" name="a">
            <a:hlinkClick r:id="" action="ppaction://media"/>
            <a:extLst>
              <a:ext uri="{FF2B5EF4-FFF2-40B4-BE49-F238E27FC236}">
                <a16:creationId xmlns:a16="http://schemas.microsoft.com/office/drawing/2014/main" id="{0FA2E490-4AE4-752F-E71E-3414E6249B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13447" y="2005406"/>
            <a:ext cx="2969932" cy="1633463"/>
          </a:xfrm>
          <a:prstGeom prst="rect">
            <a:avLst/>
          </a:prstGeom>
        </p:spPr>
      </p:pic>
      <p:pic>
        <p:nvPicPr>
          <p:cNvPr id="5" name="ul">
            <a:hlinkClick r:id="" action="ppaction://media"/>
            <a:extLst>
              <a:ext uri="{FF2B5EF4-FFF2-40B4-BE49-F238E27FC236}">
                <a16:creationId xmlns:a16="http://schemas.microsoft.com/office/drawing/2014/main" id="{B923656E-EB9C-6E15-9034-6D0C7108C44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013447" y="3638869"/>
            <a:ext cx="2969930" cy="163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1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1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 </a:t>
            </a:r>
            <a:r>
              <a:rPr lang="en-US" altLang="zh-TW" b="1" dirty="0"/>
              <a:t>–</a:t>
            </a:r>
            <a:r>
              <a:rPr kumimoji="1" lang="en-US" altLang="zh-TW" b="1" dirty="0"/>
              <a:t> Action Controlled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9" y="672415"/>
            <a:ext cx="5390174" cy="4003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-US" altLang="zh-TW" sz="1800" b="1" dirty="0"/>
              <a:t>Action Control Module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1600" dirty="0"/>
              <a:t>Input action includes both continuous mouse movement and discrete keyboard action 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1600" b="1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1800" b="1" dirty="0"/>
              <a:t>Grouping Actions with a Sliding Windows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1600" dirty="0"/>
              <a:t>Avoid mismatch between action and latent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1600" dirty="0"/>
              <a:t>Captures delayed action effects</a:t>
            </a:r>
          </a:p>
          <a:p>
            <a:pPr lvl="1">
              <a:lnSpc>
                <a:spcPct val="100000"/>
              </a:lnSpc>
              <a:buSzPct val="100000"/>
            </a:pPr>
            <a:endParaRPr lang="en-US" altLang="zh-TW" sz="1600" b="1" dirty="0"/>
          </a:p>
          <a:p>
            <a:pPr lvl="1">
              <a:lnSpc>
                <a:spcPct val="100000"/>
              </a:lnSpc>
              <a:buSzPct val="100000"/>
            </a:pPr>
            <a:endParaRPr lang="en" altLang="zh-TW" dirty="0"/>
          </a:p>
          <a:p>
            <a:pPr lvl="1">
              <a:lnSpc>
                <a:spcPct val="100000"/>
              </a:lnSpc>
              <a:buSzPct val="100000"/>
            </a:pPr>
            <a:endParaRPr lang="en-US" altLang="zh-TW" sz="1600" b="1" dirty="0"/>
          </a:p>
        </p:txBody>
      </p:sp>
      <p:pic>
        <p:nvPicPr>
          <p:cNvPr id="5" name="圖片 4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F596BC48-1604-8212-0813-1D5DE21AA1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6" t="1363" r="1431" b="-2530"/>
          <a:stretch>
            <a:fillRect/>
          </a:stretch>
        </p:blipFill>
        <p:spPr>
          <a:xfrm>
            <a:off x="476107" y="2571750"/>
            <a:ext cx="3203531" cy="2571750"/>
          </a:xfrm>
          <a:prstGeom prst="rect">
            <a:avLst/>
          </a:prstGeom>
        </p:spPr>
      </p:pic>
      <p:pic>
        <p:nvPicPr>
          <p:cNvPr id="7" name="圖片 6" descr="一張含有 文字, 螢幕擷取畫面, 數字, 計算機 的圖片&#10;&#10;AI 產生的內容可能不正確。">
            <a:extLst>
              <a:ext uri="{FF2B5EF4-FFF2-40B4-BE49-F238E27FC236}">
                <a16:creationId xmlns:a16="http://schemas.microsoft.com/office/drawing/2014/main" id="{07904A72-36BA-6482-2A5A-2F76BDE136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51"/>
          <a:stretch>
            <a:fillRect/>
          </a:stretch>
        </p:blipFill>
        <p:spPr>
          <a:xfrm>
            <a:off x="5464363" y="2492062"/>
            <a:ext cx="3026831" cy="265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9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8FB2B-F922-B0BC-842F-6D48728E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255310-B39C-342A-6531-1646B410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b="1" dirty="0"/>
              <a:t>Methods </a:t>
            </a:r>
            <a:r>
              <a:rPr lang="en-US" altLang="zh-TW" b="1" dirty="0"/>
              <a:t>–</a:t>
            </a:r>
            <a:r>
              <a:rPr kumimoji="1" lang="en-US" altLang="zh-TW" b="1" dirty="0"/>
              <a:t> Autoregressive Generation</a:t>
            </a:r>
            <a:endParaRPr kumimoji="1"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8A470A50-E91D-3697-2158-A32A878F002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657717"/>
                <a:ext cx="6650209" cy="3970244"/>
              </a:xfrm>
            </p:spPr>
            <p:txBody>
              <a:bodyPr>
                <a:normAutofit/>
              </a:bodyPr>
              <a:lstStyle/>
              <a:p>
                <a:pPr marL="622285" lvl="1" indent="0">
                  <a:lnSpc>
                    <a:spcPct val="100000"/>
                  </a:lnSpc>
                  <a:buSzPct val="100000"/>
                  <a:buNone/>
                </a:pPr>
                <a:endParaRPr lang="en-US" altLang="zh-TW" sz="1600" b="1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1800" b="1" dirty="0"/>
                  <a:t>Inputs</a:t>
                </a:r>
                <a:endParaRPr lang="en-US" altLang="zh-TW" sz="1500" dirty="0"/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5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TW" sz="1500" i="1" dirty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15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zh-TW" sz="1500" dirty="0"/>
                  <a:t>		: Clean history context </a:t>
                </a:r>
                <a:r>
                  <a:rPr lang="en-US" altLang="zh-TW" sz="1500" dirty="0" err="1"/>
                  <a:t>latents</a:t>
                </a:r>
                <a:r>
                  <a:rPr lang="en-US" altLang="zh-TW" sz="1500" dirty="0"/>
                  <a:t> and their actions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5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1500" i="1" dirty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TW" sz="1500" dirty="0">
                        <a:latin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US" altLang="zh-TW" sz="1500" dirty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TW" sz="1500" dirty="0"/>
                  <a:t>		: Noisy current latent chunk and its</a:t>
                </a:r>
                <a:r>
                  <a:rPr lang="zh-TW" altLang="en-US" sz="1500" dirty="0"/>
                  <a:t> </a:t>
                </a:r>
                <a:r>
                  <a:rPr lang="en-US" altLang="zh-TW" sz="1500" dirty="0"/>
                  <a:t>actions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1500" dirty="0"/>
                  <a:t>𝑝 	</a:t>
                </a:r>
                <a:r>
                  <a:rPr lang="en-US" altLang="zh-TW" sz="1500" dirty="0"/>
                  <a:t>	: Text prompt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zh-TW" altLang="en-US" sz="1500" dirty="0"/>
                  <a:t>𝑡 	</a:t>
                </a:r>
                <a:r>
                  <a:rPr lang="en-US" altLang="zh-TW" sz="1500" dirty="0"/>
                  <a:t>	: Timestep embedding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" altLang="zh-TW" dirty="0"/>
              </a:p>
              <a:p>
                <a:pPr>
                  <a:lnSpc>
                    <a:spcPct val="100000"/>
                  </a:lnSpc>
                  <a:buSzPct val="100000"/>
                </a:pPr>
                <a:r>
                  <a:rPr lang="en" altLang="zh-TW" sz="1800" b="1" dirty="0"/>
                  <a:t>Outputs</a:t>
                </a:r>
              </a:p>
              <a:p>
                <a:pPr lvl="1">
                  <a:lnSpc>
                    <a:spcPct val="100000"/>
                  </a:lnSpc>
                  <a:buSzPct val="100000"/>
                </a:pPr>
                <a:r>
                  <a:rPr lang="en-US" altLang="zh-TW" sz="1500" dirty="0">
                    <a:solidFill>
                      <a:prstClr val="black"/>
                    </a:solidFill>
                  </a:rPr>
                  <a:t>Generate</a:t>
                </a:r>
                <a:r>
                  <a:rPr lang="zh-TW" altLang="en-US" sz="1500" dirty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1500" dirty="0">
                    <a:solidFill>
                      <a:prstClr val="black"/>
                    </a:solidFill>
                  </a:rPr>
                  <a:t>video frames autoregressively</a:t>
                </a:r>
                <a:endParaRPr lang="en" altLang="zh-TW" sz="1500" dirty="0">
                  <a:solidFill>
                    <a:prstClr val="black"/>
                  </a:solidFill>
                </a:endParaRPr>
              </a:p>
              <a:p>
                <a:pPr lvl="1">
                  <a:lnSpc>
                    <a:spcPct val="100000"/>
                  </a:lnSpc>
                  <a:buSzPct val="100000"/>
                </a:pPr>
                <a:endParaRPr lang="en-US" altLang="zh-TW" sz="1600" b="1" dirty="0"/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8A470A50-E91D-3697-2158-A32A878F0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57717"/>
                <a:ext cx="6650209" cy="397024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73EB0F2F-5605-9F2A-5696-84750737E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708" y="2937332"/>
            <a:ext cx="4787888" cy="21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11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A5252D-6CF8-49C7-3BD9-8A0AE6A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Methods – Multiphase Training</a:t>
            </a:r>
            <a:endParaRPr kumimoji="1" lang="zh-TW" altLang="en-US" b="1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A6BA53-3271-632E-A4B8-F0E8A1F7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260" y="923875"/>
            <a:ext cx="8622008" cy="4032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SzPct val="100000"/>
            </a:pPr>
            <a:r>
              <a:rPr lang="en" altLang="zh-TW" sz="1800" b="1" dirty="0"/>
              <a:t>Goal 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Finetuning with single-game dataset </a:t>
            </a:r>
            <a:r>
              <a:rPr lang="en-US" altLang="zh-TW" sz="1598" dirty="0"/>
              <a:t>degrades scene generalizability from pretrained model</a:t>
            </a:r>
            <a:endParaRPr lang="en" altLang="zh-TW" sz="1598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Disentangle the learning of </a:t>
            </a:r>
            <a:r>
              <a:rPr lang="en" altLang="zh-TW" sz="1598" b="1" dirty="0">
                <a:solidFill>
                  <a:schemeClr val="accent1">
                    <a:lumMod val="50000"/>
                  </a:schemeClr>
                </a:solidFill>
              </a:rPr>
              <a:t>game style</a:t>
            </a:r>
            <a:r>
              <a:rPr lang="en" altLang="zh-TW" sz="1598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" altLang="zh-TW" sz="1598" dirty="0"/>
              <a:t>and </a:t>
            </a:r>
            <a:r>
              <a:rPr lang="en" altLang="zh-TW" sz="1598" b="1" dirty="0">
                <a:solidFill>
                  <a:schemeClr val="accent1">
                    <a:lumMod val="50000"/>
                  </a:schemeClr>
                </a:solidFill>
              </a:rPr>
              <a:t>action control</a:t>
            </a:r>
          </a:p>
          <a:p>
            <a:pPr lvl="1">
              <a:lnSpc>
                <a:spcPct val="100000"/>
              </a:lnSpc>
              <a:buSzPct val="100000"/>
            </a:pPr>
            <a:endParaRPr lang="en" altLang="zh-TW" sz="1598" dirty="0"/>
          </a:p>
          <a:p>
            <a:pPr>
              <a:lnSpc>
                <a:spcPct val="100000"/>
              </a:lnSpc>
              <a:buSzPct val="100000"/>
            </a:pPr>
            <a:r>
              <a:rPr lang="en-US" altLang="zh-TW" sz="1800" b="1" dirty="0"/>
              <a:t>Training phases</a:t>
            </a:r>
            <a:endParaRPr lang="en" altLang="zh-TW" sz="1397" dirty="0"/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#0 : Model pretraining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#1 : Tune </a:t>
            </a:r>
            <a:r>
              <a:rPr lang="en" altLang="zh-TW" sz="1598" b="1" dirty="0">
                <a:solidFill>
                  <a:schemeClr val="accent1">
                    <a:lumMod val="50000"/>
                  </a:schemeClr>
                </a:solidFill>
              </a:rPr>
              <a:t>LoRA as domain adapter</a:t>
            </a:r>
            <a:r>
              <a:rPr lang="en" altLang="zh-TW" sz="1598" dirty="0"/>
              <a:t> to fit game videos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" altLang="zh-TW" sz="1598" dirty="0"/>
              <a:t>#2 : Tune action control module</a:t>
            </a:r>
          </a:p>
          <a:p>
            <a:pPr lvl="1">
              <a:lnSpc>
                <a:spcPct val="100000"/>
              </a:lnSpc>
              <a:buSzPct val="100000"/>
            </a:pPr>
            <a:r>
              <a:rPr lang="en-US" altLang="zh-TW" sz="1598" dirty="0"/>
              <a:t>#3</a:t>
            </a:r>
            <a:r>
              <a:rPr lang="zh-TW" altLang="en-US" sz="1598" dirty="0"/>
              <a:t> </a:t>
            </a:r>
            <a:r>
              <a:rPr lang="en-US" altLang="zh-TW" sz="1598" dirty="0"/>
              <a:t>:</a:t>
            </a:r>
            <a:r>
              <a:rPr lang="zh-TW" altLang="en-US" sz="1598" dirty="0"/>
              <a:t> </a:t>
            </a:r>
            <a:r>
              <a:rPr lang="en-US" altLang="zh-TW" sz="1598" dirty="0"/>
              <a:t>Inference on open domain</a:t>
            </a:r>
            <a:endParaRPr lang="en" altLang="zh-TW" sz="1598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589873-58DB-48D4-8EC7-61D4CC9E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545" y="3454877"/>
            <a:ext cx="5911097" cy="147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145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418</Words>
  <Application>Microsoft Macintosh PowerPoint</Application>
  <PresentationFormat>如螢幕大小 (16:9)</PresentationFormat>
  <Paragraphs>65</Paragraphs>
  <Slides>10</Slides>
  <Notes>9</Notes>
  <HiddenSlides>1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Simple Light</vt:lpstr>
      <vt:lpstr>Vid2World: Crafting Video Diffusion Models to Interactive World Models</vt:lpstr>
      <vt:lpstr>Overview</vt:lpstr>
      <vt:lpstr>Video Diffusion Causalization</vt:lpstr>
      <vt:lpstr>Causal Action Guidance - training </vt:lpstr>
      <vt:lpstr>Causal Action Guidance - sampling </vt:lpstr>
      <vt:lpstr>GameFactory: Creating New Games with Generative Interactive Videos</vt:lpstr>
      <vt:lpstr>Overview</vt:lpstr>
      <vt:lpstr>Methods – Action Controlled</vt:lpstr>
      <vt:lpstr>Methods – Autoregressive Generation</vt:lpstr>
      <vt:lpstr>Methods – Multiphase 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Vid2World: Crafting Video Diffusion Models to Interactive World Models</dc:title>
  <cp:lastModifiedBy>賴禹衡</cp:lastModifiedBy>
  <cp:revision>83</cp:revision>
  <dcterms:modified xsi:type="dcterms:W3CDTF">2026-01-06T12:26:45Z</dcterms:modified>
</cp:coreProperties>
</file>