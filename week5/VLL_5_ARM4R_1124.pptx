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7" r:id="rId2"/>
    <p:sldId id="291" r:id="rId3"/>
    <p:sldId id="301" r:id="rId4"/>
    <p:sldId id="302" r:id="rId5"/>
    <p:sldId id="304" r:id="rId6"/>
    <p:sldId id="293" r:id="rId7"/>
    <p:sldId id="294" r:id="rId8"/>
    <p:sldId id="295" r:id="rId9"/>
    <p:sldId id="298" r:id="rId10"/>
    <p:sldId id="300" r:id="rId11"/>
    <p:sldId id="299" r:id="rId12"/>
    <p:sldId id="296" r:id="rId13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年 松" initials="年" lastIdx="1" clrIdx="0">
    <p:extLst>
      <p:ext uri="{19B8F6BF-5375-455C-9EA6-DF929625EA0E}">
        <p15:presenceInfo xmlns:p15="http://schemas.microsoft.com/office/powerpoint/2012/main" userId="fe8ded9e810998ad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157" autoAdjust="0"/>
    <p:restoredTop sz="94671"/>
  </p:normalViewPr>
  <p:slideViewPr>
    <p:cSldViewPr snapToGrid="0">
      <p:cViewPr varScale="1">
        <p:scale>
          <a:sx n="89" d="100"/>
          <a:sy n="89" d="100"/>
        </p:scale>
        <p:origin x="52" y="4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commentAuthors" Target="commentAuthors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頁首版面配置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3" name="日期版面配置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0B01F6F-EDDE-E842-A1D2-813517CF47B4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4" name="投影片影像版面配置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備忘稿版面配置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6" name="頁尾版面配置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kumimoji="1" lang="zh-TW" altLang="en-US"/>
          </a:p>
        </p:txBody>
      </p:sp>
      <p:sp>
        <p:nvSpPr>
          <p:cNvPr id="7" name="投影片編號版面配置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900113E-94D9-6E40-9986-93BB30B97204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6070820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4309733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50141467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90030786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814866538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kumimoji="1" lang="en-US" altLang="zh-TW" dirty="0"/>
              <a:t>Dynamic Gaussian splatting</a:t>
            </a:r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640084267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42340078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411211210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9614F3-F536-BA1F-89AC-16C530F0A1E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753487F4-5277-1C0C-919C-AA737811A67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2B8A29B1-991D-7558-4CFB-DEB405D68FA9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importance of using low-level representations as opposed to language decoders that</a:t>
            </a:r>
          </a:p>
          <a:p>
            <a:r>
              <a:rPr lang="en" altLang="zh-TW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were pre-trained on high-level vision-language tasks.</a:t>
            </a:r>
          </a:p>
        </p:txBody>
      </p:sp>
    </p:spTree>
    <p:extLst>
      <p:ext uri="{BB962C8B-B14F-4D97-AF65-F5344CB8AC3E}">
        <p14:creationId xmlns:p14="http://schemas.microsoft.com/office/powerpoint/2010/main" val="293410624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1010D9-7C2D-EF72-BEE1-6C52A89D21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>
            <a:extLst>
              <a:ext uri="{FF2B5EF4-FFF2-40B4-BE49-F238E27FC236}">
                <a16:creationId xmlns:a16="http://schemas.microsoft.com/office/drawing/2014/main" id="{A861EF3E-97D2-33BB-94BA-99D82EB0ABB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>
            <a:extLst>
              <a:ext uri="{FF2B5EF4-FFF2-40B4-BE49-F238E27FC236}">
                <a16:creationId xmlns:a16="http://schemas.microsoft.com/office/drawing/2014/main" id="{5BBFC0C8-59AE-82BC-C953-45E4389EA1F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143614637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投影片影像版面配置區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備忘稿版面配置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7403773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4A9853F-9B42-567F-B1B1-8AF2434F8972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1168628B-2A60-EAFD-B984-900E929DD6D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D8D7D47-3912-F783-57E3-0AC9AD4218C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79CD9DA2-CF3E-A1F6-D832-6FD910B7323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FA1D187A-B37B-EE70-D489-8F6908BAB7B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11457320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54AFEAB-BD7A-A729-982B-E09ED492E55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CDB3FD5C-E626-3B47-4075-AE70B0A1E72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DBDDC4FD-C877-887D-BF84-C347EB0E43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2EEC5537-3DBF-F73C-52C4-D813C06B71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47A92F04-63E3-AA7A-7466-67E7901C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7803047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A9B82D6-954F-E6C3-9664-6C35A8B76D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A83AE2B-1D41-F4A0-AB10-F424CD284A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851C13F5-C2BA-E448-5AF8-A9787C25B6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8D1DBEA9-CEB4-096F-CA64-A5A3DEF78B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49BA8F1-B80A-5AA4-BF62-05C44F1E5A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127242348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4F6D1C12-D772-3608-77FB-043E3FF7BE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7645FBC-0B76-4B23-B4BE-3002B94FC94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E3BA4B98-5B50-2271-BB86-F4DC336AF35E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7780351-75E6-B866-FC1E-B9D56780C46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E8B321E7-59D1-62A2-443A-6D06C2383B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E90FCE4-57C2-38C0-792E-17157D750B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4397239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ACC9866-98A0-A592-E7DD-413A14C18EB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088E684-8B52-2165-B3F8-204FF6A7F12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16D10DD6-3D00-24FC-F702-416B1CC61F9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AFC4DC67-5CF4-B80B-7EA1-9B0244017E0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77F8BADF-7EEB-DD1C-DF98-F62F2A11919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BBF4DE82-1B67-61CD-218B-F83B5739B3C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B326C6EB-E7B0-C731-B2AC-F69BE36229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336C9C24-3B45-2209-6409-6B7A739C4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69871887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38ED0D82-7D7E-D584-F830-A2749C7BE0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AF73AC10-03AC-FA12-5C25-63F3CD5C26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E2BC06E4-AD22-9F96-4BBD-C269F14F97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6FF94572-97E2-2B18-F623-1DE44696C9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9154933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43B5255B-A24D-3958-D0B7-EB90BA8425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AA0CCB54-8B0D-DE45-DF6A-BB1F42433E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3E0E86EA-6B6F-EAB3-C476-22C855A72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2783832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2FD573C-E9EA-991E-5580-D6567718676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579E9A77-CF9E-3962-241E-F47C4F65AA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2B2B4005-3919-9785-FDFB-2953468A02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7E0FDF93-C1D0-E2F2-8B34-E883A1D93E5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31DDD28-9C8B-C042-09F7-6353C1AADE9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AE26582E-FBE7-1DAC-4E6D-59A32C57F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393158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E52E59AD-2080-50E8-4D20-816C3A8230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FD12A37E-71C8-41BB-4B54-265D6816F5FE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3B58B66D-EA91-D0CB-2D10-3AAD948C484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6FA15EC1-31AF-1434-51C9-FF58ED5351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21FDB9FA-DD36-8849-E6B5-1F5AB4C844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B342997E-2F8F-AB7A-1B9B-15607D9405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403532286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672C5B7-9F7F-1162-D3AA-8CAC5E17227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79DCD953-7CA3-4DB3-66A4-07881E089A3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90A5390F-830E-8BFF-DD9D-5BB9FD155E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C8BBE400-5E05-DBCD-EA67-0CBADAC661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5D4843D0-EFD2-1930-72DA-91E4329A97B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9584871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AD620DF5-DE1D-A769-7738-5EEC0B61B2D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498421BF-4B81-2156-784A-39F7FFC8F9D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1B9B658-F7E6-08BE-E79F-241C9429451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31BE8D2-196D-3A55-EF4A-F816EB412B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6D596BA4-9CF0-14F3-8EF4-64F1324243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354233367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415600" y="2885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417600" y="1231833"/>
            <a:ext cx="11360800" cy="5376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609585" lvl="0" indent="-40639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600"/>
            </a:lvl1pPr>
            <a:lvl2pPr marL="1219170" lvl="1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2pPr>
            <a:lvl3pPr marL="1828754" lvl="2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3pPr>
            <a:lvl4pPr marL="2438339" lvl="3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4pPr>
            <a:lvl5pPr marL="3047924" lvl="4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5pPr>
            <a:lvl6pPr marL="3657509" lvl="5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6pPr>
            <a:lvl7pPr marL="4267093" lvl="6" indent="-389457">
              <a:spcBef>
                <a:spcPts val="0"/>
              </a:spcBef>
              <a:spcAft>
                <a:spcPts val="0"/>
              </a:spcAft>
              <a:buSzPts val="1000"/>
              <a:buChar char="●"/>
              <a:defRPr sz="1333"/>
            </a:lvl7pPr>
            <a:lvl8pPr marL="4876678" lvl="7" indent="-389457">
              <a:spcBef>
                <a:spcPts val="0"/>
              </a:spcBef>
              <a:spcAft>
                <a:spcPts val="0"/>
              </a:spcAft>
              <a:buSzPts val="1000"/>
              <a:buChar char="○"/>
              <a:defRPr sz="1333"/>
            </a:lvl8pPr>
            <a:lvl9pPr marL="5486263" lvl="8" indent="-389457">
              <a:spcBef>
                <a:spcPts val="0"/>
              </a:spcBef>
              <a:spcAft>
                <a:spcPts val="0"/>
              </a:spcAft>
              <a:buSzPts val="1000"/>
              <a:buChar char="■"/>
              <a:defRPr sz="1333"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-US" altLang="zh-TW" smtClean="0"/>
              <a:pPr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3186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D0B532BD-636E-B399-C0F0-B04FE6E864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8C7AC752-5C92-C7A9-C13F-B298768DA8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zh-TW" altLang="en-US"/>
              <a:t>按一下以編輯母片文字樣式</a:t>
            </a:r>
          </a:p>
          <a:p>
            <a:pPr lvl="1"/>
            <a:r>
              <a:rPr kumimoji="1" lang="zh-TW" altLang="en-US"/>
              <a:t>第二層</a:t>
            </a:r>
          </a:p>
          <a:p>
            <a:pPr lvl="2"/>
            <a:r>
              <a:rPr kumimoji="1" lang="zh-TW" altLang="en-US"/>
              <a:t>第三層</a:t>
            </a:r>
          </a:p>
          <a:p>
            <a:pPr lvl="3"/>
            <a:r>
              <a:rPr kumimoji="1" lang="zh-TW" altLang="en-US"/>
              <a:t>第四層</a:t>
            </a:r>
          </a:p>
          <a:p>
            <a:pPr lvl="4"/>
            <a:r>
              <a:rPr kumimoji="1"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258CA9EF-BEDF-9AB3-A4E7-0918332006E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418B809-EC84-AA44-970B-7890D055606C}" type="datetimeFigureOut">
              <a:rPr kumimoji="1" lang="zh-TW" altLang="en-US" smtClean="0"/>
              <a:t>2025/11/25</a:t>
            </a:fld>
            <a:endParaRPr kumimoji="1"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FE44485D-E3EC-04A0-935B-6F4E1E6C86A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kumimoji="1"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9044E86D-5CC2-0D9F-5031-63AB35E0D08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7EBA67-1CE4-3642-BC12-45630B5D3B3F}" type="slidenum">
              <a:rPr kumimoji="1" lang="zh-TW" altLang="en-US" smtClean="0"/>
              <a:t>‹#›</a:t>
            </a:fld>
            <a:endParaRPr kumimoji="1" lang="zh-TW" altLang="en-US"/>
          </a:p>
        </p:txBody>
      </p:sp>
    </p:spTree>
    <p:extLst>
      <p:ext uri="{BB962C8B-B14F-4D97-AF65-F5344CB8AC3E}">
        <p14:creationId xmlns:p14="http://schemas.microsoft.com/office/powerpoint/2010/main" val="20897650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2.xml"/><Relationship Id="rId4" Type="http://schemas.openxmlformats.org/officeDocument/2006/relationships/image" Target="../media/image5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1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1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5" Type="http://schemas.openxmlformats.org/officeDocument/2006/relationships/image" Target="../media/image13.png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標題 3">
            <a:extLst>
              <a:ext uri="{FF2B5EF4-FFF2-40B4-BE49-F238E27FC236}">
                <a16:creationId xmlns:a16="http://schemas.microsoft.com/office/drawing/2014/main" id="{97AE5AC3-95AB-AE60-D73A-5B8A0EC91F9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5260" y="964504"/>
            <a:ext cx="12066740" cy="2545459"/>
          </a:xfrm>
        </p:spPr>
        <p:txBody>
          <a:bodyPr>
            <a:normAutofit/>
          </a:bodyPr>
          <a:lstStyle/>
          <a:p>
            <a:r>
              <a:rPr lang="en-US" altLang="zh-TW" sz="4000" b="1" dirty="0"/>
              <a:t>Pre-training Auto-regressive Robotic Models </a:t>
            </a:r>
            <a:br>
              <a:rPr lang="en-US" altLang="zh-TW" sz="4000" b="1" dirty="0"/>
            </a:br>
            <a:r>
              <a:rPr lang="en-US" altLang="zh-TW" sz="4000" b="1" dirty="0"/>
              <a:t>with 4D Representations</a:t>
            </a:r>
            <a:endParaRPr lang="zh-TW" altLang="en-US" sz="4000" b="1" dirty="0"/>
          </a:p>
        </p:txBody>
      </p:sp>
      <p:sp>
        <p:nvSpPr>
          <p:cNvPr id="5" name="副標題 4">
            <a:extLst>
              <a:ext uri="{FF2B5EF4-FFF2-40B4-BE49-F238E27FC236}">
                <a16:creationId xmlns:a16="http://schemas.microsoft.com/office/drawing/2014/main" id="{6865C43A-EF67-7C4D-0573-F355E9C1144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4666750"/>
            <a:ext cx="9144000" cy="1655762"/>
          </a:xfrm>
        </p:spPr>
        <p:txBody>
          <a:bodyPr/>
          <a:lstStyle/>
          <a:p>
            <a:r>
              <a:rPr lang="en-US" altLang="zh-TW" dirty="0">
                <a:solidFill>
                  <a:srgbClr val="000000"/>
                </a:solidFill>
              </a:rPr>
              <a:t>ICML 2025, arXiv:2502.13142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指導學長：鍾閎凱／吳彥翔</a:t>
            </a:r>
          </a:p>
          <a:p>
            <a:r>
              <a:rPr kumimoji="1" lang="zh-TW" altLang="en-US" dirty="0">
                <a:latin typeface="微軟正黑體" panose="020B0604030504040204" pitchFamily="34" charset="-120"/>
                <a:ea typeface="微軟正黑體" panose="020B0604030504040204" pitchFamily="34" charset="-120"/>
              </a:rPr>
              <a:t>報告人：電機三 賴禹衡／電機三 陳政年</a:t>
            </a:r>
          </a:p>
        </p:txBody>
      </p:sp>
      <p:pic>
        <p:nvPicPr>
          <p:cNvPr id="3" name="圖片 2">
            <a:extLst>
              <a:ext uri="{FF2B5EF4-FFF2-40B4-BE49-F238E27FC236}">
                <a16:creationId xmlns:a16="http://schemas.microsoft.com/office/drawing/2014/main" id="{6F86C563-5386-617F-336F-CB200399C24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07830" y="3509963"/>
            <a:ext cx="8576339" cy="5823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8063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Overview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49601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Goal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Establish a powerful robotic </a:t>
            </a: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foundation model</a:t>
            </a:r>
            <a:endParaRPr lang="en" altLang="zh-TW" sz="2130" b="1" dirty="0">
              <a:solidFill>
                <a:schemeClr val="tx2">
                  <a:lumMod val="90000"/>
                  <a:lumOff val="10000"/>
                </a:schemeClr>
              </a:solidFill>
            </a:endParaRP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Barriers / Previous works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Lack of robotic datas </a:t>
            </a:r>
            <a:br>
              <a:rPr lang="en" altLang="zh-TW" sz="2130" dirty="0"/>
            </a:br>
            <a:r>
              <a:rPr lang="en" altLang="zh-TW" sz="2130" dirty="0"/>
              <a:t>-&gt; To take advantage of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human datas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With human datas, lack of effective representations may degrade model generalizability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For VLMs, the pre-training objective doesn’t match the action prediction objective</a:t>
            </a:r>
            <a:br>
              <a:rPr lang="en" altLang="zh-TW" sz="2130" dirty="0"/>
            </a:br>
            <a:r>
              <a:rPr lang="en" altLang="zh-TW" sz="2130" dirty="0"/>
              <a:t>-&gt; To construct a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representation that can bridge the gap</a:t>
            </a:r>
            <a:br>
              <a:rPr lang="en" altLang="zh-TW" sz="2130" dirty="0"/>
            </a:b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  <p:pic>
        <p:nvPicPr>
          <p:cNvPr id="6" name="圖片 5">
            <a:extLst>
              <a:ext uri="{FF2B5EF4-FFF2-40B4-BE49-F238E27FC236}">
                <a16:creationId xmlns:a16="http://schemas.microsoft.com/office/drawing/2014/main" id="{B11D88FE-5CF2-4143-9E45-E956F9A795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61021" y="4964617"/>
            <a:ext cx="7269957" cy="16048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4161452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 – Representation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49601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4D</a:t>
            </a:r>
            <a:r>
              <a:rPr lang="zh-TW" altLang="en-US" sz="2400" b="1" dirty="0"/>
              <a:t> </a:t>
            </a:r>
            <a:r>
              <a:rPr lang="en-US" altLang="zh-TW" sz="2400" b="1" dirty="0"/>
              <a:t>Scene representation</a:t>
            </a:r>
            <a:endParaRPr lang="en" altLang="zh-TW" sz="2400" b="1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3D point tracking problem</a:t>
            </a:r>
            <a:endParaRPr lang="en-US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Initialize g^2 points that correspond to same real world point throughout video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Benefits – they are quite the same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3D point tracking and robot motion share the same SE(3) linear action on 3D points, </a:t>
            </a:r>
            <a:br>
              <a:rPr lang="en-US" altLang="zh-TW" sz="2130" dirty="0"/>
            </a:br>
            <a:r>
              <a:rPr lang="en-US" altLang="zh-TW" sz="2130" dirty="0"/>
              <a:t>and their representations differ only up to a linear transformation in this shared space.</a:t>
            </a:r>
            <a:endParaRPr lang="en" altLang="zh-TW" sz="2130" dirty="0"/>
          </a:p>
        </p:txBody>
      </p:sp>
      <p:pic>
        <p:nvPicPr>
          <p:cNvPr id="5" name="圖片 4">
            <a:extLst>
              <a:ext uri="{FF2B5EF4-FFF2-40B4-BE49-F238E27FC236}">
                <a16:creationId xmlns:a16="http://schemas.microsoft.com/office/drawing/2014/main" id="{21A90F3F-D9A7-48C3-967A-DEB73F5742C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24115" y="4200525"/>
            <a:ext cx="8056473" cy="236890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258074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 – Architecture</a:t>
            </a:r>
            <a:endParaRPr kumimoji="1" lang="zh-TW" altLang="en-US" b="1" dirty="0"/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B4A6BA53-3271-632E-A4B8-F0E8A1F70F1C}"/>
                  </a:ext>
                </a:extLst>
              </p:cNvPr>
              <p:cNvSpPr>
                <a:spLocks noGrp="1"/>
              </p:cNvSpPr>
              <p:nvPr>
                <p:ph type="body" idx="1"/>
              </p:nvPr>
            </p:nvSpPr>
            <p:spPr>
              <a:xfrm>
                <a:off x="404347" y="1231833"/>
                <a:ext cx="11496010" cy="5376800"/>
              </a:xfrm>
            </p:spPr>
            <p:txBody>
              <a:bodyPr>
                <a:normAutofit/>
              </a:bodyPr>
              <a:lstStyle/>
              <a:p>
                <a:pPr>
                  <a:lnSpc>
                    <a:spcPct val="100000"/>
                  </a:lnSpc>
                  <a:buSzPct val="100000"/>
                </a:pPr>
                <a:r>
                  <a:rPr lang="en-US" altLang="zh-TW" sz="2400" b="1" dirty="0"/>
                  <a:t>Inputs</a:t>
                </a:r>
                <a:endParaRPr lang="en" altLang="zh-TW" sz="2400" b="1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r>
                      <a:rPr lang="en-US" altLang="zh-TW" sz="2130" b="0" i="1" smtClean="0">
                        <a:latin typeface="Cambria Math" panose="02040503050406030204" pitchFamily="18" charset="0"/>
                      </a:rPr>
                      <m:t>𝑙</m:t>
                    </m:r>
                  </m:oMath>
                </a14:m>
                <a:r>
                  <a:rPr lang="en" altLang="zh-TW" sz="2130" dirty="0"/>
                  <a:t> : </a:t>
                </a:r>
                <a:r>
                  <a:rPr lang="en" altLang="zh-TW" sz="213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Language</a:t>
                </a:r>
                <a:r>
                  <a:rPr lang="en" altLang="zh-TW" sz="2130" dirty="0"/>
                  <a:t> instructions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r>
                      <a:rPr lang="en-US" altLang="zh-TW" sz="2130" b="0" i="1" smtClean="0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en" altLang="zh-TW" sz="2130" dirty="0"/>
                  <a:t> : </a:t>
                </a:r>
                <a:r>
                  <a:rPr lang="en" altLang="zh-TW" sz="213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Images</a:t>
                </a:r>
                <a:r>
                  <a:rPr lang="en" altLang="zh-TW" sz="2130" dirty="0"/>
                  <a:t> (Observations)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r>
                      <a:rPr lang="en-US" altLang="zh-TW" sz="213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130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altLang="zh-TW" sz="213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" altLang="zh-TW" sz="2130" dirty="0"/>
                  <a:t> : </a:t>
                </a:r>
                <a:r>
                  <a:rPr lang="en-US" altLang="zh-TW" sz="2130" dirty="0"/>
                  <a:t>3D coordinate of </a:t>
                </a:r>
                <a:r>
                  <a:rPr lang="en-US" altLang="zh-TW" sz="213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tracked points</a:t>
                </a:r>
                <a:r>
                  <a:rPr lang="en-US" altLang="zh-TW" sz="2130" dirty="0"/>
                  <a:t> / </a:t>
                </a:r>
                <a:r>
                  <a:rPr lang="en-US" altLang="zh-TW" sz="213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Robot states</a:t>
                </a:r>
                <a:endParaRPr lang="en" altLang="zh-TW" sz="2130" dirty="0"/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sz="2130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-US" altLang="zh-TW" sz="2400" b="1" dirty="0"/>
                  <a:t>Outputs</a:t>
                </a:r>
                <a:endParaRPr lang="en" altLang="zh-TW" sz="1863" dirty="0"/>
              </a:p>
              <a:p>
                <a:pPr lvl="1">
                  <a:lnSpc>
                    <a:spcPct val="100000"/>
                  </a:lnSpc>
                  <a:buSzPct val="100000"/>
                </a:pPr>
                <a14:m>
                  <m:oMath xmlns:m="http://schemas.openxmlformats.org/officeDocument/2006/math">
                    <m:r>
                      <a:rPr lang="en-US" altLang="zh-TW" sz="2130" b="0" i="1" smtClean="0">
                        <a:latin typeface="Cambria Math" panose="02040503050406030204" pitchFamily="18" charset="0"/>
                      </a:rPr>
                      <m:t>𝑝</m:t>
                    </m:r>
                    <m:r>
                      <a:rPr lang="en-US" altLang="zh-TW" sz="2130" b="0" i="0" smtClean="0">
                        <a:latin typeface="Cambria Math" panose="02040503050406030204" pitchFamily="18" charset="0"/>
                      </a:rPr>
                      <m:t>/</m:t>
                    </m:r>
                    <m:r>
                      <m:rPr>
                        <m:sty m:val="p"/>
                      </m:rPr>
                      <a:rPr lang="en-US" altLang="zh-TW" sz="2130" b="0" i="0" smtClean="0">
                        <a:latin typeface="Cambria Math" panose="02040503050406030204" pitchFamily="18" charset="0"/>
                      </a:rPr>
                      <m:t>s</m:t>
                    </m:r>
                  </m:oMath>
                </a14:m>
                <a:r>
                  <a:rPr lang="en" altLang="zh-TW" sz="2130" dirty="0"/>
                  <a:t> in next timestep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sz="2130" dirty="0"/>
              </a:p>
              <a:p>
                <a:pPr>
                  <a:lnSpc>
                    <a:spcPct val="100000"/>
                  </a:lnSpc>
                  <a:buSzPct val="100000"/>
                </a:pPr>
                <a:r>
                  <a:rPr lang="en-US" altLang="zh-TW" sz="2400" b="1" dirty="0"/>
                  <a:t>Structure</a:t>
                </a:r>
                <a:endParaRPr lang="en" altLang="zh-TW" sz="1863" dirty="0"/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" altLang="zh-TW" sz="2130" dirty="0"/>
                  <a:t>Language encoder: frozen CLIP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" altLang="zh-TW" sz="2130" dirty="0"/>
                  <a:t>Image encoder: forzen ViT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" altLang="zh-TW" sz="2130" dirty="0"/>
                  <a:t>State encode: two layer MLP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" altLang="zh-TW" sz="213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Attention pooling</a:t>
                </a:r>
                <a:r>
                  <a:rPr lang="en" altLang="zh-TW" sz="2130" dirty="0"/>
                  <a:t> combine image and state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" altLang="zh-TW" sz="2130" dirty="0"/>
                  <a:t>A </a:t>
                </a:r>
                <a:r>
                  <a:rPr lang="en" altLang="zh-TW" sz="2130" b="1" dirty="0">
                    <a:solidFill>
                      <a:schemeClr val="tx2">
                        <a:lumMod val="90000"/>
                        <a:lumOff val="10000"/>
                      </a:schemeClr>
                    </a:solidFill>
                  </a:rPr>
                  <a:t>casual transformer combine all inputs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r>
                  <a:rPr lang="en" altLang="zh-TW" sz="2130" dirty="0"/>
                  <a:t>Decoder: two layer MLP</a:t>
                </a:r>
              </a:p>
              <a:p>
                <a:pPr lvl="1">
                  <a:lnSpc>
                    <a:spcPct val="100000"/>
                  </a:lnSpc>
                  <a:buSzPct val="100000"/>
                </a:pPr>
                <a:endParaRPr lang="en" altLang="zh-TW" sz="2130" dirty="0"/>
              </a:p>
            </p:txBody>
          </p:sp>
        </mc:Choice>
        <mc:Fallback>
          <p:sp>
            <p:nvSpPr>
              <p:cNvPr id="3" name="文字版面配置區 2">
                <a:extLst>
                  <a:ext uri="{FF2B5EF4-FFF2-40B4-BE49-F238E27FC236}">
                    <a16:creationId xmlns:a16="http://schemas.microsoft.com/office/drawing/2014/main" id="{B4A6BA53-3271-632E-A4B8-F0E8A1F70F1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404347" y="1231833"/>
                <a:ext cx="11496010" cy="5376800"/>
              </a:xfr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5" name="圖片 4">
            <a:extLst>
              <a:ext uri="{FF2B5EF4-FFF2-40B4-BE49-F238E27FC236}">
                <a16:creationId xmlns:a16="http://schemas.microsoft.com/office/drawing/2014/main" id="{76BCD137-AE5A-42E0-9E54-1CF7F2E7FC78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29439" y="3872066"/>
            <a:ext cx="4970918" cy="273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94519608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Method – 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49601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Stage 1</a:t>
            </a:r>
            <a:endParaRPr lang="en" altLang="zh-TW" sz="240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Pre-train with human videos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Learn </a:t>
            </a: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3D point tracking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GT annotations for point track are extracted with another model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Stage 2</a:t>
            </a:r>
            <a:endParaRPr lang="en" altLang="zh-TW" sz="1800" dirty="0"/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Finetune with robot videos (same setting as downstream application)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Learn </a:t>
            </a:r>
            <a:r>
              <a:rPr lang="en-US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3D point tracking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0" dirty="0"/>
              <a:t>Tuning with 5%~10% data count of stage 1</a:t>
            </a:r>
            <a:br>
              <a:rPr lang="en" altLang="zh-TW" sz="2130" dirty="0"/>
            </a:br>
            <a:endParaRPr lang="en" altLang="zh-TW" sz="2130" dirty="0"/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Stage 3</a:t>
            </a:r>
            <a:endParaRPr lang="en" altLang="zh-TW" sz="1863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Finetune with robot videos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dirty="0"/>
              <a:t>Learn </a:t>
            </a:r>
            <a:r>
              <a:rPr lang="en" altLang="zh-TW" sz="2130" b="1" dirty="0">
                <a:solidFill>
                  <a:schemeClr val="tx2">
                    <a:lumMod val="90000"/>
                    <a:lumOff val="10000"/>
                  </a:schemeClr>
                </a:solidFill>
              </a:rPr>
              <a:t>predict robot state</a:t>
            </a:r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7B12F50E-DD75-4BB2-BCB8-88AD8958500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29439" y="3872066"/>
            <a:ext cx="4970918" cy="27365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871464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</a:t>
            </a:r>
            <a:r>
              <a:rPr lang="en-US" altLang="zh-TW" b="1" dirty="0" err="1"/>
              <a:t>RLBench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2D/3D comparison</a:t>
            </a:r>
            <a:endParaRPr lang="en" altLang="zh-TW" sz="2130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/>
              <a:t>Image-BC: 2D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 err="1"/>
              <a:t>PerAct</a:t>
            </a:r>
            <a:r>
              <a:rPr lang="en" altLang="zh-TW" sz="2130" b="1" dirty="0"/>
              <a:t>: 3D voxel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 err="1"/>
              <a:t>ManiGaussian</a:t>
            </a:r>
            <a:r>
              <a:rPr lang="en" altLang="zh-TW" sz="2130" b="1" dirty="0"/>
              <a:t>: 3D temporal tracking</a:t>
            </a:r>
          </a:p>
          <a:p>
            <a:pPr marL="829713" lvl="1" indent="0">
              <a:lnSpc>
                <a:spcPct val="100000"/>
              </a:lnSpc>
              <a:buSzPct val="100000"/>
              <a:buNone/>
            </a:pPr>
            <a:endParaRPr lang="en" altLang="zh-TW" sz="2130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397" b="1" dirty="0"/>
              <a:t>Other VLA: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0" b="1" dirty="0"/>
              <a:t>LLARVA: pre-trained language decoder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0" dirty="0"/>
          </a:p>
        </p:txBody>
      </p:sp>
      <p:pic>
        <p:nvPicPr>
          <p:cNvPr id="6" name="圖片 5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82D07F12-9244-E415-00C0-1B4ABE410F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22738" y="4239446"/>
            <a:ext cx="9282771" cy="23299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0910682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Real Robot evaluation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Compare with other VLA: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ATM: predict 2D trajectories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LLARVA: </a:t>
            </a:r>
            <a:r>
              <a:rPr lang="zh-TW" altLang="en-US" sz="2133" b="1" dirty="0"/>
              <a:t> </a:t>
            </a:r>
            <a:r>
              <a:rPr lang="en-US" altLang="zh-TW" sz="2133" b="1" dirty="0"/>
              <a:t>2D point as auxiliary task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-US" altLang="zh-TW" sz="2133" b="1" dirty="0" err="1"/>
              <a:t>OpenVLA</a:t>
            </a:r>
            <a:r>
              <a:rPr lang="en-US" altLang="zh-TW" sz="2133" b="1" dirty="0"/>
              <a:t>: real world dataset</a:t>
            </a: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</p:txBody>
      </p:sp>
      <p:pic>
        <p:nvPicPr>
          <p:cNvPr id="5" name="圖片 4" descr="一張含有 文字, 字型, 數字, 螢幕擷取畫面 的圖片&#10;&#10;AI 產生的內容可能不正確。">
            <a:extLst>
              <a:ext uri="{FF2B5EF4-FFF2-40B4-BE49-F238E27FC236}">
                <a16:creationId xmlns:a16="http://schemas.microsoft.com/office/drawing/2014/main" id="{02C932A2-FAFA-F5E7-0544-1463B098C2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5340" y="3122199"/>
            <a:ext cx="9789807" cy="34864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3752256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kumimoji="1" lang="en-US" altLang="zh-TW" b="1" dirty="0"/>
              <a:t>Ablation Study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Different Stages: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Stage 1: Human video pre-training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Stage 2: Robotic fine-tuning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Stage 3: Robotic control fine-tuning </a:t>
            </a:r>
          </a:p>
        </p:txBody>
      </p:sp>
      <p:pic>
        <p:nvPicPr>
          <p:cNvPr id="6" name="圖片 5" descr="一張含有 圖表, 螢幕擷取畫面, 文字, 繪圖 的圖片&#10;&#10;AI 產生的內容可能不正確。">
            <a:extLst>
              <a:ext uri="{FF2B5EF4-FFF2-40B4-BE49-F238E27FC236}">
                <a16:creationId xmlns:a16="http://schemas.microsoft.com/office/drawing/2014/main" id="{E1A50DA6-08AB-ABDE-4DB4-DFCF2BAE79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3049" y="2814202"/>
            <a:ext cx="11492098" cy="379443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56374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9E0296-7D78-8498-8081-EA84555C2E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17BC96C-405B-7F0E-A6DC-2A59247BFB5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the effectiveness of pretraining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401A953B-129C-F750-5298-822231E439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Different pretraining method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MVP: Pretrained vision encoder on human data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RPT: Pretrained on visual and proprioceptive states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Octo/</a:t>
            </a:r>
            <a:r>
              <a:rPr lang="en" altLang="zh-TW" sz="2133" b="1" dirty="0" err="1"/>
              <a:t>OpenVLA</a:t>
            </a:r>
            <a:r>
              <a:rPr lang="en" altLang="zh-TW" sz="2133" b="1" dirty="0"/>
              <a:t>/LLARVA: Pretrained on OpenX dataset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ATM: Pretrains a 2D point track transformer 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</p:txBody>
      </p:sp>
      <p:pic>
        <p:nvPicPr>
          <p:cNvPr id="5" name="圖片 4" descr="一張含有 文字, 收據, 字型, 螢幕擷取畫面 的圖片&#10;&#10;AI 產生的內容可能不正確。">
            <a:extLst>
              <a:ext uri="{FF2B5EF4-FFF2-40B4-BE49-F238E27FC236}">
                <a16:creationId xmlns:a16="http://schemas.microsoft.com/office/drawing/2014/main" id="{B1CF7B4D-E51F-F0D9-C5A9-1569444506F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33397" y="4053478"/>
            <a:ext cx="6408873" cy="27348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8726456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E6B8BD-E20D-34E4-DECF-CA88D4F84A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B397D26-FD54-1900-A1C1-2146E90CCA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Cross-Robot setting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C3B4EBF0-1BB1-C5CF-C49E-142FF86F401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Cross-Robot Generalization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400" b="1" dirty="0"/>
              <a:t>	•</a:t>
            </a:r>
            <a:r>
              <a:rPr lang="en" altLang="zh-TW" sz="2130" b="1" dirty="0"/>
              <a:t>Testing whether </a:t>
            </a:r>
            <a:r>
              <a:rPr lang="en" altLang="zh-TW" sz="2130" b="1" dirty="0" err="1"/>
              <a:t>Kinova</a:t>
            </a:r>
            <a:r>
              <a:rPr lang="en" altLang="zh-TW" sz="2130" b="1" dirty="0"/>
              <a:t>-trained visual + control policy can transfer to</a:t>
            </a:r>
            <a:r>
              <a:rPr lang="zh-TW" altLang="en-US" sz="2130" b="1" dirty="0"/>
              <a:t> </a:t>
            </a:r>
            <a:r>
              <a:rPr lang="en" altLang="zh-TW" sz="2130" b="1" dirty="0"/>
              <a:t>Franka.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130" b="1" dirty="0"/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130" b="1" dirty="0"/>
              <a:t>	•Epic pre-training + </a:t>
            </a:r>
            <a:r>
              <a:rPr lang="en" altLang="zh-TW" sz="2130" b="1" dirty="0" err="1"/>
              <a:t>Kinova</a:t>
            </a:r>
            <a:r>
              <a:rPr lang="en" altLang="zh-TW" sz="2130" b="1" dirty="0"/>
              <a:t> FT → +19.6% improvement on Franka tasks.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endParaRPr lang="en" altLang="zh-TW" sz="2130" b="1" dirty="0"/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130" b="1" dirty="0"/>
              <a:t>	•4D trajectories provide robot-invariant geometric representations.</a:t>
            </a:r>
          </a:p>
        </p:txBody>
      </p:sp>
      <p:pic>
        <p:nvPicPr>
          <p:cNvPr id="6" name="圖片 5" descr="一張含有 文字, 字型, 螢幕擷取畫面, 白色 的圖片&#10;&#10;AI 產生的內容可能不正確。">
            <a:extLst>
              <a:ext uri="{FF2B5EF4-FFF2-40B4-BE49-F238E27FC236}">
                <a16:creationId xmlns:a16="http://schemas.microsoft.com/office/drawing/2014/main" id="{5C7157FC-8D31-F2E3-0746-121B9CDA5CA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05564" y="3941780"/>
            <a:ext cx="9158365" cy="284651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6877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5F1134A-23E9-EB27-059E-844DF3BA19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Experiment – disturbance</a:t>
            </a:r>
            <a:endParaRPr kumimoji="1" lang="zh-TW" altLang="en-US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52E80C26-3358-FF43-24DF-7DB64B5AE1A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Dynamic environment</a:t>
            </a:r>
          </a:p>
          <a:p>
            <a:pPr>
              <a:lnSpc>
                <a:spcPct val="100000"/>
              </a:lnSpc>
              <a:buSzPct val="100000"/>
            </a:pPr>
            <a:endParaRPr lang="en" altLang="zh-TW" sz="2400" b="1" dirty="0"/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Manually move the cube in different stages</a:t>
            </a:r>
          </a:p>
          <a:p>
            <a:pPr lvl="1">
              <a:lnSpc>
                <a:spcPct val="100000"/>
              </a:lnSpc>
              <a:buSzPct val="100000"/>
            </a:pPr>
            <a:endParaRPr lang="en" altLang="zh-TW" sz="2133" b="1" dirty="0"/>
          </a:p>
          <a:p>
            <a:pPr>
              <a:lnSpc>
                <a:spcPct val="100000"/>
              </a:lnSpc>
              <a:buSzPct val="100000"/>
            </a:pPr>
            <a:r>
              <a:rPr lang="en" altLang="zh-TW" sz="2400" b="1" dirty="0"/>
              <a:t>Other Noise 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Ambient Light: reduce 50%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Background Distractor: People walking by</a:t>
            </a:r>
          </a:p>
          <a:p>
            <a:pPr lvl="1">
              <a:lnSpc>
                <a:spcPct val="100000"/>
              </a:lnSpc>
              <a:buSzPct val="100000"/>
            </a:pPr>
            <a:r>
              <a:rPr lang="en" altLang="zh-TW" sz="2133" b="1" dirty="0"/>
              <a:t>Table top Distractor: 2 random objects placed near target</a:t>
            </a:r>
          </a:p>
          <a:p>
            <a:pPr marL="203195" indent="0">
              <a:lnSpc>
                <a:spcPct val="100000"/>
              </a:lnSpc>
              <a:buSzPct val="100000"/>
              <a:buNone/>
            </a:pPr>
            <a:r>
              <a:rPr lang="en" altLang="zh-TW" sz="2130" b="1" dirty="0"/>
              <a:t>	</a:t>
            </a:r>
            <a:endParaRPr kumimoji="1" lang="zh-TW" altLang="en-US" dirty="0"/>
          </a:p>
        </p:txBody>
      </p:sp>
      <p:pic>
        <p:nvPicPr>
          <p:cNvPr id="4" name="圖片 3">
            <a:extLst>
              <a:ext uri="{FF2B5EF4-FFF2-40B4-BE49-F238E27FC236}">
                <a16:creationId xmlns:a16="http://schemas.microsoft.com/office/drawing/2014/main" id="{88C07030-8E1D-8754-D2A7-D30636C572E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686" y="4636879"/>
            <a:ext cx="6489741" cy="1757638"/>
          </a:xfrm>
          <a:prstGeom prst="rect">
            <a:avLst/>
          </a:prstGeom>
        </p:spPr>
      </p:pic>
      <p:pic>
        <p:nvPicPr>
          <p:cNvPr id="6" name="圖片 5" descr="一張含有 文字, 字型, 螢幕擷取畫面, 數字 的圖片&#10;&#10;AI 產生的內容可能不正確。">
            <a:extLst>
              <a:ext uri="{FF2B5EF4-FFF2-40B4-BE49-F238E27FC236}">
                <a16:creationId xmlns:a16="http://schemas.microsoft.com/office/drawing/2014/main" id="{D7AA7601-3DF1-6829-661F-BDFCD855D2D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81626" y="4636879"/>
            <a:ext cx="5810374" cy="17576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99426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8EA5252D-6CF8-49C7-3BD9-8A0AE6A504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b="1" dirty="0"/>
              <a:t>Conclusion</a:t>
            </a:r>
            <a:endParaRPr kumimoji="1" lang="zh-TW" altLang="en-US" b="1" dirty="0"/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B4A6BA53-3271-632E-A4B8-F0E8A1F70F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4347" y="1231833"/>
            <a:ext cx="11360800" cy="5376800"/>
          </a:xfrm>
        </p:spPr>
        <p:txBody>
          <a:bodyPr>
            <a:normAutofit/>
          </a:bodyPr>
          <a:lstStyle/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Pretraining on Human video is highly effective for robotic learning</a:t>
            </a:r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Pretraining on Human video can outperform robotics-only</a:t>
            </a:r>
          </a:p>
          <a:p>
            <a:pPr>
              <a:lnSpc>
                <a:spcPct val="100000"/>
              </a:lnSpc>
              <a:buSzPct val="100000"/>
            </a:pPr>
            <a:r>
              <a:rPr lang="en-US" altLang="zh-TW" sz="2400" b="1" dirty="0"/>
              <a:t>Potentially inaccurate predictions due to a lack of invariance to camera intrinsics and motion.</a:t>
            </a:r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  <a:p>
            <a:pPr>
              <a:lnSpc>
                <a:spcPct val="100000"/>
              </a:lnSpc>
              <a:buSzPct val="100000"/>
            </a:pPr>
            <a:endParaRPr lang="en-US" altLang="zh-TW" sz="2400" b="1" dirty="0"/>
          </a:p>
        </p:txBody>
      </p:sp>
      <p:pic>
        <p:nvPicPr>
          <p:cNvPr id="5" name="results_video">
            <a:hlinkClick r:id="" action="ppaction://media"/>
            <a:extLst>
              <a:ext uri="{FF2B5EF4-FFF2-40B4-BE49-F238E27FC236}">
                <a16:creationId xmlns:a16="http://schemas.microsoft.com/office/drawing/2014/main" id="{9CB3FA6F-E45E-CFDB-4FDC-41FB11AEAF64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5"/>
          <a:stretch>
            <a:fillRect/>
          </a:stretch>
        </p:blipFill>
        <p:spPr>
          <a:xfrm>
            <a:off x="5281939" y="3199563"/>
            <a:ext cx="6379975" cy="35887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48561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067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760</TotalTime>
  <Words>543</Words>
  <Application>Microsoft Office PowerPoint</Application>
  <PresentationFormat>寬螢幕</PresentationFormat>
  <Paragraphs>100</Paragraphs>
  <Slides>12</Slides>
  <Notes>10</Notes>
  <HiddenSlides>0</HiddenSlides>
  <MMClips>1</MMClips>
  <ScaleCrop>false</ScaleCrop>
  <HeadingPairs>
    <vt:vector size="6" baseType="variant">
      <vt:variant>
        <vt:lpstr>使用字型</vt:lpstr>
      </vt:variant>
      <vt:variant>
        <vt:i4>5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微軟正黑體</vt:lpstr>
      <vt:lpstr>Arial</vt:lpstr>
      <vt:lpstr>Cambria Math</vt:lpstr>
      <vt:lpstr>Office 佈景主題</vt:lpstr>
      <vt:lpstr>Pre-training Auto-regressive Robotic Models  with 4D Representations</vt:lpstr>
      <vt:lpstr>Overview</vt:lpstr>
      <vt:lpstr>Method – Representation</vt:lpstr>
      <vt:lpstr>Method – Architecture</vt:lpstr>
      <vt:lpstr>Method – Training</vt:lpstr>
      <vt:lpstr>Experiment – RLBench</vt:lpstr>
      <vt:lpstr>Experiment – Real Robot evaluation</vt:lpstr>
      <vt:lpstr>Ablation Study</vt:lpstr>
      <vt:lpstr>Experiment – the effectiveness of pretraining</vt:lpstr>
      <vt:lpstr>Experiment – Cross-Robot setting</vt:lpstr>
      <vt:lpstr>Experiment – disturbance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GameFactory: Creating New Games with Generative Interactive Videos</dc:title>
  <dc:creator>賴禹衡</dc:creator>
  <cp:lastModifiedBy>年 松</cp:lastModifiedBy>
  <cp:revision>105</cp:revision>
  <dcterms:created xsi:type="dcterms:W3CDTF">2025-11-03T01:45:49Z</dcterms:created>
  <dcterms:modified xsi:type="dcterms:W3CDTF">2025-11-25T03:45:02Z</dcterms:modified>
</cp:coreProperties>
</file>