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7" r:id="rId2"/>
    <p:sldId id="291" r:id="rId3"/>
    <p:sldId id="301" r:id="rId4"/>
    <p:sldId id="302" r:id="rId5"/>
    <p:sldId id="304" r:id="rId6"/>
    <p:sldId id="293" r:id="rId7"/>
    <p:sldId id="294" r:id="rId8"/>
    <p:sldId id="295" r:id="rId9"/>
    <p:sldId id="298" r:id="rId10"/>
    <p:sldId id="300" r:id="rId11"/>
    <p:sldId id="299" r:id="rId12"/>
    <p:sldId id="296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年 松" initials="年" lastIdx="1" clrIdx="0">
    <p:extLst>
      <p:ext uri="{19B8F6BF-5375-455C-9EA6-DF929625EA0E}">
        <p15:presenceInfo xmlns:p15="http://schemas.microsoft.com/office/powerpoint/2012/main" userId="fe8ded9e810998a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157" autoAdjust="0"/>
    <p:restoredTop sz="94671"/>
  </p:normalViewPr>
  <p:slideViewPr>
    <p:cSldViewPr snapToGrid="0">
      <p:cViewPr varScale="1">
        <p:scale>
          <a:sx n="89" d="100"/>
          <a:sy n="89" d="100"/>
        </p:scale>
        <p:origin x="52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B01F6F-EDDE-E842-A1D2-813517CF47B4}" type="datetimeFigureOut">
              <a:rPr kumimoji="1" lang="zh-TW" altLang="en-US" smtClean="0"/>
              <a:t>2025/11/24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00113E-94D9-6E40-9986-93BB30B9720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60708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3097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501414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003078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148665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Dynamic Gaussian splatting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400842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423400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121121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614F3-F536-BA1F-89AC-16C530F0A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53487F4-5277-1C0C-919C-AA737811A6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B8A29B1-991D-7558-4CFB-DEB405D68F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importance of using low-level representations as opposed to language decoders that</a:t>
            </a:r>
          </a:p>
          <a:p>
            <a:r>
              <a:rPr lang="en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 pre-trained on high-level vision-language tasks.</a:t>
            </a:r>
          </a:p>
        </p:txBody>
      </p:sp>
    </p:spTree>
    <p:extLst>
      <p:ext uri="{BB962C8B-B14F-4D97-AF65-F5344CB8AC3E}">
        <p14:creationId xmlns:p14="http://schemas.microsoft.com/office/powerpoint/2010/main" val="29341062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010D9-7C2D-EF72-BEE1-6C52A89D2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861EF3E-97D2-33BB-94BA-99D82EB0AB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BBFC0C8-59AE-82BC-C953-45E4389EA1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361463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40377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A9853F-9B42-567F-B1B1-8AF2434F89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168628B-2A60-EAFD-B984-900E929DD6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D8D7D47-3912-F783-57E3-0AC9AD421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8B809-EC84-AA44-970B-7890D055606C}" type="datetimeFigureOut">
              <a:rPr kumimoji="1" lang="zh-TW" altLang="en-US" smtClean="0"/>
              <a:t>2025/11/24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9CD9DA2-CF3E-A1F6-D832-6FD910B73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1D187A-B37B-EE70-D489-8F6908BAB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EBA67-1CE4-3642-BC12-45630B5D3B3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14573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4AFEAB-BD7A-A729-982B-E09ED492E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DB3FD5C-E626-3B47-4075-AE70B0A1E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BDDC4FD-C877-887D-BF84-C347EB0E4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8B809-EC84-AA44-970B-7890D055606C}" type="datetimeFigureOut">
              <a:rPr kumimoji="1" lang="zh-TW" altLang="en-US" smtClean="0"/>
              <a:t>2025/11/24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EEC5537-3DBF-F73C-52C4-D813C06B7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A92F04-63E3-AA7A-7466-67E7901C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EBA67-1CE4-3642-BC12-45630B5D3B3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78030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9B82D6-954F-E6C3-9664-6C35A8B76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A83AE2B-1D41-F4A0-AB10-F424CD284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51C13F5-C2BA-E448-5AF8-A9787C25B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8B809-EC84-AA44-970B-7890D055606C}" type="datetimeFigureOut">
              <a:rPr kumimoji="1" lang="zh-TW" altLang="en-US" smtClean="0"/>
              <a:t>2025/11/24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1DBEA9-CEB4-096F-CA64-A5A3DEF78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49BA8F1-B80A-5AA4-BF62-05C44F1E5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EBA67-1CE4-3642-BC12-45630B5D3B3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72423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6D1C12-D772-3608-77FB-043E3FF7B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645FBC-0B76-4B23-B4BE-3002B94FC9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3BA4B98-5B50-2271-BB86-F4DC336AF3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7780351-75E6-B866-FC1E-B9D56780C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8B809-EC84-AA44-970B-7890D055606C}" type="datetimeFigureOut">
              <a:rPr kumimoji="1" lang="zh-TW" altLang="en-US" smtClean="0"/>
              <a:t>2025/11/24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8B321E7-59D1-62A2-443A-6D06C2383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E90FCE4-57C2-38C0-792E-17157D750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EBA67-1CE4-3642-BC12-45630B5D3B3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39723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CC9866-98A0-A592-E7DD-413A14C18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088E684-8B52-2165-B3F8-204FF6A7F1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6D10DD6-3D00-24FC-F702-416B1CC61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FC4DC67-5CF4-B80B-7EA1-9B0244017E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7F8BADF-7EEB-DD1C-DF98-F62F2A1191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BF4DE82-1B67-61CD-218B-F83B5739B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8B809-EC84-AA44-970B-7890D055606C}" type="datetimeFigureOut">
              <a:rPr kumimoji="1" lang="zh-TW" altLang="en-US" smtClean="0"/>
              <a:t>2025/11/24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326C6EB-E7B0-C731-B2AC-F69BE3622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36C9C24-3B45-2209-6409-6B7A739C4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EBA67-1CE4-3642-BC12-45630B5D3B3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98718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ED0D82-7D7E-D584-F830-A2749C7BE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F73AC10-03AC-FA12-5C25-63F3CD5C2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8B809-EC84-AA44-970B-7890D055606C}" type="datetimeFigureOut">
              <a:rPr kumimoji="1" lang="zh-TW" altLang="en-US" smtClean="0"/>
              <a:t>2025/11/24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2BC06E4-AD22-9F96-4BBD-C269F14F9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FF94572-97E2-2B18-F623-1DE44696C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EBA67-1CE4-3642-BC12-45630B5D3B3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15493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3B5255B-A24D-3958-D0B7-EB90BA842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8B809-EC84-AA44-970B-7890D055606C}" type="datetimeFigureOut">
              <a:rPr kumimoji="1" lang="zh-TW" altLang="en-US" smtClean="0"/>
              <a:t>2025/11/24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A0CCB54-8B0D-DE45-DF6A-BB1F4243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E0E86EA-6B6F-EAB3-C476-22C855A72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EBA67-1CE4-3642-BC12-45630B5D3B3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78383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FD573C-E9EA-991E-5580-D65677186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9E9A77-CF9E-3962-241E-F47C4F65A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B2B4005-3919-9785-FDFB-2953468A02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E0FDF93-C1D0-E2F2-8B34-E883A1D93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8B809-EC84-AA44-970B-7890D055606C}" type="datetimeFigureOut">
              <a:rPr kumimoji="1" lang="zh-TW" altLang="en-US" smtClean="0"/>
              <a:t>2025/11/24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31DDD28-9C8B-C042-09F7-6353C1AAD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E26582E-FBE7-1DAC-4E6D-59A32C57F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EBA67-1CE4-3642-BC12-45630B5D3B3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93158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2E59AD-2080-50E8-4D20-816C3A823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D12A37E-71C8-41BB-4B54-265D6816F5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B58B66D-EA91-D0CB-2D10-3AAD948C48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FA15EC1-31AF-1434-51C9-FF58ED535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8B809-EC84-AA44-970B-7890D055606C}" type="datetimeFigureOut">
              <a:rPr kumimoji="1" lang="zh-TW" altLang="en-US" smtClean="0"/>
              <a:t>2025/11/24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1FDB9FA-DD36-8849-E6B5-1F5AB4C84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342997E-2F8F-AB7A-1B9B-15607D940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EBA67-1CE4-3642-BC12-45630B5D3B3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35322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72C5B7-9F7F-1162-D3AA-8CAC5E172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9DCD953-7CA3-4DB3-66A4-07881E089A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0A5390F-830E-8BFF-DD9D-5BB9FD155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8B809-EC84-AA44-970B-7890D055606C}" type="datetimeFigureOut">
              <a:rPr kumimoji="1" lang="zh-TW" altLang="en-US" smtClean="0"/>
              <a:t>2025/11/24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8BBE400-5E05-DBCD-EA67-0CBADAC66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D4843D0-EFD2-1930-72DA-91E4329A9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EBA67-1CE4-3642-BC12-45630B5D3B3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58487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D620DF5-DE1D-A769-7738-5EEC0B61B2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98421BF-4B81-2156-784A-39F7FFC8F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1B9B658-F7E6-08BE-E79F-241C94294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8B809-EC84-AA44-970B-7890D055606C}" type="datetimeFigureOut">
              <a:rPr kumimoji="1" lang="zh-TW" altLang="en-US" smtClean="0"/>
              <a:t>2025/11/24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31BE8D2-196D-3A55-EF4A-F816EB412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596BA4-9CF0-14F3-8EF4-64F132424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EBA67-1CE4-3642-BC12-45630B5D3B3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423336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2885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7600" y="1231833"/>
            <a:ext cx="11360800" cy="53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389457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333"/>
            </a:lvl2pPr>
            <a:lvl3pPr marL="1828754" lvl="2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333"/>
            </a:lvl3pPr>
            <a:lvl4pPr marL="2438339" lvl="3" indent="-389457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333"/>
            </a:lvl4pPr>
            <a:lvl5pPr marL="3047924" lvl="4" indent="-389457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333"/>
            </a:lvl5pPr>
            <a:lvl6pPr marL="3657509" lvl="5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333"/>
            </a:lvl6pPr>
            <a:lvl7pPr marL="4267093" lvl="6" indent="-389457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333"/>
            </a:lvl7pPr>
            <a:lvl8pPr marL="4876678" lvl="7" indent="-389457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333"/>
            </a:lvl8pPr>
            <a:lvl9pPr marL="5486263" lvl="8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333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1868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0B532BD-636E-B399-C0F0-B04FE6E86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C7AC752-5C92-C7A9-C13F-B298768DA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58CA9EF-BEDF-9AB3-A4E7-0918332006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18B809-EC84-AA44-970B-7890D055606C}" type="datetimeFigureOut">
              <a:rPr kumimoji="1" lang="zh-TW" altLang="en-US" smtClean="0"/>
              <a:t>2025/11/24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E44485D-E3EC-04A0-935B-6F4E1E6C8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044E86D-5CC2-0D9F-5031-63AB35E0D0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7EBA67-1CE4-3642-BC12-45630B5D3B3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89765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97AE5AC3-95AB-AE60-D73A-5B8A0EC91F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260" y="964504"/>
            <a:ext cx="12066740" cy="2545459"/>
          </a:xfrm>
        </p:spPr>
        <p:txBody>
          <a:bodyPr>
            <a:normAutofit/>
          </a:bodyPr>
          <a:lstStyle/>
          <a:p>
            <a:r>
              <a:rPr lang="en-US" altLang="zh-TW" sz="4000" b="1" dirty="0"/>
              <a:t>Pre-training Auto-regressive Robotic Models with 4D Representations</a:t>
            </a:r>
            <a:endParaRPr lang="zh-TW" altLang="en-US" sz="4000" b="1" dirty="0"/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6865C43A-EF67-7C4D-0573-F355E9C114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66750"/>
            <a:ext cx="9144000" cy="1655762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</a:rPr>
              <a:t>ICML 2025, arXiv:2502.13142</a:t>
            </a:r>
          </a:p>
          <a:p>
            <a:r>
              <a:rPr kumimoji="1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指導學長：鍾閎凱／吳彥翔</a:t>
            </a:r>
          </a:p>
          <a:p>
            <a:r>
              <a:rPr kumimoji="1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報告人：電機三 賴禹衡／電機三 陳政年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F86C563-5386-617F-336F-CB200399C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830" y="3509963"/>
            <a:ext cx="8576339" cy="58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0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A5252D-6CF8-49C7-3BD9-8A0AE6A50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Overview</a:t>
            </a:r>
            <a:endParaRPr kumimoji="1" lang="zh-TW" altLang="en-US" b="1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4A6BA53-3271-632E-A4B8-F0E8A1F70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347" y="1231833"/>
            <a:ext cx="11496010" cy="53768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SzPct val="100000"/>
            </a:pPr>
            <a:r>
              <a:rPr lang="en" altLang="zh-TW" sz="2400" b="1" dirty="0"/>
              <a:t>Goal 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-US" altLang="zh-TW" sz="2130" dirty="0"/>
              <a:t>Establish a powerful robotic </a:t>
            </a:r>
            <a:r>
              <a:rPr lang="en-US" altLang="zh-TW" sz="213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foundation model</a:t>
            </a:r>
            <a:endParaRPr lang="en" altLang="zh-TW" sz="213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lvl="1">
              <a:lnSpc>
                <a:spcPct val="100000"/>
              </a:lnSpc>
              <a:buSzPct val="100000"/>
            </a:pPr>
            <a:endParaRPr lang="en" altLang="zh-TW" sz="2130" dirty="0"/>
          </a:p>
          <a:p>
            <a:pPr>
              <a:lnSpc>
                <a:spcPct val="100000"/>
              </a:lnSpc>
              <a:buSzPct val="100000"/>
            </a:pPr>
            <a:r>
              <a:rPr lang="en-US" altLang="zh-TW" sz="2400" b="1" dirty="0"/>
              <a:t>Barriers / Previous works</a:t>
            </a:r>
            <a:endParaRPr lang="en" altLang="zh-TW" sz="1863" dirty="0"/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130" dirty="0"/>
              <a:t>Lack of robotic datas </a:t>
            </a:r>
            <a:br>
              <a:rPr lang="en" altLang="zh-TW" sz="2130" dirty="0"/>
            </a:br>
            <a:r>
              <a:rPr lang="en" altLang="zh-TW" sz="2130" dirty="0"/>
              <a:t>-&gt; To take advantage of </a:t>
            </a:r>
            <a:r>
              <a:rPr lang="en" altLang="zh-TW" sz="213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human datas</a:t>
            </a:r>
            <a:endParaRPr lang="en" altLang="zh-TW" sz="2130" dirty="0"/>
          </a:p>
          <a:p>
            <a:pPr lvl="1">
              <a:lnSpc>
                <a:spcPct val="100000"/>
              </a:lnSpc>
              <a:buSzPct val="100000"/>
            </a:pPr>
            <a:endParaRPr lang="en" altLang="zh-TW" sz="2130" dirty="0"/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130" dirty="0"/>
              <a:t>With human datas, lack of effective representations may degrade model generalizability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130" dirty="0"/>
              <a:t>For VLMs, the pre-training objective doesn’t match the action prediction objective</a:t>
            </a:r>
            <a:br>
              <a:rPr lang="en" altLang="zh-TW" sz="2130" dirty="0"/>
            </a:br>
            <a:r>
              <a:rPr lang="en" altLang="zh-TW" sz="2130" dirty="0"/>
              <a:t>-&gt; To construct a </a:t>
            </a:r>
            <a:r>
              <a:rPr lang="en" altLang="zh-TW" sz="213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representation that can bridge the gap</a:t>
            </a:r>
            <a:br>
              <a:rPr lang="en" altLang="zh-TW" sz="2130" dirty="0"/>
            </a:br>
            <a:endParaRPr lang="en" altLang="zh-TW" sz="2130" dirty="0"/>
          </a:p>
          <a:p>
            <a:pPr lvl="1">
              <a:lnSpc>
                <a:spcPct val="100000"/>
              </a:lnSpc>
              <a:buSzPct val="100000"/>
            </a:pPr>
            <a:endParaRPr lang="en" altLang="zh-TW" sz="213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11D88FE-5CF2-4143-9E45-E956F9A79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1021" y="4964617"/>
            <a:ext cx="7269957" cy="1604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614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A5252D-6CF8-49C7-3BD9-8A0AE6A50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Method – Representation</a:t>
            </a:r>
            <a:endParaRPr kumimoji="1" lang="zh-TW" altLang="en-US" b="1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4A6BA53-3271-632E-A4B8-F0E8A1F70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347" y="1231833"/>
            <a:ext cx="11496010" cy="53768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SzPct val="100000"/>
            </a:pPr>
            <a:r>
              <a:rPr lang="en-US" altLang="zh-TW" sz="2400" b="1" dirty="0"/>
              <a:t>4D</a:t>
            </a:r>
            <a:r>
              <a:rPr lang="zh-TW" altLang="en-US" sz="2400" b="1" dirty="0"/>
              <a:t> </a:t>
            </a:r>
            <a:r>
              <a:rPr lang="en-US" altLang="zh-TW" sz="2400" b="1" dirty="0"/>
              <a:t>Scene representation</a:t>
            </a:r>
            <a:endParaRPr lang="en" altLang="zh-TW" sz="2400" b="1" dirty="0"/>
          </a:p>
          <a:p>
            <a:pPr lvl="1">
              <a:lnSpc>
                <a:spcPct val="100000"/>
              </a:lnSpc>
              <a:buSzPct val="100000"/>
            </a:pPr>
            <a:r>
              <a:rPr lang="en-US" altLang="zh-TW" sz="213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3D point tracking problem</a:t>
            </a:r>
            <a:endParaRPr lang="en-US" altLang="zh-TW" sz="2130" dirty="0"/>
          </a:p>
          <a:p>
            <a:pPr lvl="1">
              <a:lnSpc>
                <a:spcPct val="100000"/>
              </a:lnSpc>
              <a:buSzPct val="100000"/>
            </a:pPr>
            <a:r>
              <a:rPr lang="en-US" altLang="zh-TW" sz="2130" dirty="0"/>
              <a:t>Initialize g^2 points that correspond to same real world point throughout video</a:t>
            </a:r>
            <a:endParaRPr lang="en" altLang="zh-TW" sz="2130" dirty="0"/>
          </a:p>
          <a:p>
            <a:pPr lvl="1">
              <a:lnSpc>
                <a:spcPct val="100000"/>
              </a:lnSpc>
              <a:buSzPct val="100000"/>
            </a:pPr>
            <a:endParaRPr lang="en" altLang="zh-TW" sz="2130" dirty="0"/>
          </a:p>
          <a:p>
            <a:pPr>
              <a:lnSpc>
                <a:spcPct val="100000"/>
              </a:lnSpc>
              <a:buSzPct val="100000"/>
            </a:pPr>
            <a:r>
              <a:rPr lang="en-US" altLang="zh-TW" sz="2400" b="1" dirty="0"/>
              <a:t>Benefits – they are quite the same</a:t>
            </a:r>
            <a:endParaRPr lang="en" altLang="zh-TW" sz="1863" dirty="0"/>
          </a:p>
          <a:p>
            <a:pPr lvl="1">
              <a:lnSpc>
                <a:spcPct val="100000"/>
              </a:lnSpc>
              <a:buSzPct val="100000"/>
            </a:pPr>
            <a:r>
              <a:rPr lang="en-US" altLang="zh-TW" sz="2130" dirty="0"/>
              <a:t>3D point tracking and robot motion share the same SE(3) linear action on 3D points, </a:t>
            </a:r>
            <a:br>
              <a:rPr lang="en-US" altLang="zh-TW" sz="2130" dirty="0"/>
            </a:br>
            <a:r>
              <a:rPr lang="en-US" altLang="zh-TW" sz="2130" dirty="0"/>
              <a:t>and their representations differ only up to a linear transformation in this shared space.</a:t>
            </a:r>
            <a:endParaRPr lang="en" altLang="zh-TW" sz="213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1A90F3F-D9A7-48C3-967A-DEB73F574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4115" y="4200525"/>
            <a:ext cx="8056473" cy="236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580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A5252D-6CF8-49C7-3BD9-8A0AE6A50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Method – Architecture</a:t>
            </a:r>
            <a:endParaRPr kumimoji="1" lang="zh-TW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B4A6BA53-3271-632E-A4B8-F0E8A1F70F1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04347" y="1231833"/>
                <a:ext cx="11496010" cy="53768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buSzPct val="100000"/>
                </a:pPr>
                <a:r>
                  <a:rPr lang="en-US" altLang="zh-TW" sz="2400" b="1" dirty="0"/>
                  <a:t>Inputs</a:t>
                </a:r>
                <a:endParaRPr lang="en" altLang="zh-TW" sz="2400" b="1" dirty="0"/>
              </a:p>
              <a:p>
                <a:pPr lvl="1">
                  <a:lnSpc>
                    <a:spcPct val="100000"/>
                  </a:lnSpc>
                  <a:buSzPct val="100000"/>
                </a:pPr>
                <a14:m>
                  <m:oMath xmlns:m="http://schemas.openxmlformats.org/officeDocument/2006/math">
                    <m:r>
                      <a:rPr lang="en-US" altLang="zh-TW" sz="2130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" altLang="zh-TW" sz="2130" dirty="0"/>
                  <a:t> : </a:t>
                </a:r>
                <a:r>
                  <a:rPr lang="en" altLang="zh-TW" sz="2130" b="1" dirty="0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Language</a:t>
                </a:r>
                <a:r>
                  <a:rPr lang="en" altLang="zh-TW" sz="2130" dirty="0"/>
                  <a:t> instructions</a:t>
                </a:r>
              </a:p>
              <a:p>
                <a:pPr lvl="1">
                  <a:lnSpc>
                    <a:spcPct val="100000"/>
                  </a:lnSpc>
                  <a:buSzPct val="100000"/>
                </a:pPr>
                <a14:m>
                  <m:oMath xmlns:m="http://schemas.openxmlformats.org/officeDocument/2006/math">
                    <m:r>
                      <a:rPr lang="en-US" altLang="zh-TW" sz="213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" altLang="zh-TW" sz="2130" dirty="0"/>
                  <a:t> : </a:t>
                </a:r>
                <a:r>
                  <a:rPr lang="en" altLang="zh-TW" sz="2130" b="1" dirty="0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Images</a:t>
                </a:r>
                <a:r>
                  <a:rPr lang="en" altLang="zh-TW" sz="2130" dirty="0"/>
                  <a:t> (Observations)</a:t>
                </a:r>
              </a:p>
              <a:p>
                <a:pPr lvl="1">
                  <a:lnSpc>
                    <a:spcPct val="100000"/>
                  </a:lnSpc>
                  <a:buSzPct val="100000"/>
                </a:pPr>
                <a14:m>
                  <m:oMath xmlns:m="http://schemas.openxmlformats.org/officeDocument/2006/math">
                    <m:r>
                      <a:rPr lang="en-US" altLang="zh-TW" sz="213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sz="2130" b="0" i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TW" sz="2130" b="0" i="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" altLang="zh-TW" sz="2130" dirty="0"/>
                  <a:t> : </a:t>
                </a:r>
                <a:r>
                  <a:rPr lang="en-US" altLang="zh-TW" sz="2130" dirty="0"/>
                  <a:t>3D coordinate of </a:t>
                </a:r>
                <a:r>
                  <a:rPr lang="en-US" altLang="zh-TW" sz="2130" b="1" dirty="0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tracked points</a:t>
                </a:r>
                <a:r>
                  <a:rPr lang="en-US" altLang="zh-TW" sz="2130" dirty="0"/>
                  <a:t> / </a:t>
                </a:r>
                <a:r>
                  <a:rPr lang="en-US" altLang="zh-TW" sz="2130" b="1" dirty="0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Robot states </a:t>
                </a:r>
                <a:r>
                  <a:rPr lang="en-US" altLang="zh-TW" sz="2130" dirty="0"/>
                  <a:t>(arm angles)</a:t>
                </a:r>
                <a:endParaRPr lang="en" altLang="zh-TW" sz="2130" dirty="0"/>
              </a:p>
              <a:p>
                <a:pPr lvl="1">
                  <a:lnSpc>
                    <a:spcPct val="100000"/>
                  </a:lnSpc>
                  <a:buSzPct val="100000"/>
                </a:pPr>
                <a:endParaRPr lang="en" altLang="zh-TW" sz="2130" dirty="0"/>
              </a:p>
              <a:p>
                <a:pPr>
                  <a:lnSpc>
                    <a:spcPct val="100000"/>
                  </a:lnSpc>
                  <a:buSzPct val="100000"/>
                </a:pPr>
                <a:r>
                  <a:rPr lang="en-US" altLang="zh-TW" sz="2400" b="1" dirty="0"/>
                  <a:t>Outputs</a:t>
                </a:r>
                <a:endParaRPr lang="en" altLang="zh-TW" sz="1863" dirty="0"/>
              </a:p>
              <a:p>
                <a:pPr lvl="1">
                  <a:lnSpc>
                    <a:spcPct val="100000"/>
                  </a:lnSpc>
                  <a:buSzPct val="100000"/>
                </a:pPr>
                <a14:m>
                  <m:oMath xmlns:m="http://schemas.openxmlformats.org/officeDocument/2006/math">
                    <m:r>
                      <a:rPr lang="en-US" altLang="zh-TW" sz="213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sz="2130" b="0" i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TW" sz="2130" b="0" i="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" altLang="zh-TW" sz="2130" dirty="0"/>
                  <a:t> in next timestep</a:t>
                </a:r>
              </a:p>
              <a:p>
                <a:pPr lvl="1">
                  <a:lnSpc>
                    <a:spcPct val="100000"/>
                  </a:lnSpc>
                  <a:buSzPct val="100000"/>
                </a:pPr>
                <a:endParaRPr lang="en" altLang="zh-TW" sz="2130" dirty="0"/>
              </a:p>
              <a:p>
                <a:pPr>
                  <a:lnSpc>
                    <a:spcPct val="100000"/>
                  </a:lnSpc>
                  <a:buSzPct val="100000"/>
                </a:pPr>
                <a:r>
                  <a:rPr lang="en-US" altLang="zh-TW" sz="2400" b="1" dirty="0"/>
                  <a:t>Structure</a:t>
                </a:r>
                <a:endParaRPr lang="en" altLang="zh-TW" sz="1863" dirty="0"/>
              </a:p>
              <a:p>
                <a:pPr lvl="1">
                  <a:lnSpc>
                    <a:spcPct val="100000"/>
                  </a:lnSpc>
                  <a:buSzPct val="100000"/>
                </a:pPr>
                <a:r>
                  <a:rPr lang="en" altLang="zh-TW" sz="2130" dirty="0"/>
                  <a:t>Language encoder: frozen CLIP</a:t>
                </a:r>
              </a:p>
              <a:p>
                <a:pPr lvl="1">
                  <a:lnSpc>
                    <a:spcPct val="100000"/>
                  </a:lnSpc>
                  <a:buSzPct val="100000"/>
                </a:pPr>
                <a:r>
                  <a:rPr lang="en" altLang="zh-TW" sz="2130" dirty="0"/>
                  <a:t>Image encoder: forzen ViT</a:t>
                </a:r>
              </a:p>
              <a:p>
                <a:pPr lvl="1">
                  <a:lnSpc>
                    <a:spcPct val="100000"/>
                  </a:lnSpc>
                  <a:buSzPct val="100000"/>
                </a:pPr>
                <a:r>
                  <a:rPr lang="en" altLang="zh-TW" sz="2130" dirty="0"/>
                  <a:t>State encode: two layer MLP</a:t>
                </a:r>
              </a:p>
              <a:p>
                <a:pPr lvl="1">
                  <a:lnSpc>
                    <a:spcPct val="100000"/>
                  </a:lnSpc>
                  <a:buSzPct val="100000"/>
                </a:pPr>
                <a:r>
                  <a:rPr lang="en" altLang="zh-TW" sz="2130" b="1" dirty="0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Attention pooling</a:t>
                </a:r>
                <a:r>
                  <a:rPr lang="en" altLang="zh-TW" sz="2130" dirty="0"/>
                  <a:t> combine image and state</a:t>
                </a:r>
              </a:p>
              <a:p>
                <a:pPr lvl="1">
                  <a:lnSpc>
                    <a:spcPct val="100000"/>
                  </a:lnSpc>
                  <a:buSzPct val="100000"/>
                </a:pPr>
                <a:r>
                  <a:rPr lang="en" altLang="zh-TW" sz="2130" dirty="0"/>
                  <a:t>A </a:t>
                </a:r>
                <a:r>
                  <a:rPr lang="en" altLang="zh-TW" sz="2130" b="1" dirty="0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casual transformer combine all inputs</a:t>
                </a:r>
              </a:p>
              <a:p>
                <a:pPr lvl="1">
                  <a:lnSpc>
                    <a:spcPct val="100000"/>
                  </a:lnSpc>
                  <a:buSzPct val="100000"/>
                </a:pPr>
                <a:r>
                  <a:rPr lang="en" altLang="zh-TW" sz="2130" dirty="0"/>
                  <a:t>Decoder: two layer MLP</a:t>
                </a:r>
              </a:p>
              <a:p>
                <a:pPr lvl="1">
                  <a:lnSpc>
                    <a:spcPct val="100000"/>
                  </a:lnSpc>
                  <a:buSzPct val="100000"/>
                </a:pPr>
                <a:endParaRPr lang="en" altLang="zh-TW" sz="2130" dirty="0"/>
              </a:p>
            </p:txBody>
          </p:sp>
        </mc:Choice>
        <mc:Fallback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B4A6BA53-3271-632E-A4B8-F0E8A1F70F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04347" y="1231833"/>
                <a:ext cx="11496010" cy="537680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>
            <a:extLst>
              <a:ext uri="{FF2B5EF4-FFF2-40B4-BE49-F238E27FC236}">
                <a16:creationId xmlns:a16="http://schemas.microsoft.com/office/drawing/2014/main" id="{76BCD137-AE5A-42E0-9E54-1CF7F2E7FC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9439" y="3872066"/>
            <a:ext cx="4970918" cy="273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519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A5252D-6CF8-49C7-3BD9-8A0AE6A50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Method – Training</a:t>
            </a:r>
            <a:endParaRPr kumimoji="1" lang="zh-TW" altLang="en-US" b="1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4A6BA53-3271-632E-A4B8-F0E8A1F70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347" y="1231833"/>
            <a:ext cx="11496010" cy="53768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SzPct val="100000"/>
            </a:pPr>
            <a:r>
              <a:rPr lang="en" altLang="zh-TW" sz="2400" b="1" dirty="0"/>
              <a:t>Stage 1</a:t>
            </a:r>
            <a:endParaRPr lang="en" altLang="zh-TW" sz="2400" dirty="0"/>
          </a:p>
          <a:p>
            <a:pPr lvl="1">
              <a:lnSpc>
                <a:spcPct val="100000"/>
              </a:lnSpc>
              <a:buSzPct val="100000"/>
            </a:pPr>
            <a:r>
              <a:rPr lang="en-US" altLang="zh-TW" sz="2130" dirty="0"/>
              <a:t>Pre-train with human videos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-US" altLang="zh-TW" sz="2130" dirty="0"/>
              <a:t>Learn </a:t>
            </a:r>
            <a:r>
              <a:rPr lang="en-US" altLang="zh-TW" sz="213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3D point tracking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-US" altLang="zh-TW" sz="2130" dirty="0"/>
              <a:t>GT annotations for point track are extracted with another model</a:t>
            </a:r>
            <a:endParaRPr lang="en" altLang="zh-TW" sz="2130" dirty="0"/>
          </a:p>
          <a:p>
            <a:pPr lvl="1">
              <a:lnSpc>
                <a:spcPct val="100000"/>
              </a:lnSpc>
              <a:buSzPct val="100000"/>
            </a:pPr>
            <a:endParaRPr lang="en" altLang="zh-TW" sz="2130" dirty="0"/>
          </a:p>
          <a:p>
            <a:pPr>
              <a:lnSpc>
                <a:spcPct val="100000"/>
              </a:lnSpc>
              <a:buSzPct val="100000"/>
            </a:pPr>
            <a:r>
              <a:rPr lang="en-US" altLang="zh-TW" sz="2400" b="1" dirty="0"/>
              <a:t>Stage 2</a:t>
            </a:r>
            <a:endParaRPr lang="en" altLang="zh-TW" sz="1800" dirty="0"/>
          </a:p>
          <a:p>
            <a:pPr lvl="1">
              <a:lnSpc>
                <a:spcPct val="100000"/>
              </a:lnSpc>
              <a:buSzPct val="100000"/>
            </a:pPr>
            <a:r>
              <a:rPr lang="en-US" altLang="zh-TW" sz="2130" dirty="0"/>
              <a:t>Finetune with robot videos (same setting as downstream application)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-US" altLang="zh-TW" sz="2130" dirty="0"/>
              <a:t>Learn </a:t>
            </a:r>
            <a:r>
              <a:rPr lang="en-US" altLang="zh-TW" sz="213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3D point tracking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-US" altLang="zh-TW" sz="2130" dirty="0"/>
              <a:t>Tuning with 5%~10% data count of stage 1</a:t>
            </a:r>
            <a:br>
              <a:rPr lang="en" altLang="zh-TW" sz="2130" dirty="0"/>
            </a:br>
            <a:endParaRPr lang="en" altLang="zh-TW" sz="2130" dirty="0"/>
          </a:p>
          <a:p>
            <a:pPr>
              <a:lnSpc>
                <a:spcPct val="100000"/>
              </a:lnSpc>
              <a:buSzPct val="100000"/>
            </a:pPr>
            <a:r>
              <a:rPr lang="en-US" altLang="zh-TW" sz="2400" b="1" dirty="0"/>
              <a:t>Stage 3</a:t>
            </a:r>
            <a:endParaRPr lang="en" altLang="zh-TW" sz="1863" dirty="0"/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130" dirty="0"/>
              <a:t>Finetune with robot videos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130" dirty="0"/>
              <a:t>Learn </a:t>
            </a:r>
            <a:r>
              <a:rPr lang="en" altLang="zh-TW" sz="213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predict robot state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B12F50E-DD75-4BB2-BCB8-88AD89585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9439" y="3872066"/>
            <a:ext cx="4970918" cy="273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14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A5252D-6CF8-49C7-3BD9-8A0AE6A50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Experiment – </a:t>
            </a:r>
            <a:r>
              <a:rPr lang="en-US" altLang="zh-TW" b="1" dirty="0" err="1"/>
              <a:t>RLBench</a:t>
            </a:r>
            <a:endParaRPr kumimoji="1" lang="zh-TW" altLang="en-US" b="1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4A6BA53-3271-632E-A4B8-F0E8A1F70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347" y="1231833"/>
            <a:ext cx="11360800" cy="53768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SzPct val="100000"/>
            </a:pPr>
            <a:r>
              <a:rPr lang="en" altLang="zh-TW" sz="2400" b="1" dirty="0"/>
              <a:t>2D/3D comparison</a:t>
            </a:r>
            <a:endParaRPr lang="en" altLang="zh-TW" sz="2130" dirty="0"/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130" b="1" dirty="0"/>
              <a:t>Image-BC: 2D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130" b="1" dirty="0" err="1"/>
              <a:t>PerAct</a:t>
            </a:r>
            <a:r>
              <a:rPr lang="en" altLang="zh-TW" sz="2130" b="1" dirty="0"/>
              <a:t>: 3D voxel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130" b="1" dirty="0" err="1"/>
              <a:t>ManiGaussian</a:t>
            </a:r>
            <a:r>
              <a:rPr lang="en" altLang="zh-TW" sz="2130" b="1" dirty="0"/>
              <a:t>: 3D temporal tracking</a:t>
            </a:r>
          </a:p>
          <a:p>
            <a:pPr marL="829713" lvl="1" indent="0">
              <a:lnSpc>
                <a:spcPct val="100000"/>
              </a:lnSpc>
              <a:buSzPct val="100000"/>
              <a:buNone/>
            </a:pPr>
            <a:endParaRPr lang="en" altLang="zh-TW" sz="2130" b="1" dirty="0"/>
          </a:p>
          <a:p>
            <a:pPr>
              <a:lnSpc>
                <a:spcPct val="100000"/>
              </a:lnSpc>
              <a:buSzPct val="100000"/>
            </a:pPr>
            <a:r>
              <a:rPr lang="en" altLang="zh-TW" sz="2397" b="1" dirty="0"/>
              <a:t>Other VLA: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130" b="1" dirty="0"/>
              <a:t>LLARVA: pre-trained language decoder </a:t>
            </a:r>
          </a:p>
          <a:p>
            <a:pPr lvl="1">
              <a:lnSpc>
                <a:spcPct val="100000"/>
              </a:lnSpc>
              <a:buSzPct val="100000"/>
            </a:pPr>
            <a:endParaRPr lang="en" altLang="zh-TW" sz="2130" dirty="0"/>
          </a:p>
        </p:txBody>
      </p:sp>
      <p:pic>
        <p:nvPicPr>
          <p:cNvPr id="6" name="圖片 5" descr="一張含有 文字, 字型, 螢幕擷取畫面, 數字 的圖片&#10;&#10;AI 產生的內容可能不正確。">
            <a:extLst>
              <a:ext uri="{FF2B5EF4-FFF2-40B4-BE49-F238E27FC236}">
                <a16:creationId xmlns:a16="http://schemas.microsoft.com/office/drawing/2014/main" id="{82D07F12-9244-E415-00C0-1B4ABE410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2738" y="4239446"/>
            <a:ext cx="9282771" cy="232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106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A5252D-6CF8-49C7-3BD9-8A0AE6A50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Experiment – Real Robot evaluation</a:t>
            </a:r>
            <a:endParaRPr kumimoji="1" lang="zh-TW" altLang="en-US" b="1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4A6BA53-3271-632E-A4B8-F0E8A1F70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347" y="1231833"/>
            <a:ext cx="11360800" cy="53768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SzPct val="100000"/>
            </a:pPr>
            <a:r>
              <a:rPr lang="en" altLang="zh-TW" sz="2400" b="1" dirty="0"/>
              <a:t>Compare with other VLA: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133" b="1" dirty="0"/>
              <a:t>ATM: predict 2D trajectories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133" b="1" dirty="0"/>
              <a:t>LLARVA: </a:t>
            </a:r>
            <a:r>
              <a:rPr lang="zh-TW" altLang="en-US" sz="2133" b="1" dirty="0"/>
              <a:t> </a:t>
            </a:r>
            <a:r>
              <a:rPr lang="en-US" altLang="zh-TW" sz="2133" b="1" dirty="0"/>
              <a:t>2D point as auxiliary task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-US" altLang="zh-TW" sz="2133" b="1" dirty="0" err="1"/>
              <a:t>OpenVLA</a:t>
            </a:r>
            <a:r>
              <a:rPr lang="en-US" altLang="zh-TW" sz="2133" b="1" dirty="0"/>
              <a:t>: real world dataset</a:t>
            </a:r>
            <a:endParaRPr lang="en" altLang="zh-TW" sz="2133" b="1" dirty="0"/>
          </a:p>
          <a:p>
            <a:pPr lvl="1">
              <a:lnSpc>
                <a:spcPct val="100000"/>
              </a:lnSpc>
              <a:buSzPct val="100000"/>
            </a:pPr>
            <a:endParaRPr lang="en" altLang="zh-TW" sz="2133" b="1" dirty="0"/>
          </a:p>
        </p:txBody>
      </p:sp>
      <p:pic>
        <p:nvPicPr>
          <p:cNvPr id="5" name="圖片 4" descr="一張含有 文字, 字型, 數字, 螢幕擷取畫面 的圖片&#10;&#10;AI 產生的內容可能不正確。">
            <a:extLst>
              <a:ext uri="{FF2B5EF4-FFF2-40B4-BE49-F238E27FC236}">
                <a16:creationId xmlns:a16="http://schemas.microsoft.com/office/drawing/2014/main" id="{02C932A2-FAFA-F5E7-0544-1463B098C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340" y="3122199"/>
            <a:ext cx="9789807" cy="3486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522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A5252D-6CF8-49C7-3BD9-8A0AE6A50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b="1" dirty="0"/>
              <a:t>Ablation Study</a:t>
            </a:r>
            <a:endParaRPr kumimoji="1" lang="zh-TW" altLang="en-US" b="1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4A6BA53-3271-632E-A4B8-F0E8A1F70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347" y="1231833"/>
            <a:ext cx="11360800" cy="53768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SzPct val="100000"/>
            </a:pPr>
            <a:r>
              <a:rPr lang="en" altLang="zh-TW" sz="2400" b="1" dirty="0"/>
              <a:t>Different Stages: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133" b="1" dirty="0"/>
              <a:t>Stage 1: Human video pre-training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133" b="1" dirty="0"/>
              <a:t>Stage 2: Robotic fine-tuning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133" b="1" dirty="0"/>
              <a:t>Stage 3: Robotic control fine-tuning </a:t>
            </a:r>
          </a:p>
        </p:txBody>
      </p:sp>
      <p:pic>
        <p:nvPicPr>
          <p:cNvPr id="6" name="圖片 5" descr="一張含有 圖表, 螢幕擷取畫面, 文字, 繪圖 的圖片&#10;&#10;AI 產生的內容可能不正確。">
            <a:extLst>
              <a:ext uri="{FF2B5EF4-FFF2-40B4-BE49-F238E27FC236}">
                <a16:creationId xmlns:a16="http://schemas.microsoft.com/office/drawing/2014/main" id="{E1A50DA6-08AB-ABDE-4DB4-DFCF2BAE7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049" y="2814202"/>
            <a:ext cx="11492098" cy="379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563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E0296-7D78-8498-8081-EA84555C2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7BC96C-405B-7F0E-A6DC-2A59247BF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Experiment – the effectiveness of pretraining</a:t>
            </a:r>
            <a:endParaRPr kumimoji="1" lang="zh-TW" altLang="en-US" b="1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01A953B-129C-F750-5298-822231E43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347" y="1231833"/>
            <a:ext cx="11360800" cy="53768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SzPct val="100000"/>
            </a:pPr>
            <a:r>
              <a:rPr lang="en" altLang="zh-TW" sz="2400" b="1" dirty="0"/>
              <a:t>Different pretraining method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133" b="1" dirty="0"/>
              <a:t>MVP: Pretrained vision encoder on human data</a:t>
            </a:r>
          </a:p>
          <a:p>
            <a:pPr lvl="1">
              <a:lnSpc>
                <a:spcPct val="100000"/>
              </a:lnSpc>
              <a:buSzPct val="100000"/>
            </a:pPr>
            <a:endParaRPr lang="en" altLang="zh-TW" sz="2133" b="1" dirty="0"/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133" b="1" dirty="0"/>
              <a:t>RPT: Pretrained on visual and proprioceptive states</a:t>
            </a:r>
          </a:p>
          <a:p>
            <a:pPr lvl="1">
              <a:lnSpc>
                <a:spcPct val="100000"/>
              </a:lnSpc>
              <a:buSzPct val="100000"/>
            </a:pPr>
            <a:endParaRPr lang="en" altLang="zh-TW" sz="2133" b="1" dirty="0"/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133" b="1" dirty="0"/>
              <a:t>Octo/</a:t>
            </a:r>
            <a:r>
              <a:rPr lang="en" altLang="zh-TW" sz="2133" b="1" dirty="0" err="1"/>
              <a:t>OpenVLA</a:t>
            </a:r>
            <a:r>
              <a:rPr lang="en" altLang="zh-TW" sz="2133" b="1" dirty="0"/>
              <a:t>/LLARVA: Pretrained on OpenX dataset</a:t>
            </a:r>
          </a:p>
          <a:p>
            <a:pPr lvl="1">
              <a:lnSpc>
                <a:spcPct val="100000"/>
              </a:lnSpc>
              <a:buSzPct val="100000"/>
            </a:pPr>
            <a:endParaRPr lang="en" altLang="zh-TW" sz="2133" b="1" dirty="0"/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133" b="1" dirty="0"/>
              <a:t>ATM: Pretrains a 2D point track transformer </a:t>
            </a:r>
          </a:p>
          <a:p>
            <a:pPr lvl="1">
              <a:lnSpc>
                <a:spcPct val="100000"/>
              </a:lnSpc>
              <a:buSzPct val="100000"/>
            </a:pPr>
            <a:endParaRPr lang="en" altLang="zh-TW" sz="2133" b="1" dirty="0"/>
          </a:p>
        </p:txBody>
      </p:sp>
      <p:pic>
        <p:nvPicPr>
          <p:cNvPr id="5" name="圖片 4" descr="一張含有 文字, 收據, 字型, 螢幕擷取畫面 的圖片&#10;&#10;AI 產生的內容可能不正確。">
            <a:extLst>
              <a:ext uri="{FF2B5EF4-FFF2-40B4-BE49-F238E27FC236}">
                <a16:creationId xmlns:a16="http://schemas.microsoft.com/office/drawing/2014/main" id="{B1CF7B4D-E51F-F0D9-C5A9-156944450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397" y="4053478"/>
            <a:ext cx="6408873" cy="2734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264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6B8BD-E20D-34E4-DECF-CA88D4F84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397D26-FD54-1900-A1C1-2146E90CC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Experiment – Cross-Robot setting</a:t>
            </a:r>
            <a:endParaRPr kumimoji="1" lang="zh-TW" altLang="en-US" b="1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3B4EBF0-1BB1-C5CF-C49E-142FF86F4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347" y="1231833"/>
            <a:ext cx="11360800" cy="53768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SzPct val="100000"/>
            </a:pPr>
            <a:r>
              <a:rPr lang="en" altLang="zh-TW" sz="2400" b="1" dirty="0"/>
              <a:t>Cross-Robot Generalization</a:t>
            </a:r>
          </a:p>
          <a:p>
            <a:pPr marL="203195" indent="0">
              <a:lnSpc>
                <a:spcPct val="100000"/>
              </a:lnSpc>
              <a:buSzPct val="100000"/>
              <a:buNone/>
            </a:pPr>
            <a:r>
              <a:rPr lang="en" altLang="zh-TW" sz="2400" b="1" dirty="0"/>
              <a:t>	•</a:t>
            </a:r>
            <a:r>
              <a:rPr lang="en" altLang="zh-TW" sz="2130" b="1" dirty="0"/>
              <a:t>Testing whether </a:t>
            </a:r>
            <a:r>
              <a:rPr lang="en" altLang="zh-TW" sz="2130" b="1" dirty="0" err="1"/>
              <a:t>Kinova</a:t>
            </a:r>
            <a:r>
              <a:rPr lang="en" altLang="zh-TW" sz="2130" b="1" dirty="0"/>
              <a:t>-trained visual + control policy can transfer to</a:t>
            </a:r>
            <a:r>
              <a:rPr lang="zh-TW" altLang="en-US" sz="2130" b="1" dirty="0"/>
              <a:t> </a:t>
            </a:r>
            <a:r>
              <a:rPr lang="en" altLang="zh-TW" sz="2130" b="1" dirty="0"/>
              <a:t>Franka.</a:t>
            </a:r>
          </a:p>
          <a:p>
            <a:pPr marL="203195" indent="0">
              <a:lnSpc>
                <a:spcPct val="100000"/>
              </a:lnSpc>
              <a:buSzPct val="100000"/>
              <a:buNone/>
            </a:pPr>
            <a:endParaRPr lang="en" altLang="zh-TW" sz="2130" b="1" dirty="0"/>
          </a:p>
          <a:p>
            <a:pPr marL="203195" indent="0">
              <a:lnSpc>
                <a:spcPct val="100000"/>
              </a:lnSpc>
              <a:buSzPct val="100000"/>
              <a:buNone/>
            </a:pPr>
            <a:r>
              <a:rPr lang="en" altLang="zh-TW" sz="2130" b="1" dirty="0"/>
              <a:t>	•Epic pre-training + </a:t>
            </a:r>
            <a:r>
              <a:rPr lang="en" altLang="zh-TW" sz="2130" b="1" dirty="0" err="1"/>
              <a:t>Kinova</a:t>
            </a:r>
            <a:r>
              <a:rPr lang="en" altLang="zh-TW" sz="2130" b="1" dirty="0"/>
              <a:t> FT → +19.6% improvement on Franka tasks.</a:t>
            </a:r>
          </a:p>
          <a:p>
            <a:pPr marL="203195" indent="0">
              <a:lnSpc>
                <a:spcPct val="100000"/>
              </a:lnSpc>
              <a:buSzPct val="100000"/>
              <a:buNone/>
            </a:pPr>
            <a:endParaRPr lang="en" altLang="zh-TW" sz="2130" b="1" dirty="0"/>
          </a:p>
          <a:p>
            <a:pPr marL="203195" indent="0">
              <a:lnSpc>
                <a:spcPct val="100000"/>
              </a:lnSpc>
              <a:buSzPct val="100000"/>
              <a:buNone/>
            </a:pPr>
            <a:r>
              <a:rPr lang="en" altLang="zh-TW" sz="2130" b="1" dirty="0"/>
              <a:t>	•4D trajectories provide robot-invariant geometric representations.</a:t>
            </a:r>
          </a:p>
        </p:txBody>
      </p:sp>
      <p:pic>
        <p:nvPicPr>
          <p:cNvPr id="6" name="圖片 5" descr="一張含有 文字, 字型, 螢幕擷取畫面, 白色 的圖片&#10;&#10;AI 產生的內容可能不正確。">
            <a:extLst>
              <a:ext uri="{FF2B5EF4-FFF2-40B4-BE49-F238E27FC236}">
                <a16:creationId xmlns:a16="http://schemas.microsoft.com/office/drawing/2014/main" id="{5C7157FC-8D31-F2E3-0746-121B9CDA5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564" y="3941780"/>
            <a:ext cx="9158365" cy="2846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877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F1134A-23E9-EB27-059E-844DF3BA1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Experiment – disturbance</a:t>
            </a:r>
            <a:endParaRPr kumimoji="1"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2E80C26-3358-FF43-24DF-7DB64B5AE1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  <a:buSzPct val="100000"/>
            </a:pPr>
            <a:r>
              <a:rPr lang="en" altLang="zh-TW" sz="2400" b="1" dirty="0"/>
              <a:t>Dynamic environment</a:t>
            </a:r>
          </a:p>
          <a:p>
            <a:pPr>
              <a:lnSpc>
                <a:spcPct val="100000"/>
              </a:lnSpc>
              <a:buSzPct val="100000"/>
            </a:pPr>
            <a:endParaRPr lang="en" altLang="zh-TW" sz="2400" b="1" dirty="0"/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133" b="1" dirty="0"/>
              <a:t>Manually move the cube in different stages</a:t>
            </a:r>
          </a:p>
          <a:p>
            <a:pPr lvl="1">
              <a:lnSpc>
                <a:spcPct val="100000"/>
              </a:lnSpc>
              <a:buSzPct val="100000"/>
            </a:pPr>
            <a:endParaRPr lang="en" altLang="zh-TW" sz="2133" b="1" dirty="0"/>
          </a:p>
          <a:p>
            <a:pPr>
              <a:lnSpc>
                <a:spcPct val="100000"/>
              </a:lnSpc>
              <a:buSzPct val="100000"/>
            </a:pPr>
            <a:r>
              <a:rPr lang="en" altLang="zh-TW" sz="2400" b="1" dirty="0"/>
              <a:t>Other Noise 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133" b="1" dirty="0"/>
              <a:t>Ambient Light: reduce 50%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133" b="1" dirty="0"/>
              <a:t>Background Distractor: People walking by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133" b="1" dirty="0"/>
              <a:t>Table top Distractor: 2 random objects placed near target</a:t>
            </a:r>
          </a:p>
          <a:p>
            <a:pPr marL="203195" indent="0">
              <a:lnSpc>
                <a:spcPct val="100000"/>
              </a:lnSpc>
              <a:buSzPct val="100000"/>
              <a:buNone/>
            </a:pPr>
            <a:r>
              <a:rPr lang="en" altLang="zh-TW" sz="2130" b="1" dirty="0"/>
              <a:t>	</a:t>
            </a:r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8C07030-8E1D-8754-D2A7-D30636C57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86" y="4636879"/>
            <a:ext cx="6489741" cy="1757638"/>
          </a:xfrm>
          <a:prstGeom prst="rect">
            <a:avLst/>
          </a:prstGeom>
        </p:spPr>
      </p:pic>
      <p:pic>
        <p:nvPicPr>
          <p:cNvPr id="6" name="圖片 5" descr="一張含有 文字, 字型, 螢幕擷取畫面, 數字 的圖片&#10;&#10;AI 產生的內容可能不正確。">
            <a:extLst>
              <a:ext uri="{FF2B5EF4-FFF2-40B4-BE49-F238E27FC236}">
                <a16:creationId xmlns:a16="http://schemas.microsoft.com/office/drawing/2014/main" id="{D7AA7601-3DF1-6829-661F-BDFCD855D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626" y="4636879"/>
            <a:ext cx="5810374" cy="175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942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A5252D-6CF8-49C7-3BD9-8A0AE6A50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Conclusion</a:t>
            </a:r>
            <a:endParaRPr kumimoji="1" lang="zh-TW" altLang="en-US" b="1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4A6BA53-3271-632E-A4B8-F0E8A1F70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347" y="1231833"/>
            <a:ext cx="11360800" cy="53768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SzPct val="100000"/>
            </a:pPr>
            <a:r>
              <a:rPr lang="en-US" altLang="zh-TW" sz="2400" b="1" dirty="0"/>
              <a:t>Pretraining on Human video is highly effective for robotic learning</a:t>
            </a:r>
          </a:p>
          <a:p>
            <a:pPr>
              <a:lnSpc>
                <a:spcPct val="100000"/>
              </a:lnSpc>
              <a:buSzPct val="100000"/>
            </a:pPr>
            <a:r>
              <a:rPr lang="en-US" altLang="zh-TW" sz="2400" b="1" dirty="0"/>
              <a:t>Pretraining on Human video can outperform robotics-only</a:t>
            </a:r>
          </a:p>
          <a:p>
            <a:pPr>
              <a:lnSpc>
                <a:spcPct val="100000"/>
              </a:lnSpc>
              <a:buSzPct val="100000"/>
            </a:pPr>
            <a:r>
              <a:rPr lang="en-US" altLang="zh-TW" sz="2400" b="1" dirty="0"/>
              <a:t>Potentially inaccurate predictions due to a lack of invariance to camera intrinsics and motion.</a:t>
            </a:r>
          </a:p>
          <a:p>
            <a:pPr>
              <a:lnSpc>
                <a:spcPct val="100000"/>
              </a:lnSpc>
              <a:buSzPct val="100000"/>
            </a:pPr>
            <a:endParaRPr lang="en-US" altLang="zh-TW" sz="2400" b="1" dirty="0"/>
          </a:p>
          <a:p>
            <a:pPr>
              <a:lnSpc>
                <a:spcPct val="100000"/>
              </a:lnSpc>
              <a:buSzPct val="100000"/>
            </a:pPr>
            <a:endParaRPr lang="en-US" altLang="zh-TW" sz="2400" b="1" dirty="0"/>
          </a:p>
        </p:txBody>
      </p:sp>
      <p:pic>
        <p:nvPicPr>
          <p:cNvPr id="5" name="results_video">
            <a:hlinkClick r:id="" action="ppaction://media"/>
            <a:extLst>
              <a:ext uri="{FF2B5EF4-FFF2-40B4-BE49-F238E27FC236}">
                <a16:creationId xmlns:a16="http://schemas.microsoft.com/office/drawing/2014/main" id="{9CB3FA6F-E45E-CFDB-4FDC-41FB11AEAF6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281939" y="3199563"/>
            <a:ext cx="6379975" cy="3588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856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06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739</TotalTime>
  <Words>546</Words>
  <Application>Microsoft Office PowerPoint</Application>
  <PresentationFormat>寬螢幕</PresentationFormat>
  <Paragraphs>100</Paragraphs>
  <Slides>12</Slides>
  <Notes>10</Notes>
  <HiddenSlides>0</HiddenSlides>
  <MMClips>1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微軟正黑體</vt:lpstr>
      <vt:lpstr>Arial</vt:lpstr>
      <vt:lpstr>Cambria Math</vt:lpstr>
      <vt:lpstr>Office 佈景主題</vt:lpstr>
      <vt:lpstr>Pre-training Auto-regressive Robotic Models with 4D Representations</vt:lpstr>
      <vt:lpstr>Overview</vt:lpstr>
      <vt:lpstr>Method – Representation</vt:lpstr>
      <vt:lpstr>Method – Architecture</vt:lpstr>
      <vt:lpstr>Method – Training</vt:lpstr>
      <vt:lpstr>Experiment – RLBench</vt:lpstr>
      <vt:lpstr>Experiment – Real Robot evaluation</vt:lpstr>
      <vt:lpstr>Ablation Study</vt:lpstr>
      <vt:lpstr>Experiment – the effectiveness of pretraining</vt:lpstr>
      <vt:lpstr>Experiment – Cross-Robot setting</vt:lpstr>
      <vt:lpstr>Experiment – disturbance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GameFactory: Creating New Games with Generative Interactive Videos</dc:title>
  <dc:creator>賴禹衡</dc:creator>
  <cp:lastModifiedBy>年 松</cp:lastModifiedBy>
  <cp:revision>102</cp:revision>
  <dcterms:created xsi:type="dcterms:W3CDTF">2025-11-03T01:45:49Z</dcterms:created>
  <dcterms:modified xsi:type="dcterms:W3CDTF">2025-11-24T16:58:23Z</dcterms:modified>
</cp:coreProperties>
</file>